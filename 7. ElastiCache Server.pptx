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3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B26C04-B4E8-48AF-B373-B45F05EBF5DB}">
          <p14:sldIdLst>
            <p14:sldId id="256"/>
            <p14:sldId id="258"/>
          </p14:sldIdLst>
        </p14:section>
        <p14:section name="ElastiCache 설치" id="{4052FF26-0F69-4DD0-A9D1-13F82542B2DD}">
          <p14:sldIdLst>
            <p14:sldId id="263"/>
            <p14:sldId id="259"/>
            <p14:sldId id="260"/>
            <p14:sldId id="261"/>
            <p14:sldId id="262"/>
            <p14:sldId id="264"/>
          </p14:sldIdLst>
        </p14:section>
        <p14:section name="ElastiCache CLI 접속 테스트" id="{A8A180D2-910E-446A-983C-6B29D3FDB03C}">
          <p14:sldIdLst>
            <p14:sldId id="265"/>
          </p14:sldIdLst>
        </p14:section>
        <p14:section name="Spring Application 과 연동" id="{734277BC-181B-496C-AC6C-A392EE2BC1F9}">
          <p14:sldIdLst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78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4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64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75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38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9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56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9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0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48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1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C90490-44E5-47C4-AF1D-FE24267038E8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B7E75C-0D04-4085-97F9-C903F2E34AF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38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8E39C-1ADF-89E9-90BA-E4A600471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ElastiCache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FC998E-08B0-8950-F47C-E600155586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실무에서 사용하는 </a:t>
            </a:r>
            <a:r>
              <a:rPr lang="en-US" altLang="ko-KR"/>
              <a:t>AWS </a:t>
            </a:r>
            <a:r>
              <a:rPr lang="ko-KR" altLang="en-US"/>
              <a:t>지원 캐시서버</a:t>
            </a:r>
            <a:r>
              <a:rPr lang="en-US" altLang="ko-KR"/>
              <a:t>(redis</a:t>
            </a:r>
            <a:r>
              <a:rPr lang="ko-KR" altLang="en-US"/>
              <a:t>와 동작이 비슷하다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06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DC079-585F-D378-5796-1B6DDFD4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인프라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FA2B23-F9C0-F98A-F451-AFE213BA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34" y="1945757"/>
            <a:ext cx="6357491" cy="3763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9D71CE-58D0-049D-C870-9866492B2087}"/>
              </a:ext>
            </a:extLst>
          </p:cNvPr>
          <p:cNvSpPr txBox="1"/>
          <p:nvPr/>
        </p:nvSpPr>
        <p:spPr>
          <a:xfrm>
            <a:off x="7841673" y="4341091"/>
            <a:ext cx="3676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실무에선 이렇게 많이 구성함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이전 인프라 구성은 초기자본이 별로 없는 스타트업 구성</a:t>
            </a:r>
          </a:p>
        </p:txBody>
      </p:sp>
    </p:spTree>
    <p:extLst>
      <p:ext uri="{BB962C8B-B14F-4D97-AF65-F5344CB8AC3E}">
        <p14:creationId xmlns:p14="http://schemas.microsoft.com/office/powerpoint/2010/main" val="3894320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A489A-6E9B-EC99-F5BD-294952FF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ElastiCache </a:t>
            </a:r>
            <a:r>
              <a:rPr lang="ko-KR" altLang="en-US"/>
              <a:t>생성전 보안그룹 생성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697215-ECD5-994D-9190-FAC8237D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76" y="1942284"/>
            <a:ext cx="1324160" cy="12479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2AD85DB-F575-9A3A-2B7F-15029EF55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719" y="1929841"/>
            <a:ext cx="1428949" cy="533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B5BBE31-7502-1538-E7C4-35A6753F3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51" y="1942284"/>
            <a:ext cx="1200318" cy="457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0BD0780-4968-D31B-B0F1-D0A7EE115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176" y="3934962"/>
            <a:ext cx="8942714" cy="104698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D0FD669A-F9D5-00F9-E1A7-ED840DDDCEAE}"/>
              </a:ext>
            </a:extLst>
          </p:cNvPr>
          <p:cNvGrpSpPr/>
          <p:nvPr/>
        </p:nvGrpSpPr>
        <p:grpSpPr>
          <a:xfrm>
            <a:off x="5566912" y="1929841"/>
            <a:ext cx="4117221" cy="1857068"/>
            <a:chOff x="5566912" y="1929841"/>
            <a:chExt cx="4117221" cy="185706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F876335-C9F2-7BAE-1DC0-7F34C9E63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6912" y="1929841"/>
              <a:ext cx="4117221" cy="18570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4EF1F0-A37E-3C6B-2658-688032CD93EA}"/>
                </a:ext>
              </a:extLst>
            </p:cNvPr>
            <p:cNvSpPr/>
            <p:nvPr/>
          </p:nvSpPr>
          <p:spPr>
            <a:xfrm>
              <a:off x="5566912" y="2170916"/>
              <a:ext cx="1840652" cy="11018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24322EF3-316D-E30B-345E-CAFBBF2EB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362" y="5084165"/>
            <a:ext cx="1276528" cy="476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52A5F9A-2290-0B35-7F9B-D1CD1B9F6B95}"/>
              </a:ext>
            </a:extLst>
          </p:cNvPr>
          <p:cNvSpPr/>
          <p:nvPr/>
        </p:nvSpPr>
        <p:spPr>
          <a:xfrm>
            <a:off x="1075176" y="4119417"/>
            <a:ext cx="8780024" cy="606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377A8B-3BAD-CB58-4393-B86D335300C3}"/>
              </a:ext>
            </a:extLst>
          </p:cNvPr>
          <p:cNvSpPr/>
          <p:nvPr/>
        </p:nvSpPr>
        <p:spPr>
          <a:xfrm>
            <a:off x="8589818" y="4981943"/>
            <a:ext cx="1570182" cy="7447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21706-372F-1217-F706-3157ECD090A4}"/>
              </a:ext>
            </a:extLst>
          </p:cNvPr>
          <p:cNvSpPr txBox="1"/>
          <p:nvPr/>
        </p:nvSpPr>
        <p:spPr>
          <a:xfrm>
            <a:off x="2170544" y="5084165"/>
            <a:ext cx="53201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Redis </a:t>
            </a:r>
            <a:r>
              <a:rPr lang="ko-KR" altLang="en-US" sz="1100"/>
              <a:t>기본포트 </a:t>
            </a:r>
            <a:r>
              <a:rPr lang="en-US" altLang="ko-KR" sz="1100"/>
              <a:t>: 6379</a:t>
            </a:r>
          </a:p>
          <a:p>
            <a:r>
              <a:rPr lang="en-US" altLang="ko-KR" sz="1100"/>
              <a:t>Anyware ipv4 </a:t>
            </a:r>
          </a:p>
          <a:p>
            <a:r>
              <a:rPr lang="ko-KR" altLang="en-US" sz="1100"/>
              <a:t>모든 </a:t>
            </a:r>
            <a:r>
              <a:rPr lang="en-US" altLang="ko-KR" sz="1100"/>
              <a:t>ip</a:t>
            </a:r>
            <a:r>
              <a:rPr lang="ko-KR" altLang="en-US" sz="1100"/>
              <a:t>허용해도 안전한 이유 </a:t>
            </a:r>
            <a:r>
              <a:rPr lang="en-US" altLang="ko-KR" sz="1100"/>
              <a:t>: AWS</a:t>
            </a:r>
            <a:r>
              <a:rPr lang="ko-KR" altLang="en-US" sz="1100"/>
              <a:t>는 기본적으로 같은 </a:t>
            </a:r>
            <a:r>
              <a:rPr lang="en-US" altLang="ko-KR" sz="1100"/>
              <a:t>VPC </a:t>
            </a:r>
            <a:r>
              <a:rPr lang="ko-KR" altLang="en-US" sz="1100"/>
              <a:t>에서 접근안하면 차단함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8EAF12-22B9-2A09-FF17-4E60A0170E17}"/>
              </a:ext>
            </a:extLst>
          </p:cNvPr>
          <p:cNvSpPr/>
          <p:nvPr/>
        </p:nvSpPr>
        <p:spPr>
          <a:xfrm>
            <a:off x="2551719" y="2220984"/>
            <a:ext cx="1115117" cy="242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392EEF-97D8-1454-1F08-A25A6C1755CF}"/>
              </a:ext>
            </a:extLst>
          </p:cNvPr>
          <p:cNvSpPr/>
          <p:nvPr/>
        </p:nvSpPr>
        <p:spPr>
          <a:xfrm>
            <a:off x="4175651" y="2049750"/>
            <a:ext cx="1115117" cy="242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675ED05-A363-19AA-6E21-92572AAE9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172" y="5812982"/>
            <a:ext cx="9670761" cy="9606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740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F09C7-E68E-FF83-73C0-DE077DCC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ElastiCache </a:t>
            </a:r>
            <a:r>
              <a:rPr lang="ko-KR" altLang="en-US"/>
              <a:t>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44A4E5-EF6A-7243-5682-684F4CCE1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17462"/>
            <a:ext cx="1114581" cy="485843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08FA9F07-47A8-8C73-18A3-6ACA2E1C37DD}"/>
              </a:ext>
            </a:extLst>
          </p:cNvPr>
          <p:cNvGrpSpPr/>
          <p:nvPr/>
        </p:nvGrpSpPr>
        <p:grpSpPr>
          <a:xfrm>
            <a:off x="999414" y="1972426"/>
            <a:ext cx="7313313" cy="4840364"/>
            <a:chOff x="999414" y="1972426"/>
            <a:chExt cx="7313313" cy="48403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6FEE5E3-37B2-9DC6-EB5E-BFBD3F578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414" y="1972426"/>
              <a:ext cx="5096586" cy="163852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0ECF874-1353-40FB-9919-834580898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9414" y="3647899"/>
              <a:ext cx="7313313" cy="316489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F14E18A-0485-7C40-0AF6-448DC02D2AB8}"/>
                </a:ext>
              </a:extLst>
            </p:cNvPr>
            <p:cNvSpPr/>
            <p:nvPr/>
          </p:nvSpPr>
          <p:spPr>
            <a:xfrm>
              <a:off x="3228110" y="2858654"/>
              <a:ext cx="2249054" cy="7523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F9EB972-7268-977B-66ED-D96CA2169CBC}"/>
                </a:ext>
              </a:extLst>
            </p:cNvPr>
            <p:cNvSpPr/>
            <p:nvPr/>
          </p:nvSpPr>
          <p:spPr>
            <a:xfrm>
              <a:off x="6166787" y="1993911"/>
              <a:ext cx="1019109" cy="3879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B47A5F5-028F-C5B0-6AAA-B24D6DA62328}"/>
                </a:ext>
              </a:extLst>
            </p:cNvPr>
            <p:cNvSpPr/>
            <p:nvPr/>
          </p:nvSpPr>
          <p:spPr>
            <a:xfrm>
              <a:off x="5835872" y="4673600"/>
              <a:ext cx="2384492" cy="3509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A1C219D-7D96-3D51-B427-B9B3D342CA87}"/>
                </a:ext>
              </a:extLst>
            </p:cNvPr>
            <p:cNvSpPr/>
            <p:nvPr/>
          </p:nvSpPr>
          <p:spPr>
            <a:xfrm>
              <a:off x="4656070" y="5616636"/>
              <a:ext cx="3564294" cy="5075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F97D251-FEF0-5028-CEF5-552D6508212B}"/>
                </a:ext>
              </a:extLst>
            </p:cNvPr>
            <p:cNvSpPr/>
            <p:nvPr/>
          </p:nvSpPr>
          <p:spPr>
            <a:xfrm>
              <a:off x="3459019" y="6231729"/>
              <a:ext cx="2376853" cy="5075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54E744B6-9DD1-1DBE-9504-932FEE06A3A5}"/>
                </a:ext>
              </a:extLst>
            </p:cNvPr>
            <p:cNvCxnSpPr>
              <a:stCxn id="10" idx="2"/>
              <a:endCxn id="12" idx="0"/>
            </p:cNvCxnSpPr>
            <p:nvPr/>
          </p:nvCxnSpPr>
          <p:spPr>
            <a:xfrm>
              <a:off x="4352637" y="3610955"/>
              <a:ext cx="2675481" cy="106264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F99727F1-7A18-9267-1F9D-C137A5BDBE3C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 flipH="1">
              <a:off x="6438217" y="5024582"/>
              <a:ext cx="589901" cy="5920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FFB0CF1-F3F7-C8F2-C8D2-2A8CFCEF8B15}"/>
                </a:ext>
              </a:extLst>
            </p:cNvPr>
            <p:cNvCxnSpPr>
              <a:stCxn id="13" idx="2"/>
            </p:cNvCxnSpPr>
            <p:nvPr/>
          </p:nvCxnSpPr>
          <p:spPr>
            <a:xfrm flipH="1">
              <a:off x="4656070" y="6124171"/>
              <a:ext cx="1782147" cy="1075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36CA7A1C-0730-824D-EDF3-E9230B72B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201" y="1925835"/>
            <a:ext cx="4734586" cy="18195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0F6E0E8-1722-375F-C349-790337C35428}"/>
              </a:ext>
            </a:extLst>
          </p:cNvPr>
          <p:cNvSpPr txBox="1"/>
          <p:nvPr/>
        </p:nvSpPr>
        <p:spPr>
          <a:xfrm>
            <a:off x="8682182" y="3916218"/>
            <a:ext cx="31823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클러스터란 여러 노드</a:t>
            </a:r>
            <a:r>
              <a:rPr lang="en-US" altLang="ko-KR" sz="1400"/>
              <a:t>(Redis)</a:t>
            </a:r>
            <a:r>
              <a:rPr lang="ko-KR" altLang="en-US" sz="1400"/>
              <a:t>서버를</a:t>
            </a:r>
            <a:endParaRPr lang="en-US" altLang="ko-KR" sz="1400"/>
          </a:p>
          <a:p>
            <a:r>
              <a:rPr lang="ko-KR" altLang="en-US" sz="1400"/>
              <a:t>하나로 묶는 단위</a:t>
            </a:r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단 하나의 노드</a:t>
            </a:r>
            <a:r>
              <a:rPr lang="en-US" altLang="ko-KR" sz="1400"/>
              <a:t>(Redis)</a:t>
            </a:r>
            <a:r>
              <a:rPr lang="ko-KR" altLang="en-US" sz="1400"/>
              <a:t>서버를 클러스터로 구성할 수 도 있다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166741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2AB2-12F6-0AAA-216B-80E38941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ElastiCache </a:t>
            </a:r>
            <a:r>
              <a:rPr lang="ko-KR" altLang="en-US"/>
              <a:t>생성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07D65F3-D726-2B34-2E57-6D984FBA4CD1}"/>
              </a:ext>
            </a:extLst>
          </p:cNvPr>
          <p:cNvGrpSpPr/>
          <p:nvPr/>
        </p:nvGrpSpPr>
        <p:grpSpPr>
          <a:xfrm>
            <a:off x="951346" y="1881921"/>
            <a:ext cx="10714182" cy="1969578"/>
            <a:chOff x="951346" y="1881921"/>
            <a:chExt cx="10714182" cy="196957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38F8799-3E3A-DFA8-17F1-DF37CD7A7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1346" y="1881921"/>
              <a:ext cx="10714182" cy="196957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167BF1D-32BB-92E5-4D73-F4308A935942}"/>
                </a:ext>
              </a:extLst>
            </p:cNvPr>
            <p:cNvSpPr/>
            <p:nvPr/>
          </p:nvSpPr>
          <p:spPr>
            <a:xfrm>
              <a:off x="6382327" y="2493818"/>
              <a:ext cx="5200073" cy="7019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8990D3B-EF4C-312A-63BD-78124A07867B}"/>
              </a:ext>
            </a:extLst>
          </p:cNvPr>
          <p:cNvSpPr txBox="1"/>
          <p:nvPr/>
        </p:nvSpPr>
        <p:spPr>
          <a:xfrm>
            <a:off x="4027054" y="1985818"/>
            <a:ext cx="7305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어지간히 큰 트래픽 아니면 클러스터 모드를 사용하지 않음</a:t>
            </a:r>
            <a:r>
              <a:rPr lang="en-US" altLang="ko-KR" sz="1200"/>
              <a:t>(</a:t>
            </a:r>
            <a:r>
              <a:rPr lang="ko-KR" altLang="en-US" sz="1200"/>
              <a:t>실습 용임으로 비활성화</a:t>
            </a:r>
            <a:r>
              <a:rPr lang="en-US" altLang="ko-KR" sz="1200"/>
              <a:t>)</a:t>
            </a:r>
            <a:r>
              <a:rPr lang="ko-KR" altLang="en-US" sz="120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9DB77FA-0E99-6F74-885B-4A2A7CCA8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6" y="3996060"/>
            <a:ext cx="2646015" cy="18842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C1731B8-E3AF-1744-C6FF-ECBD16AC8DB2}"/>
              </a:ext>
            </a:extLst>
          </p:cNvPr>
          <p:cNvSpPr/>
          <p:nvPr/>
        </p:nvSpPr>
        <p:spPr>
          <a:xfrm>
            <a:off x="1097280" y="4719782"/>
            <a:ext cx="1498138" cy="323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D08AA5-D7D2-BD75-E9B6-1F827145C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295" y="3996060"/>
            <a:ext cx="8236269" cy="211644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1CE87B-7EDE-E0C0-1559-48712E06649A}"/>
              </a:ext>
            </a:extLst>
          </p:cNvPr>
          <p:cNvSpPr/>
          <p:nvPr/>
        </p:nvSpPr>
        <p:spPr>
          <a:xfrm>
            <a:off x="3743295" y="4396509"/>
            <a:ext cx="4116850" cy="729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639ECD-C8E7-5334-AA22-E105491D550E}"/>
              </a:ext>
            </a:extLst>
          </p:cNvPr>
          <p:cNvSpPr/>
          <p:nvPr/>
        </p:nvSpPr>
        <p:spPr>
          <a:xfrm>
            <a:off x="3743295" y="5126182"/>
            <a:ext cx="690160" cy="518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A547B3-6873-2C03-5363-D2AD8BF9249D}"/>
              </a:ext>
            </a:extLst>
          </p:cNvPr>
          <p:cNvSpPr/>
          <p:nvPr/>
        </p:nvSpPr>
        <p:spPr>
          <a:xfrm>
            <a:off x="3743295" y="5644406"/>
            <a:ext cx="5114378" cy="518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3419E-BFF4-AB74-38C9-748809E7AB18}"/>
              </a:ext>
            </a:extLst>
          </p:cNvPr>
          <p:cNvSpPr txBox="1"/>
          <p:nvPr/>
        </p:nvSpPr>
        <p:spPr>
          <a:xfrm>
            <a:off x="4363979" y="5154461"/>
            <a:ext cx="6969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C00000"/>
                </a:solidFill>
              </a:rPr>
              <a:t>다중 </a:t>
            </a:r>
            <a:r>
              <a:rPr lang="en-US" altLang="ko-KR" sz="1200" b="1">
                <a:solidFill>
                  <a:srgbClr val="C00000"/>
                </a:solidFill>
              </a:rPr>
              <a:t>AZ </a:t>
            </a:r>
            <a:r>
              <a:rPr lang="ko-KR" altLang="en-US" sz="1200" b="1">
                <a:solidFill>
                  <a:srgbClr val="C00000"/>
                </a:solidFill>
              </a:rPr>
              <a:t>해제 </a:t>
            </a:r>
            <a:r>
              <a:rPr lang="en-US" altLang="ko-KR" sz="1200" b="1">
                <a:solidFill>
                  <a:srgbClr val="C00000"/>
                </a:solidFill>
              </a:rPr>
              <a:t>: ElastiCache</a:t>
            </a:r>
            <a:r>
              <a:rPr lang="ko-KR" altLang="en-US" sz="1200" b="1">
                <a:solidFill>
                  <a:srgbClr val="C00000"/>
                </a:solidFill>
              </a:rPr>
              <a:t>가 구성되는 지역을 여러 지역으로 복제해 놈 </a:t>
            </a:r>
            <a:r>
              <a:rPr lang="en-US" altLang="ko-KR" sz="1200" b="1">
                <a:solidFill>
                  <a:srgbClr val="C00000"/>
                </a:solidFill>
              </a:rPr>
              <a:t>: </a:t>
            </a:r>
            <a:r>
              <a:rPr lang="ko-KR" altLang="en-US" sz="1200" b="1">
                <a:solidFill>
                  <a:srgbClr val="C00000"/>
                </a:solidFill>
              </a:rPr>
              <a:t>재난으로 인한 </a:t>
            </a:r>
            <a:r>
              <a:rPr lang="en-US" altLang="ko-KR" sz="1200" b="1">
                <a:solidFill>
                  <a:srgbClr val="C00000"/>
                </a:solidFill>
              </a:rPr>
              <a:t>Elasti </a:t>
            </a:r>
            <a:r>
              <a:rPr lang="ko-KR" altLang="en-US" sz="1200" b="1">
                <a:solidFill>
                  <a:srgbClr val="C00000"/>
                </a:solidFill>
              </a:rPr>
              <a:t>서버가 죽어 서비스가 치명적인 상황을 대비하는 옵션 </a:t>
            </a:r>
            <a:r>
              <a:rPr lang="en-US" altLang="ko-KR" sz="1200" b="1">
                <a:solidFill>
                  <a:srgbClr val="C00000"/>
                </a:solidFill>
              </a:rPr>
              <a:t>- </a:t>
            </a:r>
            <a:r>
              <a:rPr lang="ko-KR" altLang="en-US" sz="1200" b="1">
                <a:solidFill>
                  <a:srgbClr val="C00000"/>
                </a:solidFill>
              </a:rPr>
              <a:t>어지간히 큰 규모의 회사아니고선 비용만 발생</a:t>
            </a:r>
            <a:r>
              <a:rPr lang="en-US" altLang="ko-KR" sz="1200" b="1">
                <a:solidFill>
                  <a:srgbClr val="C00000"/>
                </a:solidFill>
              </a:rPr>
              <a:t>.</a:t>
            </a:r>
            <a:endParaRPr lang="ko-KR" altLang="en-US" sz="1200" b="1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AEA87-DBB7-FDAC-4C3C-0236A12CD9ED}"/>
              </a:ext>
            </a:extLst>
          </p:cNvPr>
          <p:cNvSpPr txBox="1"/>
          <p:nvPr/>
        </p:nvSpPr>
        <p:spPr>
          <a:xfrm>
            <a:off x="4433455" y="5644406"/>
            <a:ext cx="4424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클러스터 내 </a:t>
            </a:r>
            <a:r>
              <a:rPr lang="en-US" altLang="ko-KR" sz="1200" b="1"/>
              <a:t>node</a:t>
            </a:r>
            <a:r>
              <a:rPr lang="ko-KR" altLang="en-US" sz="1200" b="1"/>
              <a:t>가 장애 발생시 다른 </a:t>
            </a:r>
            <a:r>
              <a:rPr lang="en-US" altLang="ko-KR" sz="1200" b="1"/>
              <a:t>node</a:t>
            </a:r>
            <a:r>
              <a:rPr lang="ko-KR" altLang="en-US" sz="1200" b="1"/>
              <a:t>를 </a:t>
            </a:r>
            <a:r>
              <a:rPr lang="en-US" altLang="ko-KR" sz="1200" b="1"/>
              <a:t>master</a:t>
            </a:r>
            <a:r>
              <a:rPr lang="ko-KR" altLang="en-US" sz="1200" b="1"/>
              <a:t>로 승격</a:t>
            </a:r>
            <a:br>
              <a:rPr lang="en-US" altLang="ko-KR" sz="1200" b="1"/>
            </a:br>
            <a:r>
              <a:rPr lang="en-US" altLang="ko-KR" sz="1200" b="1"/>
              <a:t>Sentinel </a:t>
            </a:r>
            <a:r>
              <a:rPr lang="ko-KR" altLang="en-US" sz="1200" b="1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865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19549-458D-AA23-2CF9-C94B4408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ElastiCache </a:t>
            </a:r>
            <a:r>
              <a:rPr lang="ko-KR" altLang="en-US"/>
              <a:t>생성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C531821-A6DF-44E6-593A-99403C043250}"/>
              </a:ext>
            </a:extLst>
          </p:cNvPr>
          <p:cNvGrpSpPr/>
          <p:nvPr/>
        </p:nvGrpSpPr>
        <p:grpSpPr>
          <a:xfrm>
            <a:off x="349135" y="1963092"/>
            <a:ext cx="4915593" cy="3036738"/>
            <a:chOff x="1097280" y="1895480"/>
            <a:chExt cx="5617557" cy="328148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B1D0619-9606-A3C6-AE86-AAF83E8BB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1" y="1895480"/>
              <a:ext cx="5617556" cy="328148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E08CD64-3F06-5B2A-92A2-8E9A816C6942}"/>
                </a:ext>
              </a:extLst>
            </p:cNvPr>
            <p:cNvSpPr/>
            <p:nvPr/>
          </p:nvSpPr>
          <p:spPr>
            <a:xfrm>
              <a:off x="1219199" y="3362037"/>
              <a:ext cx="2050473" cy="2863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02ED49-0C38-A84E-0059-F01A26DEC748}"/>
                </a:ext>
              </a:extLst>
            </p:cNvPr>
            <p:cNvSpPr/>
            <p:nvPr/>
          </p:nvSpPr>
          <p:spPr>
            <a:xfrm>
              <a:off x="1097280" y="4828594"/>
              <a:ext cx="2920538" cy="2863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복제본 개수 </a:t>
              </a:r>
              <a:r>
                <a:rPr lang="en-US" altLang="ko-KR" sz="1200">
                  <a:solidFill>
                    <a:schemeClr val="tx1"/>
                  </a:solidFill>
                </a:rPr>
                <a:t>: 0</a:t>
              </a:r>
              <a:r>
                <a:rPr lang="ko-KR" altLang="en-US" sz="1200">
                  <a:solidFill>
                    <a:schemeClr val="tx1"/>
                  </a:solidFill>
                </a:rPr>
                <a:t>개로 변경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0F7E7A7-4B08-2DB1-6EAF-3BFFFD3E5CAD}"/>
              </a:ext>
            </a:extLst>
          </p:cNvPr>
          <p:cNvGrpSpPr/>
          <p:nvPr/>
        </p:nvGrpSpPr>
        <p:grpSpPr>
          <a:xfrm>
            <a:off x="5371411" y="1963092"/>
            <a:ext cx="5820499" cy="3401417"/>
            <a:chOff x="5371411" y="1963092"/>
            <a:chExt cx="5820499" cy="340141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9ED78C7-4785-FE3C-B008-66191058F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1411" y="1963092"/>
              <a:ext cx="5820499" cy="340141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B1B6948-DDD0-ADA4-A6CF-7EBEBD50E03F}"/>
                </a:ext>
              </a:extLst>
            </p:cNvPr>
            <p:cNvSpPr/>
            <p:nvPr/>
          </p:nvSpPr>
          <p:spPr>
            <a:xfrm>
              <a:off x="5498409" y="3832317"/>
              <a:ext cx="1050174" cy="2039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C1B215-7AE6-7DF7-AE71-4C7FF6D59F7D}"/>
              </a:ext>
            </a:extLst>
          </p:cNvPr>
          <p:cNvGrpSpPr/>
          <p:nvPr/>
        </p:nvGrpSpPr>
        <p:grpSpPr>
          <a:xfrm>
            <a:off x="10334540" y="5590241"/>
            <a:ext cx="857370" cy="533474"/>
            <a:chOff x="10334540" y="5590241"/>
            <a:chExt cx="857370" cy="53347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B3E2FCA-755E-05A4-CFBF-9C663F08E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4540" y="5590241"/>
              <a:ext cx="857370" cy="53347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93D1CF-B6C8-0EFE-3D3F-B6D987F0C893}"/>
                </a:ext>
              </a:extLst>
            </p:cNvPr>
            <p:cNvSpPr/>
            <p:nvPr/>
          </p:nvSpPr>
          <p:spPr>
            <a:xfrm>
              <a:off x="10400144" y="5653003"/>
              <a:ext cx="791765" cy="4707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43AA4390-88E8-7ED0-6EAD-81E70ED12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35" y="5047240"/>
            <a:ext cx="809738" cy="10764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ECBE2A-CC30-24CD-562A-AFAF97C6FEFB}"/>
              </a:ext>
            </a:extLst>
          </p:cNvPr>
          <p:cNvSpPr txBox="1"/>
          <p:nvPr/>
        </p:nvSpPr>
        <p:spPr>
          <a:xfrm>
            <a:off x="1158873" y="5104654"/>
            <a:ext cx="3496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복제본 개수가 </a:t>
            </a:r>
            <a:r>
              <a:rPr lang="en-US" altLang="ko-KR" sz="1200"/>
              <a:t>0</a:t>
            </a:r>
            <a:r>
              <a:rPr lang="ko-KR" altLang="en-US" sz="1200"/>
              <a:t>인 경우의 클러스터 형태</a:t>
            </a:r>
            <a:br>
              <a:rPr lang="en-US" altLang="ko-KR" sz="1200"/>
            </a:br>
            <a:r>
              <a:rPr lang="ko-KR" altLang="en-US" sz="1200"/>
              <a:t>자동장애조치 동작 </a:t>
            </a:r>
            <a:r>
              <a:rPr lang="en-US" altLang="ko-KR" sz="1200"/>
              <a:t>x</a:t>
            </a: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44A16D-FBB2-5EC4-C385-D8A34D3B277F}"/>
              </a:ext>
            </a:extLst>
          </p:cNvPr>
          <p:cNvSpPr txBox="1"/>
          <p:nvPr/>
        </p:nvSpPr>
        <p:spPr>
          <a:xfrm>
            <a:off x="1237673" y="5653003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※ </a:t>
            </a:r>
            <a:r>
              <a:rPr lang="ko-KR" altLang="en-US"/>
              <a:t>당연한 결과겠지만 복제본 수 만큼 </a:t>
            </a:r>
            <a:r>
              <a:rPr lang="en-US" altLang="ko-KR"/>
              <a:t>AWS </a:t>
            </a:r>
            <a:r>
              <a:rPr lang="ko-KR" altLang="en-US"/>
              <a:t>비용이 발생</a:t>
            </a:r>
          </a:p>
        </p:txBody>
      </p:sp>
    </p:spTree>
    <p:extLst>
      <p:ext uri="{BB962C8B-B14F-4D97-AF65-F5344CB8AC3E}">
        <p14:creationId xmlns:p14="http://schemas.microsoft.com/office/powerpoint/2010/main" val="99654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B413BED4-2F23-3A91-5B31-EE34C81CB77F}"/>
              </a:ext>
            </a:extLst>
          </p:cNvPr>
          <p:cNvGrpSpPr/>
          <p:nvPr/>
        </p:nvGrpSpPr>
        <p:grpSpPr>
          <a:xfrm>
            <a:off x="286328" y="2013509"/>
            <a:ext cx="8007889" cy="4187783"/>
            <a:chOff x="286328" y="2013509"/>
            <a:chExt cx="8007889" cy="4187783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F427763-A2A7-4343-0E2E-9630941E24A6}"/>
                </a:ext>
              </a:extLst>
            </p:cNvPr>
            <p:cNvGrpSpPr/>
            <p:nvPr/>
          </p:nvGrpSpPr>
          <p:grpSpPr>
            <a:xfrm>
              <a:off x="286328" y="2013509"/>
              <a:ext cx="8007889" cy="4187783"/>
              <a:chOff x="277091" y="1985818"/>
              <a:chExt cx="8007889" cy="4187783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7720928F-3B3B-8145-973D-33226268FABC}"/>
                  </a:ext>
                </a:extLst>
              </p:cNvPr>
              <p:cNvGrpSpPr/>
              <p:nvPr/>
            </p:nvGrpSpPr>
            <p:grpSpPr>
              <a:xfrm>
                <a:off x="277091" y="1985818"/>
                <a:ext cx="8007889" cy="4187783"/>
                <a:chOff x="277091" y="1985818"/>
                <a:chExt cx="8007889" cy="4187783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E3A7A561-40A8-8504-52E1-5E80A2D75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77091" y="1985818"/>
                  <a:ext cx="8007889" cy="4187783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3D5AD62-F854-9DD8-9269-276B3F8DF4BC}"/>
                    </a:ext>
                  </a:extLst>
                </p:cNvPr>
                <p:cNvSpPr txBox="1"/>
                <p:nvPr/>
              </p:nvSpPr>
              <p:spPr>
                <a:xfrm>
                  <a:off x="665018" y="5394036"/>
                  <a:ext cx="269701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100"/>
                    <a:t>보완그룹을 생성하지 않아 선택이 없음</a:t>
                  </a:r>
                  <a:endParaRPr lang="en-US" altLang="ko-KR" sz="1100"/>
                </a:p>
                <a:p>
                  <a:r>
                    <a:rPr lang="en-US" altLang="ko-KR" sz="1100"/>
                    <a:t>EC2</a:t>
                  </a:r>
                  <a:r>
                    <a:rPr lang="ko-KR" altLang="en-US" sz="1100"/>
                    <a:t>에서 보안 그룹 추가</a:t>
                  </a:r>
                  <a:r>
                    <a:rPr lang="en-US" altLang="ko-KR" sz="1100"/>
                    <a:t>.</a:t>
                  </a:r>
                  <a:endParaRPr lang="ko-KR" altLang="en-US" sz="1100"/>
                </a:p>
              </p:txBody>
            </p:sp>
          </p:grp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22697D03-8BA1-3174-7299-C4B4D179355A}"/>
                  </a:ext>
                </a:extLst>
              </p:cNvPr>
              <p:cNvSpPr/>
              <p:nvPr/>
            </p:nvSpPr>
            <p:spPr>
              <a:xfrm>
                <a:off x="3943927" y="5742714"/>
                <a:ext cx="738909" cy="43088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DEAEB50-823B-9FC7-245C-420F35ACF653}"/>
                </a:ext>
              </a:extLst>
            </p:cNvPr>
            <p:cNvSpPr/>
            <p:nvPr/>
          </p:nvSpPr>
          <p:spPr>
            <a:xfrm>
              <a:off x="286328" y="2364509"/>
              <a:ext cx="1727199" cy="4308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79D7A5F-85C9-E354-D0BD-7AFA2DD3EF9D}"/>
                </a:ext>
              </a:extLst>
            </p:cNvPr>
            <p:cNvSpPr/>
            <p:nvPr/>
          </p:nvSpPr>
          <p:spPr>
            <a:xfrm>
              <a:off x="295565" y="3694761"/>
              <a:ext cx="2364508" cy="4308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317E6FBC-69E3-C556-415B-027CB593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ElastiCache </a:t>
            </a:r>
            <a:r>
              <a:rPr lang="ko-KR" altLang="en-US"/>
              <a:t>생성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98D43D7-6873-40BE-6DF7-484887A919FF}"/>
              </a:ext>
            </a:extLst>
          </p:cNvPr>
          <p:cNvGrpSpPr/>
          <p:nvPr/>
        </p:nvGrpSpPr>
        <p:grpSpPr>
          <a:xfrm>
            <a:off x="7085231" y="2013509"/>
            <a:ext cx="4441751" cy="3595970"/>
            <a:chOff x="7085231" y="2013509"/>
            <a:chExt cx="4441751" cy="359597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86D1E82-D946-648B-ADCE-D9FA7845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5231" y="2013509"/>
              <a:ext cx="4441751" cy="35959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771090-FDE3-2344-E41C-53CCA6005BBE}"/>
                </a:ext>
              </a:extLst>
            </p:cNvPr>
            <p:cNvSpPr/>
            <p:nvPr/>
          </p:nvSpPr>
          <p:spPr>
            <a:xfrm>
              <a:off x="7085231" y="4472714"/>
              <a:ext cx="4303205" cy="219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AFC2643-6583-A3A4-AC66-5623E85E0CFC}"/>
              </a:ext>
            </a:extLst>
          </p:cNvPr>
          <p:cNvSpPr/>
          <p:nvPr/>
        </p:nvSpPr>
        <p:spPr>
          <a:xfrm>
            <a:off x="11037455" y="5320145"/>
            <a:ext cx="480290" cy="3170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C0073C-8F9D-0EF7-20A7-9F0C9E0E4AD2}"/>
              </a:ext>
            </a:extLst>
          </p:cNvPr>
          <p:cNvSpPr txBox="1"/>
          <p:nvPr/>
        </p:nvSpPr>
        <p:spPr>
          <a:xfrm>
            <a:off x="2299855" y="2456873"/>
            <a:ext cx="3334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두 암호화 옵션을 해제 안할시 </a:t>
            </a:r>
            <a:br>
              <a:rPr lang="en-US" altLang="ko-KR" sz="1400"/>
            </a:br>
            <a:r>
              <a:rPr lang="ko-KR" altLang="en-US" sz="1400"/>
              <a:t>터미널 </a:t>
            </a:r>
            <a:r>
              <a:rPr lang="en-US" altLang="ko-KR" sz="1400"/>
              <a:t>Redis </a:t>
            </a:r>
            <a:r>
              <a:rPr lang="ko-KR" altLang="en-US" sz="1400"/>
              <a:t>접속에 </a:t>
            </a:r>
            <a:r>
              <a:rPr lang="en-US" altLang="ko-KR" sz="1400"/>
              <a:t>--cli </a:t>
            </a:r>
            <a:r>
              <a:rPr lang="ko-KR" altLang="en-US" sz="1400"/>
              <a:t>를 쳐야함</a:t>
            </a:r>
          </a:p>
        </p:txBody>
      </p:sp>
    </p:spTree>
    <p:extLst>
      <p:ext uri="{BB962C8B-B14F-4D97-AF65-F5344CB8AC3E}">
        <p14:creationId xmlns:p14="http://schemas.microsoft.com/office/powerpoint/2010/main" val="190495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D327F-E0DC-19DD-BFEB-67A6E1C4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ElastiCache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A7C336-6C41-7C4D-99AD-2829A931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83" y="1821950"/>
            <a:ext cx="3524742" cy="30293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9CB1152-E810-E894-21E4-F3BD98B4E950}"/>
              </a:ext>
            </a:extLst>
          </p:cNvPr>
          <p:cNvSpPr/>
          <p:nvPr/>
        </p:nvSpPr>
        <p:spPr>
          <a:xfrm>
            <a:off x="435883" y="2438400"/>
            <a:ext cx="1291317" cy="341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FBC59-20F1-67AB-6913-108FEE802662}"/>
              </a:ext>
            </a:extLst>
          </p:cNvPr>
          <p:cNvSpPr txBox="1"/>
          <p:nvPr/>
        </p:nvSpPr>
        <p:spPr>
          <a:xfrm>
            <a:off x="1874982" y="2438400"/>
            <a:ext cx="5800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</a:rPr>
              <a:t>해제 </a:t>
            </a:r>
            <a:r>
              <a:rPr lang="en-US" altLang="ko-KR" sz="1400" b="1">
                <a:solidFill>
                  <a:srgbClr val="FF0000"/>
                </a:solidFill>
                <a:sym typeface="Wingdings" panose="05000000000000000000" pitchFamily="2" charset="2"/>
              </a:rPr>
              <a:t>Redis</a:t>
            </a:r>
            <a:r>
              <a:rPr lang="ko-KR" altLang="en-US" sz="1400" b="1">
                <a:solidFill>
                  <a:srgbClr val="FF0000"/>
                </a:solidFill>
                <a:sym typeface="Wingdings" panose="05000000000000000000" pitchFamily="2" charset="2"/>
              </a:rPr>
              <a:t>는 캐시형 휘발성 </a:t>
            </a:r>
            <a:r>
              <a:rPr lang="en-US" altLang="ko-KR" sz="1400" b="1">
                <a:solidFill>
                  <a:srgbClr val="FF0000"/>
                </a:solidFill>
                <a:sym typeface="Wingdings" panose="05000000000000000000" pitchFamily="2" charset="2"/>
              </a:rPr>
              <a:t>NoSql DB </a:t>
            </a:r>
            <a:r>
              <a:rPr lang="ko-KR" altLang="en-US" sz="1400" b="1">
                <a:solidFill>
                  <a:srgbClr val="FF0000"/>
                </a:solidFill>
                <a:sym typeface="Wingdings" panose="05000000000000000000" pitchFamily="2" charset="2"/>
              </a:rPr>
              <a:t>보존을 위한 목적이 아님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470352D-8E94-ECB3-2C45-83D52916E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5299"/>
            <a:ext cx="12192000" cy="1243778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3A774D82-23FE-2B62-898F-10F730175083}"/>
              </a:ext>
            </a:extLst>
          </p:cNvPr>
          <p:cNvGrpSpPr/>
          <p:nvPr/>
        </p:nvGrpSpPr>
        <p:grpSpPr>
          <a:xfrm>
            <a:off x="7299128" y="1906073"/>
            <a:ext cx="2077563" cy="447737"/>
            <a:chOff x="7299128" y="1906073"/>
            <a:chExt cx="2077563" cy="44773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6D56821-480C-8CFF-4FF1-9718A1EB8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9128" y="2001336"/>
              <a:ext cx="752580" cy="35247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2ABF434-6589-5997-D7A0-93B71DB8E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52690" y="1906073"/>
              <a:ext cx="724001" cy="447737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7684DB-7C1C-7A3C-A621-266F455EA8BD}"/>
                </a:ext>
              </a:extLst>
            </p:cNvPr>
            <p:cNvSpPr/>
            <p:nvPr/>
          </p:nvSpPr>
          <p:spPr>
            <a:xfrm>
              <a:off x="7299128" y="2001336"/>
              <a:ext cx="752580" cy="3524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F6362AA-05EB-C318-F057-5D5DB96458C3}"/>
                </a:ext>
              </a:extLst>
            </p:cNvPr>
            <p:cNvSpPr/>
            <p:nvPr/>
          </p:nvSpPr>
          <p:spPr>
            <a:xfrm>
              <a:off x="8624111" y="2001336"/>
              <a:ext cx="752580" cy="3524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6D483183-6130-2D25-B96A-9709FAED6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707" y="6195429"/>
            <a:ext cx="4020021" cy="5903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3820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29733-CBDF-57C2-E807-2DE78649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</a:t>
            </a:r>
            <a:r>
              <a:rPr lang="ko-KR" altLang="en-US"/>
              <a:t> 터미널에서 원격 접속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51D33E7-71BE-DEAA-EC10-65BE316C950D}"/>
              </a:ext>
            </a:extLst>
          </p:cNvPr>
          <p:cNvGrpSpPr/>
          <p:nvPr/>
        </p:nvGrpSpPr>
        <p:grpSpPr>
          <a:xfrm>
            <a:off x="1097280" y="1899200"/>
            <a:ext cx="4182059" cy="1353781"/>
            <a:chOff x="1172600" y="1889964"/>
            <a:chExt cx="4182059" cy="135378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19C13F8-052A-6F6D-FDCC-7D3EF8F62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2600" y="1889964"/>
              <a:ext cx="1848108" cy="38105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30BA087-A8B8-BA5C-5289-BB2FDA4D1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2600" y="2472112"/>
              <a:ext cx="4182059" cy="77163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83CEA54-9F99-76F3-AAE9-BBCACD82F1B5}"/>
              </a:ext>
            </a:extLst>
          </p:cNvPr>
          <p:cNvSpPr txBox="1"/>
          <p:nvPr/>
        </p:nvSpPr>
        <p:spPr>
          <a:xfrm>
            <a:off x="330174" y="4840557"/>
            <a:ext cx="5211156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redis-cli</a:t>
            </a:r>
            <a:r>
              <a:rPr lang="ko-KR" altLang="en-US" sz="1400"/>
              <a:t> </a:t>
            </a:r>
            <a:r>
              <a:rPr lang="en-US" altLang="ko-KR" sz="1400"/>
              <a:t>-h {</a:t>
            </a:r>
            <a:r>
              <a:rPr lang="ko-KR" altLang="en-US" sz="1400"/>
              <a:t>기본 엔드포인트</a:t>
            </a:r>
            <a:r>
              <a:rPr lang="en-US" altLang="ko-KR" sz="1400"/>
              <a:t>} -p</a:t>
            </a:r>
            <a:r>
              <a:rPr lang="ko-KR" altLang="en-US" sz="1400"/>
              <a:t> </a:t>
            </a:r>
            <a:r>
              <a:rPr lang="en-US" altLang="ko-KR" sz="1400"/>
              <a:t>{</a:t>
            </a:r>
            <a:r>
              <a:rPr lang="ko-KR" altLang="en-US" sz="1400"/>
              <a:t>포트번호</a:t>
            </a:r>
            <a:r>
              <a:rPr lang="en-US" altLang="ko-KR" sz="1400"/>
              <a:t>}</a:t>
            </a:r>
          </a:p>
          <a:p>
            <a:r>
              <a:rPr lang="en-US" altLang="ko-KR" sz="1050"/>
              <a:t>(※ </a:t>
            </a:r>
            <a:r>
              <a:rPr lang="ko-KR" altLang="en-US" sz="1050"/>
              <a:t>리더 엔드포인트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읽기전용</a:t>
            </a:r>
            <a:r>
              <a:rPr lang="en-US" altLang="ko-KR" sz="1050">
                <a:sym typeface="Wingdings" panose="05000000000000000000" pitchFamily="2" charset="2"/>
              </a:rPr>
              <a:t>)</a:t>
            </a:r>
            <a:br>
              <a:rPr lang="en-US" altLang="ko-KR"/>
            </a:br>
            <a:r>
              <a:rPr lang="ko-KR" altLang="en-US"/>
              <a:t>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E1B6F90-2E9C-F568-8D4D-D29F858306D0}"/>
              </a:ext>
            </a:extLst>
          </p:cNvPr>
          <p:cNvGrpSpPr/>
          <p:nvPr/>
        </p:nvGrpSpPr>
        <p:grpSpPr>
          <a:xfrm>
            <a:off x="5803320" y="1835324"/>
            <a:ext cx="5585116" cy="3151235"/>
            <a:chOff x="5803320" y="1835324"/>
            <a:chExt cx="5585116" cy="3151235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355E2D1-4B42-D04E-F603-11EF20D15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3320" y="1835324"/>
              <a:ext cx="5585116" cy="315123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33BB91-9327-F879-9CB0-9AF9CDB5F047}"/>
                </a:ext>
              </a:extLst>
            </p:cNvPr>
            <p:cNvSpPr/>
            <p:nvPr/>
          </p:nvSpPr>
          <p:spPr>
            <a:xfrm>
              <a:off x="10002982" y="3629891"/>
              <a:ext cx="1385454" cy="6452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D924D826-60BC-25ED-6AB4-1E39F4EC9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77" y="5440912"/>
            <a:ext cx="9450119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2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7CB83-D7B0-2616-1317-89BC1E8C6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79BA3F-3E1F-203D-BF10-FCC319D9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4250"/>
            <a:ext cx="7659169" cy="304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CA0F1F-7B2C-5355-E8A8-54E592073606}"/>
              </a:ext>
            </a:extLst>
          </p:cNvPr>
          <p:cNvSpPr txBox="1"/>
          <p:nvPr/>
        </p:nvSpPr>
        <p:spPr>
          <a:xfrm>
            <a:off x="1097280" y="22790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vi Redis_1/redisinspring/src/main/resources/application.yml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9A4238-A414-FB96-CEB0-2340EC450BDD}"/>
              </a:ext>
            </a:extLst>
          </p:cNvPr>
          <p:cNvGrpSpPr/>
          <p:nvPr/>
        </p:nvGrpSpPr>
        <p:grpSpPr>
          <a:xfrm>
            <a:off x="6333345" y="2723962"/>
            <a:ext cx="5585116" cy="3151235"/>
            <a:chOff x="5803320" y="1835324"/>
            <a:chExt cx="5585116" cy="315123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06C0431-EAA7-33EF-2E2F-64AE8038A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3320" y="1835324"/>
              <a:ext cx="5585116" cy="315123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EAB357-3A45-05F0-5358-0EDA096496BC}"/>
                </a:ext>
              </a:extLst>
            </p:cNvPr>
            <p:cNvSpPr/>
            <p:nvPr/>
          </p:nvSpPr>
          <p:spPr>
            <a:xfrm>
              <a:off x="10002982" y="3629891"/>
              <a:ext cx="1385454" cy="6452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ADEB6C3-E4CB-D702-D697-6274F9AB4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723962"/>
            <a:ext cx="6876846" cy="2971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16624E-F887-E081-EC80-C961C5AD990A}"/>
              </a:ext>
            </a:extLst>
          </p:cNvPr>
          <p:cNvSpPr txBox="1"/>
          <p:nvPr/>
        </p:nvSpPr>
        <p:spPr>
          <a:xfrm>
            <a:off x="1097280" y="5763491"/>
            <a:ext cx="10429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docker compose down</a:t>
            </a:r>
          </a:p>
          <a:p>
            <a:r>
              <a:rPr lang="en-US" altLang="ko-KR" sz="1200"/>
              <a:t>cd ~/Redis_1/redisinspring </a:t>
            </a:r>
          </a:p>
          <a:p>
            <a:r>
              <a:rPr lang="en-US" altLang="ko-KR" sz="1200"/>
              <a:t>./gradlew clean build -x test</a:t>
            </a:r>
          </a:p>
          <a:p>
            <a:r>
              <a:rPr lang="en-US" altLang="ko-KR" sz="1200"/>
              <a:t>java -jar -Dspring.profiles.active=prod build/libs/redisinspring-0.0.1-SNAPSHOT.jar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85033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29AF6-2DED-689E-D054-A173F0DC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AWS ElastiCache API </a:t>
            </a:r>
            <a:r>
              <a:rPr lang="ko-KR" altLang="en-US" sz="3600"/>
              <a:t>통신으로 인프라 구성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F90726-D7E8-8612-931B-2519A396C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41" y="1830670"/>
            <a:ext cx="7213577" cy="49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7674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192</TotalTime>
  <Words>293</Words>
  <Application>Microsoft Office PowerPoint</Application>
  <PresentationFormat>와이드스크린</PresentationFormat>
  <Paragraphs>38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Wingdings</vt:lpstr>
      <vt:lpstr>추억</vt:lpstr>
      <vt:lpstr>ElastiCache</vt:lpstr>
      <vt:lpstr>인프라 구성</vt:lpstr>
      <vt:lpstr>ElastiCache 생성전 보안그룹 생성</vt:lpstr>
      <vt:lpstr>ElastiCache 생성</vt:lpstr>
      <vt:lpstr>ElastiCache 생성</vt:lpstr>
      <vt:lpstr>ElastiCache 생성</vt:lpstr>
      <vt:lpstr>ElastiCache 생성</vt:lpstr>
      <vt:lpstr>ElastiCache 생성</vt:lpstr>
      <vt:lpstr>EC2 터미널에서 원격 접속</vt:lpstr>
      <vt:lpstr>Application.yml 수정</vt:lpstr>
      <vt:lpstr>AWS ElastiCache API 통신으로 인프라 구성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31</cp:revision>
  <dcterms:created xsi:type="dcterms:W3CDTF">2026-08-26T07:13:39Z</dcterms:created>
  <dcterms:modified xsi:type="dcterms:W3CDTF">2026-08-26T10:25:53Z</dcterms:modified>
</cp:coreProperties>
</file>