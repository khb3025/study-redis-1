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String </a:t>
            </a:r>
            <a:r>
              <a:rPr lang="ko-KR" altLang="en-US" dirty="0" err="1" smtClean="0"/>
              <a:t>자료구조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91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0~15</a:t>
            </a:r>
            <a:r>
              <a:rPr lang="ko-KR" altLang="en-US" dirty="0" smtClean="0"/>
              <a:t>번</a:t>
            </a:r>
            <a:r>
              <a:rPr lang="en-US" altLang="ko-KR" dirty="0" smtClean="0"/>
              <a:t>(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16)</a:t>
            </a:r>
            <a:r>
              <a:rPr lang="ko-KR" altLang="en-US" dirty="0" smtClean="0"/>
              <a:t>까지 </a:t>
            </a:r>
            <a:r>
              <a:rPr lang="en-US" altLang="ko-KR" dirty="0" smtClean="0"/>
              <a:t>DB</a:t>
            </a:r>
            <a:r>
              <a:rPr lang="ko-KR" altLang="en-US" dirty="0" smtClean="0"/>
              <a:t>를 가진다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63588"/>
            <a:ext cx="5258534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3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사용자 </a:t>
            </a:r>
            <a:r>
              <a:rPr lang="ko-KR" altLang="en-US" dirty="0" err="1" smtClean="0"/>
              <a:t>인증정보</a:t>
            </a:r>
            <a:r>
              <a:rPr lang="ko-KR" altLang="en-US" dirty="0" smtClean="0"/>
              <a:t> 취급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82133" y="2827867"/>
            <a:ext cx="1329267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1337733" y="2243667"/>
            <a:ext cx="618066" cy="584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2810933" y="2827867"/>
            <a:ext cx="2633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73400" y="2535767"/>
            <a:ext cx="210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/>
              <a:t>로그인 </a:t>
            </a:r>
            <a:endParaRPr lang="ko-KR" altLang="en-US" sz="1100" dirty="0"/>
          </a:p>
        </p:txBody>
      </p:sp>
      <p:sp>
        <p:nvSpPr>
          <p:cNvPr id="8" name="직사각형 7"/>
          <p:cNvSpPr/>
          <p:nvPr/>
        </p:nvSpPr>
        <p:spPr>
          <a:xfrm>
            <a:off x="5757333" y="2438400"/>
            <a:ext cx="1930400" cy="1227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웹서버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104466" y="4563533"/>
            <a:ext cx="1236134" cy="524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RDB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6900333" y="3759200"/>
            <a:ext cx="0" cy="719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6544733" y="3759200"/>
            <a:ext cx="0" cy="70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71267" y="3869267"/>
            <a:ext cx="189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로그인 정보 전달</a:t>
            </a:r>
            <a:endParaRPr lang="ko-KR" altLang="en-US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5410200" y="3866403"/>
            <a:ext cx="10329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로그인 정보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ko-KR" altLang="en-US" sz="1100" dirty="0" smtClean="0"/>
              <a:t>조회 반환</a:t>
            </a:r>
            <a:endParaRPr lang="ko-KR" altLang="en-US" sz="1100" dirty="0"/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2810933" y="3246967"/>
            <a:ext cx="25992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30600" y="3412067"/>
            <a:ext cx="127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토큰</a:t>
            </a:r>
            <a:r>
              <a:rPr lang="en-US" altLang="ko-KR" sz="1050" dirty="0" smtClean="0"/>
              <a:t>(</a:t>
            </a:r>
            <a:r>
              <a:rPr lang="ko-KR" altLang="en-US" sz="1050" dirty="0" err="1" smtClean="0"/>
              <a:t>인증값</a:t>
            </a:r>
            <a:r>
              <a:rPr lang="en-US" altLang="ko-KR" sz="1050" dirty="0" smtClean="0"/>
              <a:t>) </a:t>
            </a:r>
            <a:r>
              <a:rPr lang="ko-KR" altLang="en-US" sz="1050" dirty="0" smtClean="0"/>
              <a:t>전달</a:t>
            </a:r>
            <a:endParaRPr lang="ko-KR" altLang="en-US" sz="1050" dirty="0"/>
          </a:p>
        </p:txBody>
      </p:sp>
      <p:cxnSp>
        <p:nvCxnSpPr>
          <p:cNvPr id="20" name="직선 화살표 연결선 19"/>
          <p:cNvCxnSpPr>
            <a:stCxn id="18" idx="2"/>
            <a:endCxn id="23" idx="0"/>
          </p:cNvCxnSpPr>
          <p:nvPr/>
        </p:nvCxnSpPr>
        <p:spPr>
          <a:xfrm flipH="1">
            <a:off x="3378200" y="3665983"/>
            <a:ext cx="787400" cy="89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8" idx="2"/>
            <a:endCxn id="24" idx="0"/>
          </p:cNvCxnSpPr>
          <p:nvPr/>
        </p:nvCxnSpPr>
        <p:spPr>
          <a:xfrm>
            <a:off x="4165600" y="3665983"/>
            <a:ext cx="810068" cy="88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28900" y="4563533"/>
            <a:ext cx="149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엑세스</a:t>
            </a:r>
            <a:r>
              <a:rPr lang="ko-KR" altLang="en-US" sz="1200" dirty="0" smtClean="0"/>
              <a:t> 토큰</a:t>
            </a:r>
            <a:r>
              <a:rPr lang="en-US" altLang="ko-KR" sz="1200" dirty="0" smtClean="0"/>
              <a:t>(ac)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4297651" y="4552665"/>
            <a:ext cx="13560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/>
              <a:t>리플래쉬</a:t>
            </a:r>
            <a:r>
              <a:rPr lang="ko-KR" altLang="en-US" sz="1100" dirty="0" smtClean="0"/>
              <a:t> 토큰</a:t>
            </a:r>
            <a:r>
              <a:rPr lang="en-US" altLang="ko-KR" sz="1100" dirty="0" smtClean="0"/>
              <a:t>(</a:t>
            </a:r>
            <a:r>
              <a:rPr lang="en-US" altLang="ko-KR" sz="1100" dirty="0" err="1" smtClean="0"/>
              <a:t>rt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4957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String </a:t>
            </a:r>
            <a:r>
              <a:rPr lang="ko-KR" altLang="en-US" dirty="0" err="1" smtClean="0"/>
              <a:t>자료구조</a:t>
            </a:r>
            <a:r>
              <a:rPr lang="ko-KR" altLang="en-US" dirty="0" smtClean="0"/>
              <a:t> 활용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좋아요 기능 구현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750806"/>
              </p:ext>
            </p:extLst>
          </p:nvPr>
        </p:nvGraphicFramePr>
        <p:xfrm>
          <a:off x="3405630" y="1618721"/>
          <a:ext cx="2090736" cy="113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912"/>
                <a:gridCol w="696912"/>
                <a:gridCol w="696912"/>
              </a:tblGrid>
              <a:tr h="3522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 smtClean="0"/>
                        <a:t>boardID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 smtClean="0"/>
                        <a:t>likeCnt</a:t>
                      </a:r>
                      <a:endParaRPr lang="ko-KR" altLang="en-US" sz="1100" dirty="0"/>
                    </a:p>
                  </a:txBody>
                  <a:tcPr/>
                </a:tc>
              </a:tr>
              <a:tr h="3522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</a:tr>
              <a:tr h="4014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38968" y="2810933"/>
            <a:ext cx="2040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RDB</a:t>
            </a:r>
            <a:r>
              <a:rPr lang="en-US" altLang="ko-KR" sz="1200" dirty="0" smtClean="0"/>
              <a:t> (</a:t>
            </a:r>
            <a:r>
              <a:rPr lang="ko-KR" altLang="en-US" sz="1200" dirty="0" smtClean="0"/>
              <a:t>멀티 </a:t>
            </a:r>
            <a:r>
              <a:rPr lang="ko-KR" altLang="en-US" sz="1200" dirty="0" err="1" smtClean="0"/>
              <a:t>쓰레드</a:t>
            </a:r>
            <a:r>
              <a:rPr lang="ko-KR" altLang="en-US" sz="1200" dirty="0" smtClean="0"/>
              <a:t> 지원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grpSp>
        <p:nvGrpSpPr>
          <p:cNvPr id="8" name="그룹 7"/>
          <p:cNvGrpSpPr/>
          <p:nvPr/>
        </p:nvGrpSpPr>
        <p:grpSpPr>
          <a:xfrm>
            <a:off x="560301" y="1540933"/>
            <a:ext cx="846667" cy="908165"/>
            <a:chOff x="3937000" y="1473200"/>
            <a:chExt cx="846667" cy="908165"/>
          </a:xfrm>
        </p:grpSpPr>
        <p:sp>
          <p:nvSpPr>
            <p:cNvPr id="6" name="직사각형 5"/>
            <p:cNvSpPr/>
            <p:nvPr/>
          </p:nvSpPr>
          <p:spPr>
            <a:xfrm>
              <a:off x="3937000" y="1473200"/>
              <a:ext cx="846667" cy="677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/>
                <a:t>Search</a:t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Update</a:t>
              </a:r>
              <a:endParaRPr lang="ko-KR" altLang="en-US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37000" y="2150533"/>
              <a:ext cx="8466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/>
                <a:t>Transaction</a:t>
              </a:r>
              <a:endParaRPr lang="ko-KR" altLang="en-US" sz="9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60300" y="2810933"/>
            <a:ext cx="846667" cy="908165"/>
            <a:chOff x="3937000" y="1473200"/>
            <a:chExt cx="846667" cy="908165"/>
          </a:xfrm>
        </p:grpSpPr>
        <p:sp>
          <p:nvSpPr>
            <p:cNvPr id="10" name="직사각형 9"/>
            <p:cNvSpPr/>
            <p:nvPr/>
          </p:nvSpPr>
          <p:spPr>
            <a:xfrm>
              <a:off x="3937000" y="1473200"/>
              <a:ext cx="846667" cy="677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/>
                <a:t>Search</a:t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Update</a:t>
              </a:r>
              <a:endParaRPr lang="ko-KR" alt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37000" y="2150533"/>
              <a:ext cx="8466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/>
                <a:t>Transaction</a:t>
              </a:r>
              <a:endParaRPr lang="ko-KR" altLang="en-US" sz="900" dirty="0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560300" y="4011640"/>
            <a:ext cx="846667" cy="908165"/>
            <a:chOff x="3937000" y="1473200"/>
            <a:chExt cx="846667" cy="908165"/>
          </a:xfrm>
        </p:grpSpPr>
        <p:sp>
          <p:nvSpPr>
            <p:cNvPr id="13" name="직사각형 12"/>
            <p:cNvSpPr/>
            <p:nvPr/>
          </p:nvSpPr>
          <p:spPr>
            <a:xfrm>
              <a:off x="3937000" y="1473200"/>
              <a:ext cx="846667" cy="677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/>
                <a:t>Search</a:t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Update</a:t>
              </a:r>
              <a:endParaRPr lang="ko-KR" altLang="en-US" sz="1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37000" y="2150533"/>
              <a:ext cx="8466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/>
                <a:t>Transaction</a:t>
              </a:r>
              <a:endParaRPr lang="ko-KR" altLang="en-US" sz="9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60300" y="5212348"/>
            <a:ext cx="846667" cy="908165"/>
            <a:chOff x="3937000" y="1473200"/>
            <a:chExt cx="846667" cy="908165"/>
          </a:xfrm>
        </p:grpSpPr>
        <p:sp>
          <p:nvSpPr>
            <p:cNvPr id="16" name="직사각형 15"/>
            <p:cNvSpPr/>
            <p:nvPr/>
          </p:nvSpPr>
          <p:spPr>
            <a:xfrm>
              <a:off x="3937000" y="1473200"/>
              <a:ext cx="846667" cy="677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/>
                <a:t>Search</a:t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Update</a:t>
              </a:r>
              <a:endParaRPr lang="ko-KR" altLang="en-US" sz="12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37000" y="2150533"/>
              <a:ext cx="8466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 smtClean="0"/>
                <a:t>Transaction</a:t>
              </a:r>
              <a:endParaRPr lang="ko-KR" altLang="en-US" sz="900" dirty="0"/>
            </a:p>
          </p:txBody>
        </p:sp>
      </p:grpSp>
      <p:cxnSp>
        <p:nvCxnSpPr>
          <p:cNvPr id="19" name="직선 화살표 연결선 18"/>
          <p:cNvCxnSpPr>
            <a:endCxn id="4" idx="1"/>
          </p:cNvCxnSpPr>
          <p:nvPr/>
        </p:nvCxnSpPr>
        <p:spPr>
          <a:xfrm>
            <a:off x="1406967" y="1735719"/>
            <a:ext cx="1998663" cy="44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endCxn id="4" idx="1"/>
          </p:cNvCxnSpPr>
          <p:nvPr/>
        </p:nvCxnSpPr>
        <p:spPr>
          <a:xfrm flipV="1">
            <a:off x="1406967" y="2185193"/>
            <a:ext cx="1998663" cy="794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4" idx="1"/>
          </p:cNvCxnSpPr>
          <p:nvPr/>
        </p:nvCxnSpPr>
        <p:spPr>
          <a:xfrm flipV="1">
            <a:off x="1406967" y="2185193"/>
            <a:ext cx="1998663" cy="1997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endCxn id="4" idx="1"/>
          </p:cNvCxnSpPr>
          <p:nvPr/>
        </p:nvCxnSpPr>
        <p:spPr>
          <a:xfrm flipV="1">
            <a:off x="1406967" y="2185193"/>
            <a:ext cx="1998663" cy="317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05630" y="3272746"/>
            <a:ext cx="2073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accent1"/>
                </a:solidFill>
              </a:rPr>
              <a:t>Search</a:t>
            </a:r>
            <a:br>
              <a:rPr lang="en-US" altLang="ko-KR" sz="1200" dirty="0" smtClean="0">
                <a:solidFill>
                  <a:schemeClr val="accent1"/>
                </a:solidFill>
              </a:rPr>
            </a:br>
            <a:r>
              <a:rPr lang="en-US" altLang="ko-KR" sz="1200" dirty="0" smtClean="0">
                <a:solidFill>
                  <a:srgbClr val="FF0000"/>
                </a:solidFill>
              </a:rPr>
              <a:t>Update</a:t>
            </a:r>
            <a:r>
              <a:rPr lang="en-US" altLang="ko-KR" sz="1200" dirty="0" smtClean="0"/>
              <a:t> </a:t>
            </a:r>
            <a:endParaRPr lang="ko-KR" altLang="en-US" sz="1200" dirty="0"/>
          </a:p>
        </p:txBody>
      </p:sp>
      <p:cxnSp>
        <p:nvCxnSpPr>
          <p:cNvPr id="31" name="직선 화살표 연결선 30"/>
          <p:cNvCxnSpPr>
            <a:endCxn id="6" idx="3"/>
          </p:cNvCxnSpPr>
          <p:nvPr/>
        </p:nvCxnSpPr>
        <p:spPr>
          <a:xfrm flipH="1" flipV="1">
            <a:off x="1406968" y="1879600"/>
            <a:ext cx="1998662" cy="2877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4" idx="1"/>
            <a:endCxn id="10" idx="3"/>
          </p:cNvCxnSpPr>
          <p:nvPr/>
        </p:nvCxnSpPr>
        <p:spPr>
          <a:xfrm flipH="1">
            <a:off x="1406967" y="2185193"/>
            <a:ext cx="1998663" cy="964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4" idx="1"/>
            <a:endCxn id="13" idx="3"/>
          </p:cNvCxnSpPr>
          <p:nvPr/>
        </p:nvCxnSpPr>
        <p:spPr>
          <a:xfrm flipH="1">
            <a:off x="1406967" y="2185193"/>
            <a:ext cx="1998663" cy="21651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endCxn id="16" idx="3"/>
          </p:cNvCxnSpPr>
          <p:nvPr/>
        </p:nvCxnSpPr>
        <p:spPr>
          <a:xfrm flipH="1">
            <a:off x="1406967" y="2167361"/>
            <a:ext cx="1998663" cy="33836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84400" y="4919805"/>
            <a:ext cx="27093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※ </a:t>
            </a:r>
            <a:r>
              <a:rPr lang="ko-KR" altLang="en-US" sz="1100" dirty="0" smtClean="0"/>
              <a:t>동시성 이슈</a:t>
            </a:r>
            <a:endParaRPr lang="ko-KR" alt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5587999" y="1540933"/>
            <a:ext cx="419946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/>
              <a:t>RDB</a:t>
            </a:r>
            <a:r>
              <a:rPr lang="ko-KR" altLang="en-US" sz="1100" dirty="0" smtClean="0"/>
              <a:t>의 경우 </a:t>
            </a:r>
            <a:r>
              <a:rPr lang="ko-KR" altLang="en-US" sz="1100" dirty="0" err="1" smtClean="0"/>
              <a:t>동시성이슈로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Lost Update</a:t>
            </a:r>
            <a:r>
              <a:rPr lang="ko-KR" altLang="en-US" sz="1100" dirty="0" smtClean="0"/>
              <a:t>문제 </a:t>
            </a:r>
            <a:r>
              <a:rPr lang="ko-KR" altLang="en-US" sz="1100" dirty="0" err="1" smtClean="0"/>
              <a:t>발생가능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ko-KR" altLang="en-US" sz="1100" dirty="0" smtClean="0"/>
              <a:t>이건 </a:t>
            </a:r>
            <a:r>
              <a:rPr lang="en-US" altLang="ko-KR" sz="1100" dirty="0" smtClean="0"/>
              <a:t>Transaction</a:t>
            </a:r>
            <a:r>
              <a:rPr lang="ko-KR" altLang="en-US" sz="1100" dirty="0" smtClean="0"/>
              <a:t>을 걸어도 발생하는 문제이다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endParaRPr lang="en-US" altLang="ko-KR" sz="1100" dirty="0"/>
          </a:p>
          <a:p>
            <a:r>
              <a:rPr lang="en-US" altLang="ko-KR" sz="1100" b="1" dirty="0" err="1" smtClean="0">
                <a:solidFill>
                  <a:srgbClr val="FF0000"/>
                </a:solidFill>
              </a:rPr>
              <a:t>RDB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해결방법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. (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중요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)[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RDB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대규모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트래픽에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적합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X]</a:t>
            </a:r>
            <a:br>
              <a:rPr lang="en-US" altLang="ko-KR" sz="1100" b="1" dirty="0" smtClean="0">
                <a:solidFill>
                  <a:srgbClr val="FF0000"/>
                </a:solidFill>
              </a:rPr>
            </a:br>
            <a:r>
              <a:rPr lang="en-US" altLang="ko-KR" sz="1100" dirty="0" smtClean="0"/>
              <a:t>1. </a:t>
            </a:r>
            <a:r>
              <a:rPr lang="ko-KR" altLang="en-US" sz="1100" dirty="0" smtClean="0"/>
              <a:t>조회와 동시에 업데이트</a:t>
            </a:r>
            <a:r>
              <a:rPr lang="en-US" altLang="ko-KR" sz="1100" dirty="0" smtClean="0"/>
              <a:t>. (</a:t>
            </a:r>
            <a:r>
              <a:rPr lang="ko-KR" altLang="en-US" sz="1100" dirty="0" smtClean="0"/>
              <a:t>주로 사용</a:t>
            </a:r>
            <a:r>
              <a:rPr lang="en-US" altLang="ko-KR" sz="1100" dirty="0" smtClean="0"/>
              <a:t>)</a:t>
            </a:r>
            <a:br>
              <a:rPr lang="en-US" altLang="ko-KR" sz="1100" dirty="0" smtClean="0"/>
            </a:br>
            <a:r>
              <a:rPr lang="en-US" altLang="ko-KR" sz="1100" dirty="0" smtClean="0"/>
              <a:t>    update table set </a:t>
            </a:r>
            <a:r>
              <a:rPr lang="en-US" altLang="ko-KR" sz="1100" dirty="0" err="1" smtClean="0"/>
              <a:t>likeCnt</a:t>
            </a:r>
            <a:r>
              <a:rPr lang="en-US" altLang="ko-KR" sz="1100" dirty="0" smtClean="0"/>
              <a:t> = </a:t>
            </a:r>
            <a:r>
              <a:rPr lang="en-US" altLang="ko-KR" sz="1100" dirty="0" err="1" smtClean="0"/>
              <a:t>likeCnt+1</a:t>
            </a:r>
            <a:r>
              <a:rPr lang="en-US" altLang="ko-KR" sz="1100" dirty="0" smtClean="0"/>
              <a:t> </a:t>
            </a:r>
            <a:br>
              <a:rPr lang="en-US" altLang="ko-KR" sz="1100" dirty="0" smtClean="0"/>
            </a:br>
            <a:r>
              <a:rPr lang="en-US" altLang="ko-KR" sz="1100" dirty="0" smtClean="0"/>
              <a:t>    where </a:t>
            </a:r>
            <a:r>
              <a:rPr lang="en-US" altLang="ko-KR" sz="1100" dirty="0" err="1" smtClean="0"/>
              <a:t>boardId</a:t>
            </a:r>
            <a:r>
              <a:rPr lang="en-US" altLang="ko-KR" sz="1100" dirty="0" smtClean="0"/>
              <a:t> = 1; </a:t>
            </a:r>
            <a:br>
              <a:rPr lang="en-US" altLang="ko-KR" sz="1100" dirty="0" smtClean="0"/>
            </a:br>
            <a:r>
              <a:rPr lang="en-US" altLang="ko-KR" sz="1100" dirty="0" smtClean="0"/>
              <a:t>    (※ </a:t>
            </a:r>
            <a:r>
              <a:rPr lang="ko-KR" altLang="en-US" sz="1100" dirty="0" smtClean="0"/>
              <a:t>조회 쿼리를 날리지 않는다</a:t>
            </a:r>
            <a:r>
              <a:rPr lang="en-US" altLang="ko-KR" sz="1100" dirty="0" smtClean="0"/>
              <a:t>.)</a:t>
            </a:r>
            <a:br>
              <a:rPr lang="en-US" altLang="ko-KR" sz="1100" dirty="0" smtClean="0"/>
            </a:br>
            <a:r>
              <a:rPr lang="en-US" altLang="ko-KR" sz="1100" dirty="0" smtClean="0"/>
              <a:t>2. </a:t>
            </a:r>
            <a:r>
              <a:rPr lang="ko-KR" altLang="en-US" sz="1100" dirty="0" smtClean="0"/>
              <a:t>비관적 </a:t>
            </a:r>
            <a:r>
              <a:rPr lang="ko-KR" altLang="en-US" sz="1100" dirty="0" err="1" smtClean="0"/>
              <a:t>락</a:t>
            </a:r>
            <a:r>
              <a:rPr lang="en-US" altLang="ko-KR" sz="1100" dirty="0" smtClean="0"/>
              <a:t>(Pessimistic Lock)</a:t>
            </a:r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r>
              <a:rPr lang="en-US" altLang="ko-KR" sz="1100" dirty="0" smtClean="0"/>
              <a:t>(※ </a:t>
            </a:r>
            <a:r>
              <a:rPr lang="ko-KR" altLang="en-US" sz="1100" dirty="0" err="1" smtClean="0"/>
              <a:t>트래픽이</a:t>
            </a:r>
            <a:r>
              <a:rPr lang="ko-KR" altLang="en-US" sz="1100" dirty="0" smtClean="0"/>
              <a:t> 많으면 성능 </a:t>
            </a:r>
            <a:r>
              <a:rPr lang="ko-KR" altLang="en-US" sz="1100" dirty="0" err="1" smtClean="0"/>
              <a:t>개박살</a:t>
            </a:r>
            <a:r>
              <a:rPr lang="en-US" altLang="ko-KR" sz="1100" dirty="0" smtClean="0"/>
              <a:t>)</a:t>
            </a:r>
            <a:endParaRPr lang="en-US" altLang="ko-KR" sz="1100" dirty="0"/>
          </a:p>
          <a:p>
            <a:r>
              <a:rPr lang="ko-KR" altLang="en-US" sz="1100" dirty="0" smtClean="0"/>
              <a:t>업데이트 중인 </a:t>
            </a:r>
            <a:r>
              <a:rPr lang="en-US" altLang="ko-KR" sz="1100" dirty="0" smtClean="0"/>
              <a:t>ROW</a:t>
            </a:r>
            <a:r>
              <a:rPr lang="ko-KR" altLang="en-US" sz="1100" dirty="0" smtClean="0"/>
              <a:t>에 </a:t>
            </a:r>
            <a:r>
              <a:rPr lang="en-US" altLang="ko-KR" sz="1100" dirty="0" smtClean="0"/>
              <a:t>Lock</a:t>
            </a:r>
            <a:r>
              <a:rPr lang="ko-KR" altLang="en-US" sz="1100" dirty="0" smtClean="0"/>
              <a:t>이 걸림</a:t>
            </a:r>
            <a:endParaRPr lang="en-US" altLang="ko-KR" sz="1100" dirty="0" smtClean="0"/>
          </a:p>
          <a:p>
            <a:r>
              <a:rPr lang="en-US" altLang="ko-KR" sz="1100" dirty="0" smtClean="0"/>
              <a:t>(Where </a:t>
            </a:r>
            <a:r>
              <a:rPr lang="ko-KR" altLang="en-US" sz="1100" dirty="0" smtClean="0"/>
              <a:t>조건에 </a:t>
            </a:r>
            <a:r>
              <a:rPr lang="en-US" altLang="ko-KR" sz="1100" dirty="0" smtClean="0"/>
              <a:t>Index </a:t>
            </a:r>
            <a:r>
              <a:rPr lang="ko-KR" altLang="en-US" sz="1100" dirty="0" smtClean="0"/>
              <a:t>설정된 키 값이 필요</a:t>
            </a:r>
            <a:r>
              <a:rPr lang="en-US" altLang="ko-KR" sz="1100" dirty="0" smtClean="0"/>
              <a:t>)</a:t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3. </a:t>
            </a:r>
            <a:r>
              <a:rPr lang="ko-KR" altLang="en-US" sz="1100" dirty="0" smtClean="0"/>
              <a:t>낙관적 </a:t>
            </a:r>
            <a:r>
              <a:rPr lang="ko-KR" altLang="en-US" sz="1100" dirty="0" err="1" smtClean="0"/>
              <a:t>락</a:t>
            </a:r>
            <a:r>
              <a:rPr lang="en-US" altLang="ko-KR" sz="1100" dirty="0" smtClean="0"/>
              <a:t>(Optimistic)</a:t>
            </a:r>
            <a:br>
              <a:rPr lang="en-US" altLang="ko-KR" sz="1100" dirty="0" smtClean="0"/>
            </a:br>
            <a:r>
              <a:rPr lang="ko-KR" altLang="en-US" sz="1100" dirty="0" smtClean="0"/>
              <a:t>잘 사용되지 않음</a:t>
            </a:r>
            <a:r>
              <a:rPr lang="en-US" altLang="ko-KR" sz="1100" dirty="0" smtClean="0"/>
              <a:t>. (</a:t>
            </a:r>
            <a:r>
              <a:rPr lang="ko-KR" altLang="en-US" sz="1100" dirty="0" smtClean="0"/>
              <a:t>사용시 </a:t>
            </a:r>
            <a:r>
              <a:rPr lang="en-US" altLang="ko-KR" sz="1100" dirty="0" smtClean="0"/>
              <a:t>version </a:t>
            </a:r>
            <a:r>
              <a:rPr lang="ko-KR" altLang="en-US" sz="1100" dirty="0" err="1" smtClean="0"/>
              <a:t>컬럼이</a:t>
            </a:r>
            <a:r>
              <a:rPr lang="ko-KR" altLang="en-US" sz="1100" dirty="0" smtClean="0"/>
              <a:t> 필요</a:t>
            </a:r>
            <a:r>
              <a:rPr lang="en-US" altLang="ko-KR" sz="1100" dirty="0" smtClean="0"/>
              <a:t>)</a:t>
            </a:r>
            <a:br>
              <a:rPr lang="en-US" altLang="ko-KR" sz="1100" dirty="0" smtClean="0"/>
            </a:br>
            <a:r>
              <a:rPr lang="en-US" altLang="ko-KR" sz="1100" dirty="0" smtClean="0"/>
              <a:t>(※ </a:t>
            </a:r>
            <a:r>
              <a:rPr lang="ko-KR" altLang="en-US" sz="1100" dirty="0" smtClean="0"/>
              <a:t>가정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두 요청이 동시 발생 </a:t>
            </a:r>
            <a:r>
              <a:rPr lang="en-US" altLang="ko-KR" sz="1100" dirty="0" smtClean="0"/>
              <a:t>-&gt; </a:t>
            </a:r>
            <a:r>
              <a:rPr lang="ko-KR" altLang="en-US" sz="1100" dirty="0" smtClean="0"/>
              <a:t>두 트랜잭션 동시 수행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 -&gt; </a:t>
            </a:r>
            <a:r>
              <a:rPr lang="ko-KR" altLang="en-US" sz="1100" dirty="0" smtClean="0"/>
              <a:t>조회 데이터 동일 </a:t>
            </a:r>
            <a:r>
              <a:rPr lang="en-US" altLang="ko-KR" sz="1100" dirty="0" smtClean="0"/>
              <a:t>-&gt; </a:t>
            </a:r>
            <a:r>
              <a:rPr lang="ko-KR" altLang="en-US" sz="1100" dirty="0" smtClean="0"/>
              <a:t>둘 </a:t>
            </a:r>
            <a:r>
              <a:rPr lang="ko-KR" altLang="en-US" sz="1100" dirty="0" err="1" smtClean="0"/>
              <a:t>중하나의</a:t>
            </a:r>
            <a:r>
              <a:rPr lang="ko-KR" altLang="en-US" sz="1100" dirty="0" smtClean="0"/>
              <a:t> 트랜잭션에서 업데이트 발생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업데이트 시 최근 </a:t>
            </a:r>
            <a:r>
              <a:rPr lang="en-US" altLang="ko-KR" sz="1100" dirty="0" smtClean="0"/>
              <a:t>Version</a:t>
            </a:r>
            <a:r>
              <a:rPr lang="ko-KR" altLang="en-US" sz="1100" dirty="0" smtClean="0"/>
              <a:t>이면 </a:t>
            </a:r>
            <a:r>
              <a:rPr lang="en-US" altLang="ko-KR" sz="1100" dirty="0" smtClean="0"/>
              <a:t>update)</a:t>
            </a:r>
            <a:br>
              <a:rPr lang="en-US" altLang="ko-KR" sz="1100" dirty="0" smtClean="0"/>
            </a:br>
            <a:r>
              <a:rPr lang="en-US" altLang="ko-KR" sz="1100" dirty="0" smtClean="0"/>
              <a:t>-&gt; Version</a:t>
            </a:r>
            <a:r>
              <a:rPr lang="ko-KR" altLang="en-US" sz="1100" dirty="0" smtClean="0"/>
              <a:t>이 최신이 아닌 트랜잭션은 </a:t>
            </a:r>
            <a:r>
              <a:rPr lang="en-US" altLang="ko-KR" sz="1100" dirty="0" smtClean="0"/>
              <a:t>update</a:t>
            </a:r>
            <a:r>
              <a:rPr lang="ko-KR" altLang="en-US" sz="1100" dirty="0" smtClean="0"/>
              <a:t>실패 </a:t>
            </a:r>
            <a:r>
              <a:rPr lang="en-US" altLang="ko-KR" sz="1100" dirty="0" smtClean="0"/>
              <a:t>= </a:t>
            </a:r>
            <a:r>
              <a:rPr lang="en-US" altLang="ko-KR" sz="1100" dirty="0" err="1" smtClean="0"/>
              <a:t>OptimisticException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발생 </a:t>
            </a:r>
            <a:r>
              <a:rPr lang="en-US" altLang="ko-KR" sz="1100" dirty="0" smtClean="0"/>
              <a:t>-&gt; Exception</a:t>
            </a:r>
            <a:r>
              <a:rPr lang="ko-KR" altLang="en-US" sz="1100" dirty="0" smtClean="0"/>
              <a:t>에서 충돌에 대한 </a:t>
            </a:r>
            <a:r>
              <a:rPr lang="ko-KR" altLang="en-US" sz="1100" dirty="0" err="1" smtClean="0"/>
              <a:t>처리필요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4</a:t>
            </a:r>
            <a:r>
              <a:rPr lang="en-US" altLang="ko-KR" sz="1100" dirty="0"/>
              <a:t>. @Transactional(isolation </a:t>
            </a:r>
            <a:r>
              <a:rPr lang="en-US" altLang="ko-KR" sz="1100" dirty="0" smtClean="0"/>
              <a:t>=</a:t>
            </a:r>
            <a:r>
              <a:rPr lang="en-US" altLang="ko-KR" sz="1100" dirty="0" err="1" smtClean="0"/>
              <a:t>Isolation.SERIALIZABLE</a:t>
            </a:r>
            <a:r>
              <a:rPr lang="en-US" altLang="ko-KR" sz="1100" dirty="0" smtClean="0"/>
              <a:t>)</a:t>
            </a:r>
            <a:br>
              <a:rPr lang="en-US" altLang="ko-KR" sz="1100" dirty="0" smtClean="0"/>
            </a:br>
            <a:r>
              <a:rPr lang="ko-KR" altLang="en-US" sz="1100" dirty="0" smtClean="0"/>
              <a:t>조회가 들어오면 조회에 관련된 테이블은 모두 </a:t>
            </a:r>
            <a:r>
              <a:rPr lang="ko-KR" altLang="en-US" sz="1100" dirty="0" err="1" smtClean="0"/>
              <a:t>락이</a:t>
            </a:r>
            <a:r>
              <a:rPr lang="ko-KR" altLang="en-US" sz="1100" dirty="0" smtClean="0"/>
              <a:t> 걸림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ko-KR" altLang="en-US" sz="1100" dirty="0" smtClean="0"/>
              <a:t>이론상은 완벽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ko-KR" altLang="en-US" sz="1100" dirty="0" smtClean="0"/>
              <a:t>그러나 </a:t>
            </a:r>
            <a:r>
              <a:rPr lang="ko-KR" altLang="en-US" sz="1100" dirty="0" err="1" smtClean="0"/>
              <a:t>데드락이</a:t>
            </a:r>
            <a:r>
              <a:rPr lang="ko-KR" altLang="en-US" sz="1100" dirty="0" smtClean="0"/>
              <a:t> 발생할 가능성이 매우 높음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>(</a:t>
            </a:r>
            <a:r>
              <a:rPr lang="ko-KR" altLang="en-US" sz="1100" dirty="0" smtClean="0"/>
              <a:t>현실적으로 거의 안 씀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199" y="3295259"/>
            <a:ext cx="3014134" cy="682559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603" y="5401699"/>
            <a:ext cx="3315163" cy="914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851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Redis</a:t>
            </a:r>
            <a:r>
              <a:rPr lang="ko-KR" altLang="en-US" sz="3200" dirty="0" smtClean="0"/>
              <a:t>에서 동시성 문제 예</a:t>
            </a:r>
            <a:r>
              <a:rPr lang="ko-KR" altLang="en-US" sz="3200" dirty="0"/>
              <a:t>시</a:t>
            </a:r>
            <a:r>
              <a:rPr lang="en-US" altLang="ko-KR" sz="3200" dirty="0" smtClean="0"/>
              <a:t>(</a:t>
            </a:r>
            <a:r>
              <a:rPr lang="ko-KR" altLang="en-US" sz="3200" dirty="0" smtClean="0"/>
              <a:t>대규모 </a:t>
            </a:r>
            <a:r>
              <a:rPr lang="ko-KR" altLang="en-US" sz="3200" dirty="0" err="1" smtClean="0"/>
              <a:t>트래픽</a:t>
            </a:r>
            <a:r>
              <a:rPr lang="en-US" altLang="ko-KR" sz="3200" dirty="0" smtClean="0"/>
              <a:t>)-1</a:t>
            </a:r>
            <a:endParaRPr lang="ko-KR" alt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77334" y="2235200"/>
            <a:ext cx="8576733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100" dirty="0" smtClean="0"/>
              <a:t>좋아요 기능</a:t>
            </a: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 smtClean="0"/>
              <a:t>재고 관리</a:t>
            </a: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r>
              <a:rPr lang="ko-KR" altLang="en-US" sz="1100" dirty="0" err="1" smtClean="0"/>
              <a:t>캐싱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임시저장</a:t>
            </a:r>
            <a:r>
              <a:rPr lang="en-US" altLang="ko-KR" sz="1100" dirty="0"/>
              <a:t> </a:t>
            </a:r>
            <a:r>
              <a:rPr lang="ko-KR" altLang="en-US" sz="1100" dirty="0" smtClean="0"/>
              <a:t>기능</a:t>
            </a:r>
            <a:endParaRPr lang="en-US" altLang="ko-KR" sz="1100" dirty="0" smtClean="0"/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pPr marL="228600" indent="-228600">
              <a:buAutoNum type="arabicPeriod"/>
            </a:pPr>
            <a:endParaRPr lang="ko-KR" altLang="en-US" sz="11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44619"/>
            <a:ext cx="4540678" cy="106466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025462"/>
            <a:ext cx="2379133" cy="786435"/>
          </a:xfrm>
          <a:prstGeom prst="rect">
            <a:avLst/>
          </a:prstGeom>
        </p:spPr>
      </p:pic>
      <p:grpSp>
        <p:nvGrpSpPr>
          <p:cNvPr id="54" name="그룹 53"/>
          <p:cNvGrpSpPr/>
          <p:nvPr/>
        </p:nvGrpSpPr>
        <p:grpSpPr>
          <a:xfrm>
            <a:off x="5334000" y="1207269"/>
            <a:ext cx="4743064" cy="3211410"/>
            <a:chOff x="5334000" y="1207269"/>
            <a:chExt cx="4743064" cy="3211410"/>
          </a:xfrm>
        </p:grpSpPr>
        <p:grpSp>
          <p:nvGrpSpPr>
            <p:cNvPr id="9" name="그룹 8"/>
            <p:cNvGrpSpPr/>
            <p:nvPr/>
          </p:nvGrpSpPr>
          <p:grpSpPr>
            <a:xfrm>
              <a:off x="5334000" y="1651000"/>
              <a:ext cx="668866" cy="1168400"/>
              <a:chOff x="5926667" y="1803400"/>
              <a:chExt cx="668866" cy="1168400"/>
            </a:xfrm>
          </p:grpSpPr>
          <p:sp>
            <p:nvSpPr>
              <p:cNvPr id="7" name="타원 6"/>
              <p:cNvSpPr/>
              <p:nvPr/>
            </p:nvSpPr>
            <p:spPr>
              <a:xfrm>
                <a:off x="6028267" y="1803400"/>
                <a:ext cx="431800" cy="4318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5926667" y="2235200"/>
                <a:ext cx="668866" cy="7366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7101437" y="1594787"/>
              <a:ext cx="938528" cy="12084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웹 서버</a:t>
              </a:r>
              <a:endParaRPr lang="ko-KR" altLang="en-US" sz="1400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9138536" y="1586731"/>
              <a:ext cx="938528" cy="120842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/>
                <a:t>Redis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101437" y="3351879"/>
              <a:ext cx="938528" cy="10668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/>
                <a:t>RDB</a:t>
              </a:r>
              <a:endParaRPr lang="ko-KR" altLang="en-US" dirty="0"/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 flipV="1">
              <a:off x="5994399" y="2072335"/>
              <a:ext cx="1098571" cy="2521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887335" y="1207269"/>
              <a:ext cx="1577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smtClean="0"/>
                <a:t>사용자들이 자주 이용하는 무언가 요청 </a:t>
              </a:r>
              <a:r>
                <a:rPr lang="en-US" altLang="ko-KR" sz="900" dirty="0" smtClean="0"/>
                <a:t/>
              </a:r>
              <a:br>
                <a:rPr lang="en-US" altLang="ko-KR" sz="900" dirty="0" smtClean="0"/>
              </a:br>
              <a:r>
                <a:rPr lang="en-US" altLang="ko-KR" sz="900" dirty="0" smtClean="0"/>
                <a:t>(</a:t>
              </a:r>
              <a:r>
                <a:rPr lang="ko-KR" altLang="en-US" sz="900" dirty="0" err="1" smtClean="0"/>
                <a:t>게시글</a:t>
              </a:r>
              <a:r>
                <a:rPr lang="en-US" altLang="ko-KR" sz="900" dirty="0" smtClean="0"/>
                <a:t>,</a:t>
              </a:r>
              <a:br>
                <a:rPr lang="en-US" altLang="ko-KR" sz="900" dirty="0" smtClean="0"/>
              </a:br>
              <a:r>
                <a:rPr lang="ko-KR" altLang="en-US" sz="900" dirty="0" smtClean="0"/>
                <a:t>서비스 등</a:t>
              </a:r>
              <a:r>
                <a:rPr lang="en-US" altLang="ko-KR" sz="900" dirty="0" smtClean="0"/>
                <a:t>)</a:t>
              </a:r>
              <a:endParaRPr lang="ko-KR" altLang="en-US" sz="900" dirty="0"/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>
              <a:off x="7375967" y="2803210"/>
              <a:ext cx="0" cy="5486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/>
            <p:nvPr/>
          </p:nvCxnSpPr>
          <p:spPr>
            <a:xfrm flipV="1">
              <a:off x="7773901" y="2810710"/>
              <a:ext cx="0" cy="5324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/>
            <p:nvPr/>
          </p:nvCxnSpPr>
          <p:spPr>
            <a:xfrm flipV="1">
              <a:off x="8039965" y="2441120"/>
              <a:ext cx="1098571" cy="80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/>
            <p:nvPr/>
          </p:nvCxnSpPr>
          <p:spPr>
            <a:xfrm flipV="1">
              <a:off x="6002866" y="2477450"/>
              <a:ext cx="1098571" cy="2679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133537" y="1854056"/>
              <a:ext cx="8324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 smtClean="0"/>
                <a:t>1 </a:t>
              </a:r>
              <a:r>
                <a:rPr lang="ko-KR" altLang="en-US" sz="800" dirty="0" smtClean="0"/>
                <a:t>조회 반환</a:t>
              </a:r>
              <a:endParaRPr lang="ko-KR" altLang="en-US" sz="8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68034" y="2614088"/>
              <a:ext cx="5133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/>
                <a:t>2</a:t>
              </a:r>
              <a:endParaRPr lang="ko-KR" altLang="en-US" sz="800" dirty="0"/>
            </a:p>
          </p:txBody>
        </p:sp>
        <p:cxnSp>
          <p:nvCxnSpPr>
            <p:cNvPr id="30" name="직선 화살표 연결선 29"/>
            <p:cNvCxnSpPr/>
            <p:nvPr/>
          </p:nvCxnSpPr>
          <p:spPr>
            <a:xfrm flipH="1">
              <a:off x="6002866" y="1966601"/>
              <a:ext cx="1098571" cy="2668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578601" y="2142476"/>
              <a:ext cx="8324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/>
                <a:t>1</a:t>
              </a:r>
              <a:endParaRPr lang="ko-KR" altLang="en-US" sz="8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773901" y="2971029"/>
              <a:ext cx="6639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 smtClean="0"/>
                <a:t>1 </a:t>
              </a:r>
              <a:r>
                <a:rPr lang="ko-KR" altLang="en-US" sz="800" dirty="0" smtClean="0"/>
                <a:t>조회 반환</a:t>
              </a:r>
              <a:r>
                <a:rPr lang="en-US" altLang="ko-KR" sz="800" dirty="0" smtClean="0"/>
                <a:t> </a:t>
              </a:r>
              <a:endParaRPr lang="ko-KR" altLang="en-US" sz="8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282014" y="2490978"/>
              <a:ext cx="6639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 smtClean="0"/>
                <a:t>1 </a:t>
              </a:r>
              <a:r>
                <a:rPr lang="ko-KR" altLang="en-US" sz="800" dirty="0" smtClean="0"/>
                <a:t>조회 반환 정보 저장</a:t>
              </a:r>
              <a:r>
                <a:rPr lang="en-US" altLang="ko-KR" sz="800" dirty="0" smtClean="0"/>
                <a:t> </a:t>
              </a:r>
              <a:endParaRPr lang="ko-KR" altLang="en-US" sz="800" dirty="0"/>
            </a:p>
          </p:txBody>
        </p:sp>
        <p:cxnSp>
          <p:nvCxnSpPr>
            <p:cNvPr id="36" name="직선 화살표 연결선 35"/>
            <p:cNvCxnSpPr/>
            <p:nvPr/>
          </p:nvCxnSpPr>
          <p:spPr>
            <a:xfrm flipV="1">
              <a:off x="8065364" y="2334542"/>
              <a:ext cx="1098571" cy="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/>
            <p:nvPr/>
          </p:nvCxnSpPr>
          <p:spPr>
            <a:xfrm flipH="1">
              <a:off x="8027083" y="2037413"/>
              <a:ext cx="1098571" cy="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8048432" y="2158619"/>
              <a:ext cx="10358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 smtClean="0"/>
                <a:t>2 </a:t>
              </a:r>
              <a:r>
                <a:rPr lang="ko-KR" altLang="en-US" sz="800" dirty="0" err="1" smtClean="0"/>
                <a:t>키값</a:t>
              </a:r>
              <a:r>
                <a:rPr lang="ko-KR" altLang="en-US" sz="800" dirty="0" smtClean="0"/>
                <a:t> 확인</a:t>
              </a:r>
              <a:endParaRPr lang="ko-KR" altLang="en-US" sz="8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39965" y="1819711"/>
              <a:ext cx="10358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요청</a:t>
              </a:r>
              <a:r>
                <a:rPr lang="en-US" altLang="ko-KR" sz="800" dirty="0" smtClean="0"/>
                <a:t>2 </a:t>
              </a:r>
              <a:r>
                <a:rPr lang="ko-KR" altLang="en-US" sz="800" dirty="0" smtClean="0"/>
                <a:t>정보 확인</a:t>
              </a:r>
              <a:endParaRPr lang="ko-KR" altLang="en-US" sz="800" dirty="0"/>
            </a:p>
          </p:txBody>
        </p:sp>
        <p:cxnSp>
          <p:nvCxnSpPr>
            <p:cNvPr id="46" name="직선 화살표 연결선 45"/>
            <p:cNvCxnSpPr/>
            <p:nvPr/>
          </p:nvCxnSpPr>
          <p:spPr>
            <a:xfrm>
              <a:off x="7239000" y="2810710"/>
              <a:ext cx="0" cy="54116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>
              <a:stCxn id="12" idx="0"/>
              <a:endCxn id="10" idx="2"/>
            </p:cNvCxnSpPr>
            <p:nvPr/>
          </p:nvCxnSpPr>
          <p:spPr>
            <a:xfrm flipV="1">
              <a:off x="7570701" y="2803210"/>
              <a:ext cx="0" cy="548669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6217356" y="3032584"/>
              <a:ext cx="1036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/>
                <a:t>요청</a:t>
              </a:r>
              <a:r>
                <a:rPr lang="en-US" altLang="ko-KR" sz="1000" dirty="0" smtClean="0"/>
                <a:t>2 </a:t>
              </a:r>
              <a:r>
                <a:rPr lang="ko-KR" altLang="en-US" sz="1000" dirty="0" smtClean="0"/>
                <a:t>정보가 없으면 </a:t>
              </a:r>
              <a:r>
                <a:rPr lang="en-US" altLang="ko-KR" sz="1000" dirty="0" err="1" smtClean="0"/>
                <a:t>RDB</a:t>
              </a:r>
              <a:r>
                <a:rPr lang="ko-KR" altLang="en-US" sz="1000" dirty="0" smtClean="0"/>
                <a:t>요청</a:t>
              </a:r>
              <a:r>
                <a:rPr lang="en-US" altLang="ko-KR" sz="1000" dirty="0"/>
                <a:t> </a:t>
              </a:r>
              <a:r>
                <a:rPr lang="ko-KR" altLang="en-US" sz="1000" dirty="0" smtClean="0"/>
                <a:t>및</a:t>
              </a:r>
              <a:r>
                <a:rPr lang="en-US" altLang="ko-KR" sz="1000" dirty="0" smtClean="0"/>
                <a:t/>
              </a:r>
              <a:br>
                <a:rPr lang="en-US" altLang="ko-KR" sz="1000" dirty="0" smtClean="0"/>
              </a:br>
              <a:r>
                <a:rPr lang="ko-KR" altLang="en-US" sz="1000" dirty="0" smtClean="0"/>
                <a:t>반환</a:t>
              </a:r>
              <a:endParaRPr lang="ko-KR" altLang="en-US" sz="1000" dirty="0"/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 flipH="1">
              <a:off x="6028265" y="2374063"/>
              <a:ext cx="1064706" cy="2625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8118256" y="3418906"/>
            <a:ext cx="3966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요청</a:t>
            </a:r>
            <a:r>
              <a:rPr lang="en-US" altLang="ko-KR" sz="1200" dirty="0" smtClean="0"/>
              <a:t>1 </a:t>
            </a:r>
            <a:r>
              <a:rPr lang="ko-KR" altLang="en-US" sz="1200" dirty="0" smtClean="0"/>
              <a:t>과 요청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가 동일한 </a:t>
            </a:r>
            <a:r>
              <a:rPr lang="ko-KR" altLang="en-US" sz="1200" dirty="0" err="1" smtClean="0"/>
              <a:t>게시글일</a:t>
            </a:r>
            <a:r>
              <a:rPr lang="ko-KR" altLang="en-US" sz="1200" dirty="0" smtClean="0"/>
              <a:t> 때</a:t>
            </a:r>
            <a:r>
              <a:rPr lang="en-US" altLang="ko-KR" sz="1200" dirty="0" smtClean="0"/>
              <a:t>, </a:t>
            </a:r>
            <a:br>
              <a:rPr lang="en-US" altLang="ko-KR" sz="1200" dirty="0" smtClean="0"/>
            </a:br>
            <a:r>
              <a:rPr lang="ko-KR" altLang="en-US" sz="1200" dirty="0" smtClean="0"/>
              <a:t>첫 요청이 요청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일 경우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/>
              <a:t>RDB</a:t>
            </a:r>
            <a:r>
              <a:rPr lang="ko-KR" altLang="en-US" sz="1200" dirty="0" smtClean="0"/>
              <a:t>를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조회하고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조회한 요청은 </a:t>
            </a:r>
            <a:r>
              <a:rPr lang="en-US" altLang="ko-KR" sz="1200" dirty="0" err="1" smtClean="0"/>
              <a:t>Redis</a:t>
            </a:r>
            <a:r>
              <a:rPr lang="ko-KR" altLang="en-US" sz="1200" dirty="0" smtClean="0"/>
              <a:t>에 저장된다</a:t>
            </a:r>
            <a:r>
              <a:rPr lang="en-US" altLang="ko-KR" sz="1200" dirty="0" smtClean="0"/>
              <a:t>.</a:t>
            </a:r>
            <a:br>
              <a:rPr lang="en-US" altLang="ko-KR" sz="1200" dirty="0" smtClean="0"/>
            </a:b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이후 요청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가 </a:t>
            </a:r>
            <a:r>
              <a:rPr lang="ko-KR" altLang="en-US" sz="1200" dirty="0" err="1" smtClean="0"/>
              <a:t>들어왔을때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웹서버는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err="1" smtClean="0"/>
              <a:t>Redis</a:t>
            </a:r>
            <a:r>
              <a:rPr lang="ko-KR" altLang="en-US" sz="1200" dirty="0" smtClean="0"/>
              <a:t>에 먼저 요청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에 대한 </a:t>
            </a:r>
            <a:r>
              <a:rPr lang="ko-KR" altLang="en-US" sz="1200" dirty="0" err="1" smtClean="0"/>
              <a:t>저장정보가</a:t>
            </a:r>
            <a:r>
              <a:rPr lang="ko-KR" altLang="en-US" sz="1200" dirty="0" smtClean="0"/>
              <a:t> 있는지 확인하고</a:t>
            </a:r>
            <a:r>
              <a:rPr lang="en-US" altLang="ko-KR" sz="1200" dirty="0" smtClean="0"/>
              <a:t>, </a:t>
            </a:r>
            <a:br>
              <a:rPr lang="en-US" altLang="ko-KR" sz="1200" dirty="0" smtClean="0"/>
            </a:br>
            <a:r>
              <a:rPr lang="ko-KR" altLang="en-US" sz="1200" dirty="0" smtClean="0"/>
              <a:t>없으면 </a:t>
            </a:r>
            <a:r>
              <a:rPr lang="en-US" altLang="ko-KR" sz="1200" dirty="0" err="1" smtClean="0"/>
              <a:t>RDB</a:t>
            </a:r>
            <a:r>
              <a:rPr lang="ko-KR" altLang="en-US" sz="1200" dirty="0" smtClean="0"/>
              <a:t>를 조회 있으면</a:t>
            </a:r>
            <a:r>
              <a:rPr lang="en-US" altLang="ko-KR" sz="1200" dirty="0" smtClean="0"/>
              <a:t>,</a:t>
            </a:r>
            <a:br>
              <a:rPr lang="en-US" altLang="ko-KR" sz="1200" dirty="0" smtClean="0"/>
            </a:br>
            <a:r>
              <a:rPr lang="ko-KR" altLang="en-US" sz="1200" dirty="0" smtClean="0"/>
              <a:t>해당 정보를 반환한다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31" y="5172644"/>
            <a:ext cx="951680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2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String </a:t>
            </a:r>
            <a:r>
              <a:rPr lang="ko-KR" altLang="en-US" dirty="0" smtClean="0"/>
              <a:t>관련 명령</a:t>
            </a:r>
            <a:r>
              <a:rPr lang="ko-KR" altLang="en-US" dirty="0"/>
              <a:t>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518535"/>
            <a:ext cx="4191324" cy="36874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4064" y="1518535"/>
            <a:ext cx="6010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nx</a:t>
            </a:r>
            <a:r>
              <a:rPr lang="en-US" altLang="ko-KR" sz="1200" dirty="0" smtClean="0"/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존재하면 </a:t>
            </a:r>
            <a:r>
              <a:rPr lang="en-US" altLang="ko-KR" sz="1200" dirty="0" smtClean="0">
                <a:sym typeface="Wingdings" panose="05000000000000000000" pitchFamily="2" charset="2"/>
              </a:rPr>
              <a:t>Pass / </a:t>
            </a:r>
            <a:r>
              <a:rPr lang="ko-KR" altLang="en-US" sz="1200" dirty="0" smtClean="0">
                <a:sym typeface="Wingdings" panose="05000000000000000000" pitchFamily="2" charset="2"/>
              </a:rPr>
              <a:t>존재하지 않으면 넣기</a:t>
            </a:r>
            <a:endParaRPr lang="en-US" altLang="ko-KR" sz="1200" dirty="0" smtClean="0">
              <a:sym typeface="Wingdings" panose="05000000000000000000" pitchFamily="2" charset="2"/>
            </a:endParaRPr>
          </a:p>
          <a:p>
            <a:r>
              <a:rPr lang="en-US" altLang="ko-KR" sz="1200" dirty="0" smtClean="0">
                <a:sym typeface="Wingdings" panose="05000000000000000000" pitchFamily="2" charset="2"/>
              </a:rPr>
              <a:t>ex  expire </a:t>
            </a:r>
            <a:r>
              <a:rPr lang="ko-KR" altLang="en-US" sz="1200" dirty="0" smtClean="0">
                <a:sym typeface="Wingdings" panose="05000000000000000000" pitchFamily="2" charset="2"/>
              </a:rPr>
              <a:t>명령어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TTL</a:t>
            </a:r>
            <a:r>
              <a:rPr lang="en-US" altLang="ko-KR" sz="1200" dirty="0">
                <a:sym typeface="Wingdings" panose="05000000000000000000" pitchFamily="2" charset="2"/>
              </a:rPr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(Time To Live) [</a:t>
            </a:r>
            <a:r>
              <a:rPr lang="ko-KR" altLang="en-US" sz="1200" dirty="0" smtClean="0">
                <a:sym typeface="Wingdings" panose="05000000000000000000" pitchFamily="2" charset="2"/>
              </a:rPr>
              <a:t>일정 시간 동안 살리기</a:t>
            </a:r>
            <a:r>
              <a:rPr lang="en-US" altLang="ko-KR" sz="1200" dirty="0" smtClean="0">
                <a:sym typeface="Wingdings" panose="05000000000000000000" pitchFamily="2" charset="2"/>
              </a:rPr>
              <a:t>] {</a:t>
            </a:r>
            <a:r>
              <a:rPr lang="ko-KR" altLang="en-US" sz="1200" dirty="0" smtClean="0">
                <a:sym typeface="Wingdings" panose="05000000000000000000" pitchFamily="2" charset="2"/>
              </a:rPr>
              <a:t>단위 </a:t>
            </a:r>
            <a:r>
              <a:rPr lang="en-US" altLang="ko-KR" sz="1200" dirty="0" smtClean="0">
                <a:sym typeface="Wingdings" panose="05000000000000000000" pitchFamily="2" charset="2"/>
              </a:rPr>
              <a:t>: sec}</a:t>
            </a:r>
          </a:p>
          <a:p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dirty="0" smtClean="0">
                <a:sym typeface="Wingdings" panose="05000000000000000000" pitchFamily="2" charset="2"/>
              </a:rPr>
              <a:t>del  Key </a:t>
            </a:r>
            <a:r>
              <a:rPr lang="ko-KR" altLang="en-US" sz="1200" dirty="0" smtClean="0">
                <a:sym typeface="Wingdings" panose="05000000000000000000" pitchFamily="2" charset="2"/>
              </a:rPr>
              <a:t>정보 삭제</a:t>
            </a:r>
            <a:endParaRPr lang="en-US" altLang="ko-KR" sz="1200" dirty="0" smtClean="0">
              <a:sym typeface="Wingdings" panose="05000000000000000000" pitchFamily="2" charset="2"/>
            </a:endParaRPr>
          </a:p>
          <a:p>
            <a:r>
              <a:rPr lang="en-US" altLang="ko-KR" sz="1200" dirty="0" err="1" smtClean="0"/>
              <a:t>flushdb</a:t>
            </a:r>
            <a:r>
              <a:rPr lang="en-US" altLang="ko-KR" sz="1200" dirty="0" smtClean="0"/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redis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smtClean="0">
                <a:sym typeface="Wingdings" panose="05000000000000000000" pitchFamily="2" charset="2"/>
              </a:rPr>
              <a:t>모든 정보 삭제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30305047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344</TotalTime>
  <Words>195</Words>
  <Application>Microsoft Office PowerPoint</Application>
  <PresentationFormat>와이드스크린</PresentationFormat>
  <Paragraphs>75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String 자료구조</vt:lpstr>
      <vt:lpstr>Redis 는 0~15번(총 16)까지 DB를 가진다.</vt:lpstr>
      <vt:lpstr>Redis : 사용자 인증정보 취급</vt:lpstr>
      <vt:lpstr>String 자료구조 활용 – 좋아요 기능 구현</vt:lpstr>
      <vt:lpstr>Redis에서 동시성 문제 예시(대규모 트래픽)-1</vt:lpstr>
      <vt:lpstr>String 관련 명령어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자료구조</dc:title>
  <dc:creator>Microsoft 계정</dc:creator>
  <cp:lastModifiedBy>Microsoft 계정</cp:lastModifiedBy>
  <cp:revision>21</cp:revision>
  <dcterms:created xsi:type="dcterms:W3CDTF">2026-01-29T00:22:34Z</dcterms:created>
  <dcterms:modified xsi:type="dcterms:W3CDTF">2026-01-29T23:11:06Z</dcterms:modified>
</cp:coreProperties>
</file>