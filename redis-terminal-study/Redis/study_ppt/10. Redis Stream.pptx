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Stream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65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Stream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Pub/Sub </a:t>
            </a:r>
            <a:r>
              <a:rPr lang="ko-KR" altLang="en-US" dirty="0" smtClean="0"/>
              <a:t>비교</a:t>
            </a:r>
            <a:r>
              <a:rPr lang="en-US" altLang="ko-KR" dirty="0" smtClean="0"/>
              <a:t>-1. [Pub/Sub]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38" y="1462585"/>
            <a:ext cx="6056236" cy="14603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538" y="3008923"/>
            <a:ext cx="6056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※ Publish </a:t>
            </a:r>
            <a:r>
              <a:rPr lang="ko-KR" altLang="en-US" sz="1200" dirty="0" smtClean="0"/>
              <a:t>서버</a:t>
            </a:r>
            <a:endParaRPr lang="ko-KR" altLang="en-US" sz="12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38" y="3580934"/>
            <a:ext cx="4234743" cy="22415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478" y="3580934"/>
            <a:ext cx="5546048" cy="2241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538" y="5840475"/>
            <a:ext cx="6056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※ </a:t>
            </a:r>
            <a:r>
              <a:rPr lang="en-US" altLang="ko-KR" sz="1200" dirty="0" err="1" smtClean="0"/>
              <a:t>Subscibe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서버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580554" y="1462585"/>
            <a:ext cx="53926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1. Subscribe Channel </a:t>
            </a:r>
            <a:r>
              <a:rPr lang="ko-KR" altLang="en-US" sz="1100" dirty="0" smtClean="0"/>
              <a:t>에선</a:t>
            </a:r>
            <a:r>
              <a:rPr lang="en-US" altLang="ko-KR" sz="1100" dirty="0" smtClean="0"/>
              <a:t>Publish</a:t>
            </a:r>
            <a:r>
              <a:rPr lang="ko-KR" altLang="en-US" sz="1100" dirty="0" smtClean="0"/>
              <a:t>서버가 메시지를 </a:t>
            </a:r>
            <a:r>
              <a:rPr lang="en-US" altLang="ko-KR" sz="1100" dirty="0" smtClean="0"/>
              <a:t>Publish</a:t>
            </a:r>
            <a:r>
              <a:rPr lang="ko-KR" altLang="en-US" sz="1100" dirty="0" smtClean="0"/>
              <a:t>하기 전에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Subscribe </a:t>
            </a:r>
            <a:r>
              <a:rPr lang="ko-KR" altLang="en-US" sz="1100" dirty="0" smtClean="0"/>
              <a:t>하고 있는다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2. Publish </a:t>
            </a:r>
            <a:r>
              <a:rPr lang="ko-KR" altLang="en-US" sz="1100" dirty="0" smtClean="0"/>
              <a:t>서버에서 메시지를 </a:t>
            </a:r>
            <a:r>
              <a:rPr lang="en-US" altLang="ko-KR" sz="1100" dirty="0" smtClean="0"/>
              <a:t>Publish (</a:t>
            </a:r>
            <a:r>
              <a:rPr lang="ko-KR" altLang="en-US" sz="1100" dirty="0" smtClean="0"/>
              <a:t>발행</a:t>
            </a:r>
            <a:r>
              <a:rPr lang="en-US" altLang="ko-KR" sz="1100" dirty="0" smtClean="0"/>
              <a:t>) </a:t>
            </a:r>
            <a:r>
              <a:rPr lang="ko-KR" altLang="en-US" sz="1100" dirty="0" smtClean="0"/>
              <a:t>한다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3. Subscribe Channel </a:t>
            </a:r>
            <a:r>
              <a:rPr lang="ko-KR" altLang="en-US" sz="1100" dirty="0" smtClean="0"/>
              <a:t>에선 메시지를 받으면 메시지를 출력하고 계속하여 </a:t>
            </a:r>
            <a:r>
              <a:rPr lang="en-US" altLang="ko-KR" sz="1100" dirty="0"/>
              <a:t/>
            </a:r>
            <a:br>
              <a:rPr lang="en-US" altLang="ko-KR" sz="1100" dirty="0"/>
            </a:br>
            <a:r>
              <a:rPr lang="ko-KR" altLang="en-US" sz="1100" dirty="0" smtClean="0"/>
              <a:t>메시지의 발행을 </a:t>
            </a:r>
            <a:r>
              <a:rPr lang="en-US" altLang="ko-KR" sz="1100" dirty="0" smtClean="0"/>
              <a:t>Listen</a:t>
            </a:r>
            <a:r>
              <a:rPr lang="ko-KR" altLang="en-US" sz="1100" dirty="0" smtClean="0"/>
              <a:t>한다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※ </a:t>
            </a:r>
            <a:r>
              <a:rPr lang="ko-KR" altLang="en-US" sz="1100" dirty="0" smtClean="0"/>
              <a:t>이전 </a:t>
            </a:r>
            <a:r>
              <a:rPr lang="en-US" altLang="ko-KR" sz="1100" dirty="0" smtClean="0"/>
              <a:t>Pub/Sub </a:t>
            </a:r>
            <a:r>
              <a:rPr lang="ko-KR" altLang="en-US" sz="1100" dirty="0" smtClean="0"/>
              <a:t>강의에서 주요 특징으로 한 번 발송된 메시지는 저장되지 않는다는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   </a:t>
            </a:r>
            <a:r>
              <a:rPr lang="ko-KR" altLang="en-US" sz="1100" dirty="0" smtClean="0"/>
              <a:t>아주 중요한 특성을 언급하였다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>   </a:t>
            </a:r>
            <a:r>
              <a:rPr lang="ko-KR" altLang="en-US" sz="1100" dirty="0" smtClean="0"/>
              <a:t>이는 어느 한 쪽 </a:t>
            </a:r>
            <a:r>
              <a:rPr lang="en-US" altLang="ko-KR" sz="1100" dirty="0" smtClean="0"/>
              <a:t>SUB</a:t>
            </a:r>
            <a:r>
              <a:rPr lang="ko-KR" altLang="en-US" sz="1100" dirty="0" smtClean="0"/>
              <a:t>서버가 죽었을 때</a:t>
            </a:r>
            <a:r>
              <a:rPr lang="en-US" altLang="ko-KR" sz="1100" dirty="0" smtClean="0"/>
              <a:t>, Publish</a:t>
            </a:r>
            <a:r>
              <a:rPr lang="ko-KR" altLang="en-US" sz="1100" dirty="0" smtClean="0"/>
              <a:t>한 </a:t>
            </a:r>
            <a:r>
              <a:rPr lang="en-US" altLang="ko-KR" sz="1100" dirty="0" smtClean="0"/>
              <a:t>Message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history</a:t>
            </a:r>
            <a:r>
              <a:rPr lang="ko-KR" altLang="en-US" sz="1100" dirty="0" smtClean="0"/>
              <a:t>를 알 수 없다는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   </a:t>
            </a:r>
            <a:r>
              <a:rPr lang="ko-KR" altLang="en-US" sz="1100" dirty="0" smtClean="0"/>
              <a:t>주요한 결함이 있다</a:t>
            </a:r>
            <a:r>
              <a:rPr lang="en-US" altLang="ko-KR" sz="1100" dirty="0" smtClean="0"/>
              <a:t>.</a:t>
            </a:r>
            <a:r>
              <a:rPr lang="ko-KR" altLang="en-US" sz="1100" dirty="0" smtClean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7904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Stream</a:t>
            </a:r>
            <a:r>
              <a:rPr lang="ko-KR" altLang="en-US" dirty="0"/>
              <a:t>과 </a:t>
            </a:r>
            <a:r>
              <a:rPr lang="en-US" altLang="ko-KR" dirty="0"/>
              <a:t>Pub/Sub </a:t>
            </a:r>
            <a:r>
              <a:rPr lang="ko-KR" altLang="en-US" dirty="0"/>
              <a:t>비교</a:t>
            </a:r>
            <a:r>
              <a:rPr lang="en-US" altLang="ko-KR" dirty="0" smtClean="0"/>
              <a:t>-2. [Stream]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58846"/>
            <a:ext cx="6401693" cy="9431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885338"/>
            <a:ext cx="3144168" cy="14036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630" y="3886807"/>
            <a:ext cx="4894007" cy="1402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34" y="2501660"/>
            <a:ext cx="902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※ Publish </a:t>
            </a:r>
            <a:r>
              <a:rPr lang="ko-KR" altLang="en-US" sz="1100" dirty="0" smtClean="0"/>
              <a:t>서버 </a:t>
            </a:r>
            <a:r>
              <a:rPr lang="en-US" altLang="ko-KR" sz="1100" dirty="0" smtClean="0"/>
              <a:t>stream </a:t>
            </a:r>
            <a:r>
              <a:rPr lang="ko-KR" altLang="en-US" sz="1100" dirty="0" smtClean="0"/>
              <a:t>발송</a:t>
            </a:r>
            <a:endParaRPr lang="ko-KR" alt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677334" y="5289568"/>
            <a:ext cx="902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※ Subscribe </a:t>
            </a:r>
            <a:r>
              <a:rPr lang="ko-KR" altLang="en-US" sz="1100" dirty="0" smtClean="0"/>
              <a:t>서버 </a:t>
            </a:r>
            <a:r>
              <a:rPr lang="en-US" altLang="ko-KR" sz="1100" dirty="0" smtClean="0"/>
              <a:t>stream Listen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7289321" y="1458846"/>
            <a:ext cx="468414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100" dirty="0" smtClean="0"/>
              <a:t>메시지를 발행하는 서버에서 </a:t>
            </a:r>
            <a:r>
              <a:rPr lang="en-US" altLang="ko-KR" sz="1100" dirty="0" smtClean="0"/>
              <a:t>stream </a:t>
            </a:r>
            <a:r>
              <a:rPr lang="ko-KR" altLang="en-US" sz="1100" dirty="0" smtClean="0"/>
              <a:t>메시지를 전달</a:t>
            </a:r>
            <a:endParaRPr lang="en-US" altLang="ko-KR" sz="1100" dirty="0" smtClean="0"/>
          </a:p>
          <a:p>
            <a:pPr marL="228600" indent="-228600">
              <a:buAutoNum type="arabicPeriod"/>
            </a:pPr>
            <a:r>
              <a:rPr lang="en-US" altLang="ko-KR" sz="1100" dirty="0" smtClean="0"/>
              <a:t>Sub</a:t>
            </a:r>
            <a:r>
              <a:rPr lang="ko-KR" altLang="en-US" sz="1100" dirty="0" smtClean="0"/>
              <a:t>중인 서버는 </a:t>
            </a:r>
            <a:r>
              <a:rPr lang="en-US" altLang="ko-KR" sz="1100" dirty="0" smtClean="0"/>
              <a:t>Stream</a:t>
            </a:r>
            <a:r>
              <a:rPr lang="ko-KR" altLang="en-US" sz="1100" dirty="0" err="1" smtClean="0"/>
              <a:t>메세지를</a:t>
            </a:r>
            <a:r>
              <a:rPr lang="ko-KR" altLang="en-US" sz="1100" dirty="0" smtClean="0"/>
              <a:t> 받으면 메시지 </a:t>
            </a:r>
            <a:r>
              <a:rPr lang="en-US" altLang="ko-KR" sz="1100" dirty="0" smtClean="0"/>
              <a:t>Listen</a:t>
            </a:r>
            <a:r>
              <a:rPr lang="ko-KR" altLang="en-US" sz="1100" dirty="0" smtClean="0"/>
              <a:t>이 중단된다</a:t>
            </a:r>
            <a:r>
              <a:rPr lang="en-US" altLang="ko-KR" sz="1100" dirty="0" smtClean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100" dirty="0" err="1" smtClean="0"/>
              <a:t>Xread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명령을 다시 실행시켜주지 않으면 메시지를 받았을 때 </a:t>
            </a:r>
            <a:r>
              <a:rPr lang="en-US" altLang="ko-KR" sz="1100" dirty="0" smtClean="0"/>
              <a:t>console</a:t>
            </a:r>
            <a:r>
              <a:rPr lang="ko-KR" altLang="en-US" sz="1100" dirty="0" smtClean="0"/>
              <a:t>에 찍히지 않는다</a:t>
            </a:r>
            <a:r>
              <a:rPr lang="en-US" altLang="ko-KR" sz="1100" dirty="0" smtClean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100" dirty="0" smtClean="0"/>
              <a:t>그러나 </a:t>
            </a:r>
            <a:r>
              <a:rPr lang="en-US" altLang="ko-KR" sz="1100" dirty="0" err="1" smtClean="0"/>
              <a:t>xrange</a:t>
            </a:r>
            <a:r>
              <a:rPr lang="en-US" altLang="ko-KR" sz="1100" dirty="0" smtClean="0"/>
              <a:t> - +  </a:t>
            </a:r>
            <a:r>
              <a:rPr lang="ko-KR" altLang="en-US" sz="1100" dirty="0" smtClean="0"/>
              <a:t>명령어로 </a:t>
            </a:r>
            <a:r>
              <a:rPr lang="en-US" altLang="ko-KR" sz="1100" dirty="0" smtClean="0"/>
              <a:t>publish </a:t>
            </a:r>
            <a:r>
              <a:rPr lang="ko-KR" altLang="en-US" sz="1100" dirty="0" smtClean="0"/>
              <a:t>서버가 전달한 모든 메시지를 확인할 수 있다</a:t>
            </a:r>
            <a:r>
              <a:rPr lang="en-US" altLang="ko-KR" sz="1100" dirty="0" smtClean="0"/>
              <a:t>. </a:t>
            </a:r>
            <a:r>
              <a:rPr lang="en-US" altLang="ko-KR" sz="1100" dirty="0" smtClean="0">
                <a:sym typeface="Wingdings" panose="05000000000000000000" pitchFamily="2" charset="2"/>
              </a:rPr>
              <a:t> </a:t>
            </a:r>
            <a:r>
              <a:rPr lang="ko-KR" altLang="en-US" sz="1100" dirty="0" smtClean="0">
                <a:sym typeface="Wingdings" panose="05000000000000000000" pitchFamily="2" charset="2"/>
              </a:rPr>
              <a:t>이는 </a:t>
            </a:r>
            <a:r>
              <a:rPr lang="en-US" altLang="ko-KR" sz="1100" dirty="0" smtClean="0">
                <a:sym typeface="Wingdings" panose="05000000000000000000" pitchFamily="2" charset="2"/>
              </a:rPr>
              <a:t>sub</a:t>
            </a:r>
            <a:r>
              <a:rPr lang="ko-KR" altLang="en-US" sz="1100" dirty="0" smtClean="0">
                <a:sym typeface="Wingdings" panose="05000000000000000000" pitchFamily="2" charset="2"/>
              </a:rPr>
              <a:t>서버가 죽어있다고 하더라도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redis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서버에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publis</a:t>
            </a:r>
            <a:r>
              <a:rPr lang="ko-KR" altLang="en-US" sz="1100" dirty="0" smtClean="0">
                <a:sym typeface="Wingdings" panose="05000000000000000000" pitchFamily="2" charset="2"/>
              </a:rPr>
              <a:t>한 메시지가 저장되어있음으로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xrange</a:t>
            </a:r>
            <a:r>
              <a:rPr lang="en-US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en-US" sz="1100" dirty="0" smtClean="0">
                <a:sym typeface="Wingdings" panose="05000000000000000000" pitchFamily="2" charset="2"/>
              </a:rPr>
              <a:t>명령어로 확인가능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AutoNum type="arabicPeriod"/>
            </a:pPr>
            <a:endParaRPr lang="en-US" altLang="ko-KR" sz="1100" dirty="0" smtClean="0"/>
          </a:p>
          <a:p>
            <a:r>
              <a:rPr lang="ko-KR" altLang="en-US" sz="1100" dirty="0" smtClean="0"/>
              <a:t> </a:t>
            </a:r>
            <a:endParaRPr lang="en-US" altLang="ko-KR" sz="1100" dirty="0" smtClean="0"/>
          </a:p>
          <a:p>
            <a:pPr marL="228600" indent="-228600">
              <a:buAutoNum type="arabicPeriod"/>
            </a:pPr>
            <a:endParaRPr lang="ko-KR" altLang="en-US" sz="11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57" y="5619198"/>
            <a:ext cx="3467584" cy="8097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7334" y="6439973"/>
            <a:ext cx="902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※ message </a:t>
            </a:r>
            <a:r>
              <a:rPr lang="ko-KR" altLang="en-US" sz="1100" dirty="0" smtClean="0"/>
              <a:t>발행 전체 목록 확인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7337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Stream </a:t>
            </a:r>
            <a:r>
              <a:rPr lang="ko-KR" altLang="en-US" dirty="0" smtClean="0"/>
              <a:t>문법 이해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68845" y="3143250"/>
            <a:ext cx="8605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메시지 발행 </a:t>
            </a: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zadd</a:t>
            </a:r>
            <a:r>
              <a:rPr lang="en-US" altLang="ko-KR" sz="1200" dirty="0" smtClean="0"/>
              <a:t> {</a:t>
            </a:r>
            <a:r>
              <a:rPr lang="en-US" altLang="ko-KR" sz="1200" dirty="0" err="1" smtClean="0"/>
              <a:t>channel_name</a:t>
            </a:r>
            <a:r>
              <a:rPr lang="en-US" altLang="ko-KR" sz="1200" dirty="0" smtClean="0"/>
              <a:t>} * {</a:t>
            </a:r>
            <a:r>
              <a:rPr lang="en-US" altLang="ko-KR" sz="1200" dirty="0" err="1" smtClean="0"/>
              <a:t>message_key</a:t>
            </a:r>
            <a:r>
              <a:rPr lang="en-US" altLang="ko-KR" sz="1200" dirty="0" smtClean="0"/>
              <a:t>} “{String </a:t>
            </a:r>
            <a:r>
              <a:rPr lang="en-US" altLang="ko-KR" sz="1200" dirty="0" err="1" smtClean="0"/>
              <a:t>message_value</a:t>
            </a:r>
            <a:r>
              <a:rPr lang="en-US" altLang="ko-KR" sz="1200" dirty="0" smtClean="0"/>
              <a:t>}”</a:t>
            </a:r>
          </a:p>
          <a:p>
            <a:r>
              <a:rPr lang="ko-KR" altLang="en-US" sz="1200" dirty="0" smtClean="0"/>
              <a:t>메시지 구독 </a:t>
            </a: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zread</a:t>
            </a:r>
            <a:r>
              <a:rPr lang="en-US" altLang="ko-KR" sz="1200" dirty="0" smtClean="0"/>
              <a:t> block {</a:t>
            </a:r>
            <a:r>
              <a:rPr lang="ko-KR" altLang="en-US" sz="1200" dirty="0" smtClean="0"/>
              <a:t>시간</a:t>
            </a:r>
            <a:r>
              <a:rPr lang="en-US" altLang="ko-KR" sz="1200" dirty="0" err="1" smtClean="0"/>
              <a:t>ms</a:t>
            </a:r>
            <a:r>
              <a:rPr lang="en-US" altLang="ko-KR" sz="1200" dirty="0" smtClean="0"/>
              <a:t>} streams {</a:t>
            </a:r>
            <a:r>
              <a:rPr lang="en-US" altLang="ko-KR" sz="1200" dirty="0" err="1" smtClean="0"/>
              <a:t>channel_name</a:t>
            </a:r>
            <a:r>
              <a:rPr lang="en-US" altLang="ko-KR" sz="1200" dirty="0" smtClean="0"/>
              <a:t>} $</a:t>
            </a:r>
          </a:p>
          <a:p>
            <a:r>
              <a:rPr lang="ko-KR" altLang="en-US" sz="1200" dirty="0" smtClean="0"/>
              <a:t>메시지 전체 확인 </a:t>
            </a: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xrange</a:t>
            </a:r>
            <a:r>
              <a:rPr lang="en-US" altLang="ko-KR" sz="1200" dirty="0" smtClean="0"/>
              <a:t> {</a:t>
            </a:r>
            <a:r>
              <a:rPr lang="en-US" altLang="ko-KR" sz="1200" dirty="0" err="1" smtClean="0"/>
              <a:t>channel_name</a:t>
            </a:r>
            <a:r>
              <a:rPr lang="en-US" altLang="ko-KR" sz="1200" dirty="0" smtClean="0"/>
              <a:t>} - +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45" y="1270000"/>
            <a:ext cx="5172797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4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Spring Program </a:t>
            </a:r>
            <a:r>
              <a:rPr lang="ko-KR" altLang="en-US" dirty="0" smtClean="0"/>
              <a:t>에서의 </a:t>
            </a:r>
            <a:r>
              <a:rPr lang="en-US" altLang="ko-KR" dirty="0" smtClean="0"/>
              <a:t>Stream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98740" y="2018581"/>
            <a:ext cx="8557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Pub/Sub </a:t>
            </a:r>
            <a:r>
              <a:rPr lang="ko-KR" altLang="en-US" sz="1100" dirty="0" smtClean="0"/>
              <a:t>때와는 달리 </a:t>
            </a:r>
            <a:r>
              <a:rPr lang="en-US" altLang="ko-KR" sz="1100" dirty="0" err="1" smtClean="0"/>
              <a:t>Redis</a:t>
            </a:r>
            <a:r>
              <a:rPr lang="en-US" altLang="ko-KR" sz="1100" dirty="0" smtClean="0"/>
              <a:t> Stream </a:t>
            </a:r>
            <a:r>
              <a:rPr lang="ko-KR" altLang="en-US" sz="1100" dirty="0" smtClean="0"/>
              <a:t>은 </a:t>
            </a:r>
            <a:r>
              <a:rPr lang="en-US" altLang="ko-KR" sz="1100" dirty="0" err="1" smtClean="0"/>
              <a:t>Xread</a:t>
            </a:r>
            <a:r>
              <a:rPr lang="ko-KR" altLang="en-US" sz="1100" dirty="0" smtClean="0"/>
              <a:t>명령을 다시 수행해줘야 콘솔에서 </a:t>
            </a:r>
            <a:r>
              <a:rPr lang="en-US" altLang="ko-KR" sz="1100" dirty="0" smtClean="0"/>
              <a:t>message</a:t>
            </a:r>
            <a:r>
              <a:rPr lang="ko-KR" altLang="en-US" sz="1100" dirty="0" smtClean="0"/>
              <a:t>를 실시간으로 받을 수 있었다</a:t>
            </a:r>
            <a:r>
              <a:rPr lang="en-US" altLang="ko-KR" sz="1100" dirty="0" smtClean="0"/>
              <a:t>.</a:t>
            </a:r>
          </a:p>
          <a:p>
            <a:r>
              <a:rPr lang="ko-KR" altLang="en-US" sz="1100" dirty="0" smtClean="0"/>
              <a:t>결국은 메시지를 받을 때 다시 </a:t>
            </a:r>
            <a:r>
              <a:rPr lang="en-US" altLang="ko-KR" sz="1100" dirty="0" err="1" smtClean="0"/>
              <a:t>xread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명령을 </a:t>
            </a:r>
            <a:r>
              <a:rPr lang="ko-KR" altLang="en-US" sz="1100" dirty="0" err="1" smtClean="0"/>
              <a:t>실행해줘야한다는</a:t>
            </a:r>
            <a:r>
              <a:rPr lang="ko-KR" altLang="en-US" sz="1100" dirty="0" smtClean="0"/>
              <a:t> 얘기인데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이는 </a:t>
            </a:r>
            <a:r>
              <a:rPr lang="en-US" altLang="ko-KR" sz="1100" dirty="0" smtClean="0"/>
              <a:t>Spring</a:t>
            </a:r>
            <a:r>
              <a:rPr lang="ko-KR" altLang="en-US" sz="1100" dirty="0" smtClean="0"/>
              <a:t>의 </a:t>
            </a:r>
            <a:r>
              <a:rPr lang="en-US" altLang="ko-KR" sz="1100" dirty="0" err="1" smtClean="0"/>
              <a:t>Redis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라이브러리 내</a:t>
            </a:r>
            <a:r>
              <a:rPr lang="en-US" altLang="ko-KR" sz="1100" dirty="0" smtClean="0"/>
              <a:t>,</a:t>
            </a:r>
            <a:br>
              <a:rPr lang="en-US" altLang="ko-KR" sz="1100" dirty="0" smtClean="0"/>
            </a:br>
            <a:r>
              <a:rPr lang="en-US" altLang="ko-KR" sz="1100" dirty="0" err="1" smtClean="0"/>
              <a:t>StreamMessageListenerContainer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가 내부적으로 수행해준다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endParaRPr lang="en-US" altLang="ko-KR" sz="1100" dirty="0"/>
          </a:p>
          <a:p>
            <a:endParaRPr lang="ko-KR" altLang="en-US" sz="11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40" y="2723596"/>
            <a:ext cx="4195624" cy="36525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68" y="2723596"/>
            <a:ext cx="5909075" cy="25711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081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Stream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쓸빠에야</a:t>
            </a:r>
            <a:r>
              <a:rPr lang="en-US" altLang="ko-KR" dirty="0" smtClean="0"/>
              <a:t>.. Kafka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69942"/>
            <a:ext cx="3144168" cy="14036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99140" y="1469942"/>
            <a:ext cx="537486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 </a:t>
            </a:r>
            <a:r>
              <a:rPr lang="en-US" altLang="ko-KR" sz="1100" dirty="0" smtClean="0"/>
              <a:t>※ Kafka </a:t>
            </a:r>
            <a:r>
              <a:rPr lang="ko-KR" altLang="en-US" sz="1100" dirty="0" smtClean="0"/>
              <a:t>프로그램 내 </a:t>
            </a:r>
            <a:r>
              <a:rPr lang="en-US" altLang="ko-KR" sz="1100" dirty="0" err="1" smtClean="0"/>
              <a:t>Redis</a:t>
            </a:r>
            <a:r>
              <a:rPr lang="ko-KR" altLang="en-US" sz="1100" dirty="0" smtClean="0"/>
              <a:t>의 </a:t>
            </a:r>
            <a:r>
              <a:rPr lang="en-US" altLang="ko-KR" sz="1100" dirty="0" smtClean="0"/>
              <a:t>Stream </a:t>
            </a:r>
            <a:r>
              <a:rPr lang="ko-KR" altLang="en-US" sz="1100" dirty="0" smtClean="0"/>
              <a:t>구조와 비슷하게 지원하는 자료구조가 있다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r>
              <a:rPr lang="en-US" altLang="ko-KR" sz="1100" dirty="0" smtClean="0"/>
              <a:t> </a:t>
            </a:r>
            <a:r>
              <a:rPr lang="ko-KR" altLang="en-US" sz="1100" dirty="0" smtClean="0"/>
              <a:t>★ </a:t>
            </a:r>
            <a:r>
              <a:rPr lang="en-US" altLang="ko-KR" sz="1100" dirty="0" err="1" smtClean="0"/>
              <a:t>KafKa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를 선호하는 이유 </a:t>
            </a:r>
            <a:r>
              <a:rPr lang="en-US" altLang="ko-KR" sz="1100" dirty="0" smtClean="0">
                <a:sym typeface="Wingdings" panose="05000000000000000000" pitchFamily="2" charset="2"/>
              </a:rPr>
              <a:t> </a:t>
            </a:r>
            <a:r>
              <a:rPr lang="en-US" altLang="ko-KR" sz="1100" dirty="0" err="1" smtClean="0">
                <a:sym typeface="Wingdings" panose="05000000000000000000" pitchFamily="2" charset="2"/>
              </a:rPr>
              <a:t>Redis</a:t>
            </a:r>
            <a:r>
              <a:rPr lang="ko-KR" altLang="en-US" sz="1100" dirty="0" smtClean="0">
                <a:sym typeface="Wingdings" panose="05000000000000000000" pitchFamily="2" charset="2"/>
              </a:rPr>
              <a:t>는 아무리 주기적인 저장을 지원한다지만</a:t>
            </a:r>
            <a:r>
              <a:rPr lang="en-US" altLang="ko-KR" sz="1100" dirty="0" smtClean="0">
                <a:sym typeface="Wingdings" panose="05000000000000000000" pitchFamily="2" charset="2"/>
              </a:rPr>
              <a:t>. </a:t>
            </a:r>
            <a:r>
              <a:rPr lang="ko-KR" altLang="en-US" sz="1100" dirty="0" smtClean="0">
                <a:sym typeface="Wingdings" panose="05000000000000000000" pitchFamily="2" charset="2"/>
              </a:rPr>
              <a:t>결국 휘발성 메모리이며 이는 안정성을 보장하지 않는다</a:t>
            </a:r>
            <a:r>
              <a:rPr lang="en-US" altLang="ko-KR" sz="1100" dirty="0" smtClean="0">
                <a:sym typeface="Wingdings" panose="05000000000000000000" pitchFamily="2" charset="2"/>
              </a:rPr>
              <a:t>.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r>
              <a:rPr lang="en-US" altLang="ko-KR" sz="1100" dirty="0"/>
              <a:t/>
            </a:r>
            <a:br>
              <a:rPr lang="en-US" altLang="ko-KR" sz="1100" dirty="0"/>
            </a:br>
            <a:r>
              <a:rPr lang="ko-KR" altLang="en-US" sz="1100" dirty="0" smtClean="0"/>
              <a:t>요약 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데이터가 안정적으로 저장되고 유실되지 않게 하기 위해 </a:t>
            </a:r>
            <a:r>
              <a:rPr lang="en-US" altLang="ko-KR" sz="1100" dirty="0" smtClean="0"/>
              <a:t>Kafka</a:t>
            </a:r>
            <a:r>
              <a:rPr lang="ko-KR" altLang="en-US" sz="1100" dirty="0" smtClean="0"/>
              <a:t>를 사용하며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          </a:t>
            </a:r>
            <a:r>
              <a:rPr lang="ko-KR" altLang="en-US" sz="1100" dirty="0" smtClean="0"/>
              <a:t>다양한 기능을 제공한다</a:t>
            </a:r>
            <a:r>
              <a:rPr lang="en-US" altLang="ko-KR" sz="1100" dirty="0" smtClean="0"/>
              <a:t>.</a:t>
            </a:r>
            <a:br>
              <a:rPr lang="en-US" altLang="ko-KR" sz="1100" dirty="0" smtClean="0"/>
            </a:b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6819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3548" y="258482"/>
            <a:ext cx="8596668" cy="1320800"/>
          </a:xfrm>
        </p:spPr>
        <p:txBody>
          <a:bodyPr/>
          <a:lstStyle/>
          <a:p>
            <a:r>
              <a:rPr lang="ko-KR" altLang="en-US" dirty="0" smtClean="0"/>
              <a:t>아키텍처의 이해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59125" y="1311215"/>
            <a:ext cx="368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msa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아키텍처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08620" y="1208813"/>
            <a:ext cx="368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</a:t>
            </a:r>
            <a:r>
              <a:rPr lang="en-US" altLang="ko-KR" dirty="0" smtClean="0"/>
              <a:t>onolithic</a:t>
            </a:r>
            <a:r>
              <a:rPr lang="ko-KR" altLang="en-US" dirty="0" smtClean="0"/>
              <a:t>아키텍처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08620" y="1769217"/>
            <a:ext cx="2540033" cy="2225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250510" y="1907553"/>
            <a:ext cx="1061049" cy="8540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회원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449582" y="1909157"/>
            <a:ext cx="1061049" cy="85401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상품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889310" y="2909821"/>
            <a:ext cx="1061049" cy="8540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주문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825277" y="2946153"/>
            <a:ext cx="1292078" cy="1081823"/>
            <a:chOff x="950790" y="1930400"/>
            <a:chExt cx="1292078" cy="1081823"/>
          </a:xfrm>
        </p:grpSpPr>
        <p:sp>
          <p:nvSpPr>
            <p:cNvPr id="10" name="직사각형 9"/>
            <p:cNvSpPr/>
            <p:nvPr/>
          </p:nvSpPr>
          <p:spPr>
            <a:xfrm>
              <a:off x="950790" y="1930400"/>
              <a:ext cx="1292078" cy="1081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073072" y="2044304"/>
              <a:ext cx="1047513" cy="854015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회원</a:t>
              </a:r>
              <a:endParaRPr lang="ko-KR" altLang="en-US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698373" y="2955271"/>
            <a:ext cx="1292078" cy="1081823"/>
            <a:chOff x="3632946" y="1954830"/>
            <a:chExt cx="1292078" cy="1081823"/>
          </a:xfrm>
        </p:grpSpPr>
        <p:sp>
          <p:nvSpPr>
            <p:cNvPr id="14" name="직사각형 13"/>
            <p:cNvSpPr/>
            <p:nvPr/>
          </p:nvSpPr>
          <p:spPr>
            <a:xfrm>
              <a:off x="3632946" y="1954830"/>
              <a:ext cx="1292078" cy="1081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748461" y="2068735"/>
              <a:ext cx="1061049" cy="85401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상품</a:t>
              </a:r>
              <a:endParaRPr lang="ko-KR" altLang="en-US" dirty="0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198101" y="2984361"/>
            <a:ext cx="1292078" cy="1081823"/>
            <a:chOff x="2754205" y="4833030"/>
            <a:chExt cx="1292078" cy="1081823"/>
          </a:xfrm>
        </p:grpSpPr>
        <p:sp>
          <p:nvSpPr>
            <p:cNvPr id="17" name="직사각형 16"/>
            <p:cNvSpPr/>
            <p:nvPr/>
          </p:nvSpPr>
          <p:spPr>
            <a:xfrm>
              <a:off x="2754205" y="4833030"/>
              <a:ext cx="1292078" cy="1081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69720" y="4946935"/>
              <a:ext cx="1061049" cy="85401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주문</a:t>
              </a:r>
              <a:endParaRPr lang="ko-KR" altLang="en-US" dirty="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37028" y="6128137"/>
            <a:ext cx="6404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MSA : </a:t>
            </a:r>
            <a:r>
              <a:rPr lang="ko-KR" altLang="en-US" sz="1200" dirty="0" smtClean="0"/>
              <a:t>각 </a:t>
            </a:r>
            <a:r>
              <a:rPr lang="ko-KR" altLang="en-US" sz="1200" dirty="0" smtClean="0"/>
              <a:t>서비스 별로 서버를 구성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트래픽이</a:t>
            </a:r>
            <a:r>
              <a:rPr lang="ko-KR" altLang="en-US" sz="1200" dirty="0" smtClean="0"/>
              <a:t> 몰려 한쪽 서비스가 죽더라도 담당 서비스의 서버만 동작이 멈춤으로 다른 서비스는 문제 없음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7108620" y="4218368"/>
            <a:ext cx="3864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트래픽이</a:t>
            </a:r>
            <a:r>
              <a:rPr lang="ko-KR" altLang="en-US" sz="1200" dirty="0" smtClean="0"/>
              <a:t> 몰리면 서버가 죽어버림으로 모든 서비스가 다운되어버린다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3143250" y="1387456"/>
            <a:ext cx="595993" cy="813992"/>
            <a:chOff x="3004457" y="1578144"/>
            <a:chExt cx="595993" cy="813992"/>
          </a:xfrm>
        </p:grpSpPr>
        <p:sp>
          <p:nvSpPr>
            <p:cNvPr id="8" name="타원 7"/>
            <p:cNvSpPr/>
            <p:nvPr/>
          </p:nvSpPr>
          <p:spPr>
            <a:xfrm>
              <a:off x="3151414" y="1578144"/>
              <a:ext cx="261257" cy="2163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004457" y="1794451"/>
              <a:ext cx="595993" cy="5976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5" name="직선 화살표 연결선 24"/>
          <p:cNvCxnSpPr>
            <a:stCxn id="19" idx="3"/>
            <a:endCxn id="17" idx="0"/>
          </p:cNvCxnSpPr>
          <p:nvPr/>
        </p:nvCxnSpPr>
        <p:spPr>
          <a:xfrm>
            <a:off x="3739243" y="1902606"/>
            <a:ext cx="2104897" cy="108175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01480" y="1948637"/>
            <a:ext cx="1436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수많은 </a:t>
            </a:r>
            <a:r>
              <a:rPr lang="ko-KR" altLang="en-US" sz="1200" dirty="0" err="1" smtClean="0"/>
              <a:t>트래픽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주문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 요청</a:t>
            </a:r>
            <a:endParaRPr lang="ko-KR" altLang="en-US" sz="1200" dirty="0"/>
          </a:p>
        </p:txBody>
      </p:sp>
      <p:cxnSp>
        <p:nvCxnSpPr>
          <p:cNvPr id="29" name="직선 화살표 연결선 28"/>
          <p:cNvCxnSpPr/>
          <p:nvPr/>
        </p:nvCxnSpPr>
        <p:spPr>
          <a:xfrm flipH="1" flipV="1">
            <a:off x="3990451" y="3265714"/>
            <a:ext cx="1207650" cy="975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27700" y="3275467"/>
            <a:ext cx="1436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0070C0"/>
                </a:solidFill>
              </a:rPr>
              <a:t>주문 상품의 대한 조회</a:t>
            </a:r>
            <a:r>
              <a:rPr lang="en-US" altLang="ko-KR" sz="1200" dirty="0" smtClean="0">
                <a:solidFill>
                  <a:srgbClr val="0070C0"/>
                </a:solidFill>
              </a:rPr>
              <a:t>(</a:t>
            </a:r>
            <a:r>
              <a:rPr lang="ko-KR" altLang="en-US" sz="1200" dirty="0" smtClean="0">
                <a:solidFill>
                  <a:srgbClr val="0070C0"/>
                </a:solidFill>
              </a:rPr>
              <a:t>동기적</a:t>
            </a:r>
            <a:r>
              <a:rPr lang="en-US" altLang="ko-KR" sz="1200" dirty="0" smtClean="0">
                <a:solidFill>
                  <a:srgbClr val="0070C0"/>
                </a:solidFill>
              </a:rPr>
              <a:t>)</a:t>
            </a:r>
            <a:endParaRPr lang="ko-KR" altLang="en-US" sz="1200" dirty="0">
              <a:solidFill>
                <a:srgbClr val="0070C0"/>
              </a:solidFill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V="1">
            <a:off x="3983439" y="3763836"/>
            <a:ext cx="1214662" cy="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flipH="1">
            <a:off x="3990451" y="3994832"/>
            <a:ext cx="1207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2661885" y="4888168"/>
            <a:ext cx="1359277" cy="432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cxnSp>
        <p:nvCxnSpPr>
          <p:cNvPr id="46" name="직선 화살표 연결선 45"/>
          <p:cNvCxnSpPr>
            <a:stCxn id="14" idx="2"/>
            <a:endCxn id="45" idx="0"/>
          </p:cNvCxnSpPr>
          <p:nvPr/>
        </p:nvCxnSpPr>
        <p:spPr>
          <a:xfrm flipH="1">
            <a:off x="3341524" y="4037094"/>
            <a:ext cx="2888" cy="8510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/>
          <p:cNvGrpSpPr/>
          <p:nvPr/>
        </p:nvGrpSpPr>
        <p:grpSpPr>
          <a:xfrm>
            <a:off x="4493378" y="3902806"/>
            <a:ext cx="200921" cy="184051"/>
            <a:chOff x="4590770" y="4596493"/>
            <a:chExt cx="200921" cy="184051"/>
          </a:xfrm>
        </p:grpSpPr>
        <p:cxnSp>
          <p:nvCxnSpPr>
            <p:cNvPr id="51" name="직선 연결선 50"/>
            <p:cNvCxnSpPr/>
            <p:nvPr/>
          </p:nvCxnSpPr>
          <p:spPr>
            <a:xfrm>
              <a:off x="4590770" y="4596493"/>
              <a:ext cx="200921" cy="1840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 flipV="1">
              <a:off x="4590770" y="4596494"/>
              <a:ext cx="200921" cy="1840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/>
          <p:cNvGrpSpPr/>
          <p:nvPr/>
        </p:nvGrpSpPr>
        <p:grpSpPr>
          <a:xfrm>
            <a:off x="3255909" y="4349475"/>
            <a:ext cx="200921" cy="184051"/>
            <a:chOff x="4590770" y="4596493"/>
            <a:chExt cx="200921" cy="184051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4590770" y="4596493"/>
              <a:ext cx="200921" cy="1840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flipV="1">
              <a:off x="4590770" y="4596494"/>
              <a:ext cx="200921" cy="1840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/>
          <p:cNvSpPr txBox="1"/>
          <p:nvPr/>
        </p:nvSpPr>
        <p:spPr>
          <a:xfrm>
            <a:off x="3500631" y="4075937"/>
            <a:ext cx="2343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주문 완료에 의한 재고 차감 요청</a:t>
            </a:r>
            <a:r>
              <a:rPr lang="en-US" altLang="ko-KR" sz="1200" dirty="0" smtClean="0">
                <a:solidFill>
                  <a:srgbClr val="FF0000"/>
                </a:solidFill>
              </a:rPr>
              <a:t/>
            </a:r>
            <a:br>
              <a:rPr lang="en-US" altLang="ko-KR" sz="1200" dirty="0" smtClean="0">
                <a:solidFill>
                  <a:srgbClr val="FF0000"/>
                </a:solidFill>
              </a:rPr>
            </a:br>
            <a:r>
              <a:rPr lang="en-US" altLang="ko-KR" sz="1200" dirty="0" smtClean="0">
                <a:solidFill>
                  <a:srgbClr val="FF0000"/>
                </a:solidFill>
              </a:rPr>
              <a:t>(</a:t>
            </a:r>
            <a:r>
              <a:rPr lang="ko-KR" altLang="en-US" sz="1200" dirty="0" smtClean="0">
                <a:solidFill>
                  <a:srgbClr val="FF0000"/>
                </a:solidFill>
              </a:rPr>
              <a:t>동기적으로 처리할 필요가 없음</a:t>
            </a:r>
            <a:r>
              <a:rPr lang="en-US" altLang="ko-KR" sz="1200" dirty="0" smtClean="0">
                <a:solidFill>
                  <a:srgbClr val="FF0000"/>
                </a:solidFill>
              </a:rPr>
              <a:t>) </a:t>
            </a:r>
            <a:r>
              <a:rPr lang="en-US" altLang="ko-KR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비동기적 처리 유용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63" name="직선 화살표 연결선 62"/>
          <p:cNvCxnSpPr>
            <a:stCxn id="17" idx="2"/>
          </p:cNvCxnSpPr>
          <p:nvPr/>
        </p:nvCxnSpPr>
        <p:spPr>
          <a:xfrm>
            <a:off x="5844140" y="4066184"/>
            <a:ext cx="0" cy="10609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5060368" y="5136924"/>
            <a:ext cx="1634346" cy="6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redis</a:t>
            </a:r>
            <a:r>
              <a:rPr lang="en-US" altLang="ko-KR" sz="1200" dirty="0" smtClean="0"/>
              <a:t> - stream</a:t>
            </a:r>
            <a:br>
              <a:rPr lang="en-US" altLang="ko-KR" sz="1200" dirty="0" smtClean="0"/>
            </a:br>
            <a:r>
              <a:rPr lang="en-US" altLang="ko-KR" sz="1200" dirty="0" smtClean="0"/>
              <a:t>or</a:t>
            </a:r>
            <a:br>
              <a:rPr lang="en-US" altLang="ko-KR" sz="1200" dirty="0" smtClean="0"/>
            </a:br>
            <a:r>
              <a:rPr lang="en-US" altLang="ko-KR" sz="1200" dirty="0" err="1" smtClean="0"/>
              <a:t>kafka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주로사용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65" name="직선 화살표 연결선 64"/>
          <p:cNvCxnSpPr/>
          <p:nvPr/>
        </p:nvCxnSpPr>
        <p:spPr>
          <a:xfrm flipH="1" flipV="1">
            <a:off x="3998112" y="5228492"/>
            <a:ext cx="1039206" cy="3744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02627" y="4329432"/>
            <a:ext cx="117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00B050"/>
                </a:solidFill>
              </a:rPr>
              <a:t>재고 차감 메시지 전송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866547" y="5535677"/>
            <a:ext cx="2233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00B050"/>
                </a:solidFill>
              </a:rPr>
              <a:t>재고 차감 메시지 발행</a:t>
            </a:r>
            <a:r>
              <a:rPr lang="en-US" altLang="ko-KR" sz="1200" dirty="0" smtClean="0">
                <a:solidFill>
                  <a:srgbClr val="00B050"/>
                </a:solidFill>
              </a:rPr>
              <a:t/>
            </a:r>
            <a:br>
              <a:rPr lang="en-US" altLang="ko-KR" sz="1200" dirty="0" smtClean="0">
                <a:solidFill>
                  <a:srgbClr val="00B050"/>
                </a:solidFill>
              </a:rPr>
            </a:br>
            <a:r>
              <a:rPr lang="en-US" altLang="ko-KR" sz="1200" dirty="0" smtClean="0">
                <a:solidFill>
                  <a:srgbClr val="00B050"/>
                </a:solidFill>
              </a:rPr>
              <a:t>(</a:t>
            </a:r>
            <a:r>
              <a:rPr lang="ko-KR" altLang="en-US" sz="1200" dirty="0" err="1" smtClean="0">
                <a:solidFill>
                  <a:srgbClr val="00B050"/>
                </a:solidFill>
              </a:rPr>
              <a:t>비동기</a:t>
            </a:r>
            <a:r>
              <a:rPr lang="en-US" altLang="ko-KR" sz="1200" dirty="0">
                <a:solidFill>
                  <a:srgbClr val="00B050"/>
                </a:solidFill>
              </a:rPr>
              <a:t>)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cxnSp>
        <p:nvCxnSpPr>
          <p:cNvPr id="71" name="직선 화살표 연결선 70"/>
          <p:cNvCxnSpPr>
            <a:stCxn id="45" idx="3"/>
            <a:endCxn id="64" idx="1"/>
          </p:cNvCxnSpPr>
          <p:nvPr/>
        </p:nvCxnSpPr>
        <p:spPr>
          <a:xfrm>
            <a:off x="4021162" y="5104544"/>
            <a:ext cx="1039206" cy="3744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312313" y="4958161"/>
            <a:ext cx="689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00B050"/>
                </a:solidFill>
              </a:rPr>
              <a:t>polling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167298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229</TotalTime>
  <Words>294</Words>
  <Application>Microsoft Office PowerPoint</Application>
  <PresentationFormat>와이드스크린</PresentationFormat>
  <Paragraphs>44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Redis Stream</vt:lpstr>
      <vt:lpstr>Stream과 Pub/Sub 비교-1. [Pub/Sub]</vt:lpstr>
      <vt:lpstr>Stream과 Pub/Sub 비교-2. [Stream]</vt:lpstr>
      <vt:lpstr>Stream 문법 이해</vt:lpstr>
      <vt:lpstr>Spring Program 에서의 Stream</vt:lpstr>
      <vt:lpstr>Redis의 Stream을 쓸빠에야.. Kafka</vt:lpstr>
      <vt:lpstr>아키텍처의 이해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Stream</dc:title>
  <dc:creator>hb k</dc:creator>
  <cp:lastModifiedBy>khb</cp:lastModifiedBy>
  <cp:revision>24</cp:revision>
  <dcterms:created xsi:type="dcterms:W3CDTF">2026-02-04T04:11:34Z</dcterms:created>
  <dcterms:modified xsi:type="dcterms:W3CDTF">2026-02-04T14:17:29Z</dcterms:modified>
</cp:coreProperties>
</file>