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1903AFE-3B81-4337-9344-1C7B9CE9A9E1}">
          <p14:sldIdLst>
            <p14:sldId id="258"/>
            <p14:sldId id="257"/>
          </p14:sldIdLst>
        </p14:section>
        <p14:section name="EC2 인스턴스 구성" id="{4228D232-A373-42BB-A4CA-B9F29B091DE8}">
          <p14:sldIdLst>
            <p14:sldId id="259"/>
            <p14:sldId id="260"/>
          </p14:sldIdLst>
        </p14:section>
        <p14:section name="RDS 서버 생성" id="{83950E1A-AD35-482C-ACE8-EFC202B01335}">
          <p14:sldIdLst>
            <p14:sldId id="261"/>
            <p14:sldId id="262"/>
            <p14:sldId id="263"/>
          </p14:sldIdLst>
        </p14:section>
        <p14:section name="EC2 SSH 애플리케이션 셋팅" id="{B0203FBD-F86A-4DF2-B1AD-971E9CD298BC}">
          <p14:sldIdLst>
            <p14:sldId id="264"/>
            <p14:sldId id="265"/>
            <p14:sldId id="266"/>
            <p14:sldId id="267"/>
            <p14:sldId id="268"/>
          </p14:sldIdLst>
        </p14:section>
        <p14:section name="AWS 캐시 성능 확인" id="{C9EECA54-C451-47D4-A6D8-9DDDACBFD6D5}">
          <p14:sldIdLst>
            <p14:sldId id="269"/>
            <p14:sldId id="270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DB9B4-2DA4-4091-817B-4623C1B2A08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1CA9E-58C4-47AC-9C05-E60B937821B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71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DB9B4-2DA4-4091-817B-4623C1B2A08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1CA9E-58C4-47AC-9C05-E60B937821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566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DB9B4-2DA4-4091-817B-4623C1B2A08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1CA9E-58C4-47AC-9C05-E60B937821B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289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DB9B4-2DA4-4091-817B-4623C1B2A08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1CA9E-58C4-47AC-9C05-E60B937821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32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DB9B4-2DA4-4091-817B-4623C1B2A08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1CA9E-58C4-47AC-9C05-E60B937821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652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DB9B4-2DA4-4091-817B-4623C1B2A08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1CA9E-58C4-47AC-9C05-E60B937821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683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DB9B4-2DA4-4091-817B-4623C1B2A08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1CA9E-58C4-47AC-9C05-E60B937821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513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37DB9B4-2DA4-4091-817B-4623C1B2A08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B1CA9E-58C4-47AC-9C05-E60B937821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9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DB9B4-2DA4-4091-817B-4623C1B2A08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1CA9E-58C4-47AC-9C05-E60B937821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721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DB9B4-2DA4-4091-817B-4623C1B2A08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1CA9E-58C4-47AC-9C05-E60B937821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553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DB9B4-2DA4-4091-817B-4623C1B2A08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1CA9E-58C4-47AC-9C05-E60B937821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69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37DB9B4-2DA4-4091-817B-4623C1B2A08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EB1CA9E-58C4-47AC-9C05-E60B937821B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850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0D2BFB-16D9-80F4-0E62-1E5FF6025F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AWS Redis </a:t>
            </a:r>
            <a:r>
              <a:rPr lang="ko-KR" altLang="en-US"/>
              <a:t>구성하기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A5ABE3-9766-8C40-85EF-DA15A8CDD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272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3C8D5-3666-CAF5-4DF6-F5C43DD2A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AWS</a:t>
            </a:r>
            <a:r>
              <a:rPr lang="ko-KR" altLang="en-US"/>
              <a:t> 아키텍쳐 구성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9E39AF-A8AA-B3DB-5CE6-D35C705AD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644" y="1981159"/>
            <a:ext cx="8964276" cy="47060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021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B3618-9120-BB97-DC0E-BCADC298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EC2 </a:t>
            </a:r>
            <a:r>
              <a:rPr lang="ko-KR" altLang="en-US"/>
              <a:t>서버 생성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0FE1576-4CFA-0804-9113-140CE9D85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143" y="4166645"/>
            <a:ext cx="5280440" cy="81623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AD59AA2-B6BF-7FE2-4885-4BB6D5A629CB}"/>
              </a:ext>
            </a:extLst>
          </p:cNvPr>
          <p:cNvGrpSpPr/>
          <p:nvPr/>
        </p:nvGrpSpPr>
        <p:grpSpPr>
          <a:xfrm>
            <a:off x="515389" y="1884964"/>
            <a:ext cx="10839076" cy="4336971"/>
            <a:chOff x="515389" y="1884964"/>
            <a:chExt cx="10839076" cy="433697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1B52335-856C-42AE-DAE2-8A8B12121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5389" y="3147328"/>
              <a:ext cx="1848108" cy="101931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65ED499-B271-9764-F8F4-EE0D1B5C5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02547" y="3128188"/>
              <a:ext cx="4202546" cy="309374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CDB4E8E1-B383-6246-1101-3A232837B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44144" y="3147328"/>
              <a:ext cx="4510321" cy="94333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04A5530-5D8F-9825-B41E-BCAD2638E780}"/>
                </a:ext>
              </a:extLst>
            </p:cNvPr>
            <p:cNvGrpSpPr/>
            <p:nvPr/>
          </p:nvGrpSpPr>
          <p:grpSpPr>
            <a:xfrm>
              <a:off x="515389" y="1884964"/>
              <a:ext cx="5391264" cy="1114581"/>
              <a:chOff x="515389" y="1884964"/>
              <a:chExt cx="5391264" cy="1114581"/>
            </a:xfrm>
          </p:grpSpPr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7CF7B588-DA9C-4E93-E546-46E233D6800F}"/>
                  </a:ext>
                </a:extLst>
              </p:cNvPr>
              <p:cNvGrpSpPr/>
              <p:nvPr/>
            </p:nvGrpSpPr>
            <p:grpSpPr>
              <a:xfrm>
                <a:off x="515389" y="1884964"/>
                <a:ext cx="5145302" cy="1114581"/>
                <a:chOff x="515389" y="1884964"/>
                <a:chExt cx="5145302" cy="1114581"/>
              </a:xfrm>
            </p:grpSpPr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E8717A69-8829-926A-B5B7-1DFD81CD1569}"/>
                    </a:ext>
                  </a:extLst>
                </p:cNvPr>
                <p:cNvGrpSpPr/>
                <p:nvPr/>
              </p:nvGrpSpPr>
              <p:grpSpPr>
                <a:xfrm>
                  <a:off x="515389" y="1884964"/>
                  <a:ext cx="5145302" cy="1114581"/>
                  <a:chOff x="1097281" y="1850780"/>
                  <a:chExt cx="5145302" cy="1114581"/>
                </a:xfrm>
              </p:grpSpPr>
              <p:grpSp>
                <p:nvGrpSpPr>
                  <p:cNvPr id="6" name="그룹 5">
                    <a:extLst>
                      <a:ext uri="{FF2B5EF4-FFF2-40B4-BE49-F238E27FC236}">
                        <a16:creationId xmlns:a16="http://schemas.microsoft.com/office/drawing/2014/main" id="{EF3E39B7-A50A-9EE8-D4F9-3C53F80C0F6F}"/>
                      </a:ext>
                    </a:extLst>
                  </p:cNvPr>
                  <p:cNvGrpSpPr/>
                  <p:nvPr/>
                </p:nvGrpSpPr>
                <p:grpSpPr>
                  <a:xfrm>
                    <a:off x="1097281" y="1850780"/>
                    <a:ext cx="3149000" cy="1095620"/>
                    <a:chOff x="1097281" y="1850780"/>
                    <a:chExt cx="3149000" cy="1095620"/>
                  </a:xfrm>
                </p:grpSpPr>
                <p:pic>
                  <p:nvPicPr>
                    <p:cNvPr id="4" name="그림 3">
                      <a:extLst>
                        <a:ext uri="{FF2B5EF4-FFF2-40B4-BE49-F238E27FC236}">
                          <a16:creationId xmlns:a16="http://schemas.microsoft.com/office/drawing/2014/main" id="{D99D7555-0498-3D33-97AC-1FC590843E1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097281" y="1850780"/>
                      <a:ext cx="3149000" cy="109562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" name="직사각형 4">
                      <a:extLst>
                        <a:ext uri="{FF2B5EF4-FFF2-40B4-BE49-F238E27FC236}">
                          <a16:creationId xmlns:a16="http://schemas.microsoft.com/office/drawing/2014/main" id="{7C78A3BC-5B99-B407-5FF6-4D893CD8F7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61673" y="2466109"/>
                      <a:ext cx="1484608" cy="480291"/>
                    </a:xfrm>
                    <a:prstGeom prst="rect">
                      <a:avLst/>
                    </a:prstGeom>
                    <a:noFill/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pic>
                <p:nvPicPr>
                  <p:cNvPr id="8" name="그림 7">
                    <a:extLst>
                      <a:ext uri="{FF2B5EF4-FFF2-40B4-BE49-F238E27FC236}">
                        <a16:creationId xmlns:a16="http://schemas.microsoft.com/office/drawing/2014/main" id="{43D266F8-E8BD-7EBE-016B-6987163E9C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4804107" y="1850780"/>
                    <a:ext cx="1438476" cy="1114581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sp>
                <p:nvSpPr>
                  <p:cNvPr id="9" name="직사각형 8">
                    <a:extLst>
                      <a:ext uri="{FF2B5EF4-FFF2-40B4-BE49-F238E27FC236}">
                        <a16:creationId xmlns:a16="http://schemas.microsoft.com/office/drawing/2014/main" id="{6DA551B3-3ACB-88F0-CF37-BEB98548C3F0}"/>
                      </a:ext>
                    </a:extLst>
                  </p:cNvPr>
                  <p:cNvSpPr/>
                  <p:nvPr/>
                </p:nvSpPr>
                <p:spPr>
                  <a:xfrm>
                    <a:off x="4895273" y="2207491"/>
                    <a:ext cx="1200727" cy="369454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11" name="직선 화살표 연결선 10">
                    <a:extLst>
                      <a:ext uri="{FF2B5EF4-FFF2-40B4-BE49-F238E27FC236}">
                        <a16:creationId xmlns:a16="http://schemas.microsoft.com/office/drawing/2014/main" id="{CCDDADB6-B721-3FE5-24F7-022597DBC847}"/>
                      </a:ext>
                    </a:extLst>
                  </p:cNvPr>
                  <p:cNvCxnSpPr>
                    <a:stCxn id="5" idx="3"/>
                    <a:endCxn id="9" idx="1"/>
                  </p:cNvCxnSpPr>
                  <p:nvPr/>
                </p:nvCxnSpPr>
                <p:spPr>
                  <a:xfrm flipV="1">
                    <a:off x="4246281" y="2392218"/>
                    <a:ext cx="648992" cy="314037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582E7DB-45EB-DEBD-05E1-122C614F209D}"/>
                    </a:ext>
                  </a:extLst>
                </p:cNvPr>
                <p:cNvSpPr/>
                <p:nvPr/>
              </p:nvSpPr>
              <p:spPr>
                <a:xfrm>
                  <a:off x="858982" y="2241675"/>
                  <a:ext cx="332509" cy="314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/>
                    <a:t>1</a:t>
                  </a:r>
                  <a:endParaRPr lang="ko-KR" altLang="en-US"/>
                </a:p>
              </p:txBody>
            </p:sp>
          </p:grp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8493F118-4F99-E769-1E50-8311938BF88B}"/>
                  </a:ext>
                </a:extLst>
              </p:cNvPr>
              <p:cNvSpPr/>
              <p:nvPr/>
            </p:nvSpPr>
            <p:spPr>
              <a:xfrm>
                <a:off x="5574144" y="1884964"/>
                <a:ext cx="332509" cy="31403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2</a:t>
                </a:r>
                <a:endParaRPr lang="ko-KR" altLang="en-US"/>
              </a:p>
            </p:txBody>
          </p:sp>
        </p:grp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0FAAF20-94F8-B922-A81C-92CC3B46C6E8}"/>
                </a:ext>
              </a:extLst>
            </p:cNvPr>
            <p:cNvSpPr/>
            <p:nvPr/>
          </p:nvSpPr>
          <p:spPr>
            <a:xfrm>
              <a:off x="2030987" y="3147328"/>
              <a:ext cx="332509" cy="3140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</a:t>
              </a:r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8529CC1-8896-E13F-54A4-0EDDCCF9CA00}"/>
                </a:ext>
              </a:extLst>
            </p:cNvPr>
            <p:cNvSpPr/>
            <p:nvPr/>
          </p:nvSpPr>
          <p:spPr>
            <a:xfrm>
              <a:off x="6372584" y="3147328"/>
              <a:ext cx="332509" cy="3140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4</a:t>
              </a:r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BFDAE3A-64AD-D452-D95C-C3335BD5247E}"/>
                </a:ext>
              </a:extLst>
            </p:cNvPr>
            <p:cNvSpPr/>
            <p:nvPr/>
          </p:nvSpPr>
          <p:spPr>
            <a:xfrm>
              <a:off x="11021956" y="3165187"/>
              <a:ext cx="332509" cy="3140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5</a:t>
              </a:r>
              <a:endParaRPr lang="ko-KR" altLang="en-US"/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8A229F3-C95C-75AD-1CF7-2FF1BF2ADDE2}"/>
              </a:ext>
            </a:extLst>
          </p:cNvPr>
          <p:cNvSpPr/>
          <p:nvPr/>
        </p:nvSpPr>
        <p:spPr>
          <a:xfrm>
            <a:off x="11792074" y="4166645"/>
            <a:ext cx="332509" cy="3140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6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598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98407-4A06-4C98-45FA-B4FC9084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EC2 </a:t>
            </a:r>
            <a:r>
              <a:rPr lang="ko-KR" altLang="en-US"/>
              <a:t>서버 생성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0A77FF1-E97E-19B9-8DE0-3E67C83F9B6F}"/>
              </a:ext>
            </a:extLst>
          </p:cNvPr>
          <p:cNvGrpSpPr/>
          <p:nvPr/>
        </p:nvGrpSpPr>
        <p:grpSpPr>
          <a:xfrm>
            <a:off x="268419" y="1954819"/>
            <a:ext cx="4312817" cy="2782933"/>
            <a:chOff x="268419" y="1954819"/>
            <a:chExt cx="4312817" cy="2782933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07BF166-48E6-B0AD-CD8B-628083AD938A}"/>
                </a:ext>
              </a:extLst>
            </p:cNvPr>
            <p:cNvGrpSpPr/>
            <p:nvPr/>
          </p:nvGrpSpPr>
          <p:grpSpPr>
            <a:xfrm>
              <a:off x="268419" y="1954819"/>
              <a:ext cx="4312817" cy="2782933"/>
              <a:chOff x="268419" y="1954819"/>
              <a:chExt cx="4312817" cy="2782933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062010E8-2132-01BA-508E-7EA837BE7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8419" y="1954819"/>
                <a:ext cx="4312817" cy="278293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0CADAF85-119E-F98D-72F9-66A9DE582227}"/>
                  </a:ext>
                </a:extLst>
              </p:cNvPr>
              <p:cNvSpPr/>
              <p:nvPr/>
            </p:nvSpPr>
            <p:spPr>
              <a:xfrm>
                <a:off x="341745" y="4064000"/>
                <a:ext cx="1570182" cy="28632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DF4B8F6-9685-0A60-D411-498ACC4EF582}"/>
                </a:ext>
              </a:extLst>
            </p:cNvPr>
            <p:cNvSpPr/>
            <p:nvPr/>
          </p:nvSpPr>
          <p:spPr>
            <a:xfrm>
              <a:off x="4100945" y="1968673"/>
              <a:ext cx="401782" cy="2665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457BC665-FAA5-458E-05EA-AD0018E78BDE}"/>
                </a:ext>
              </a:extLst>
            </p:cNvPr>
            <p:cNvCxnSpPr>
              <a:stCxn id="5" idx="3"/>
              <a:endCxn id="7" idx="2"/>
            </p:cNvCxnSpPr>
            <p:nvPr/>
          </p:nvCxnSpPr>
          <p:spPr>
            <a:xfrm flipV="1">
              <a:off x="1911927" y="2235200"/>
              <a:ext cx="2389909" cy="197196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E62BA44-315F-3620-99C7-8D78D5A7C71A}"/>
                </a:ext>
              </a:extLst>
            </p:cNvPr>
            <p:cNvSpPr/>
            <p:nvPr/>
          </p:nvSpPr>
          <p:spPr>
            <a:xfrm>
              <a:off x="2424827" y="2017741"/>
              <a:ext cx="332509" cy="3140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7</a:t>
              </a:r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D4865D-7973-AF88-66F6-930873297254}"/>
              </a:ext>
            </a:extLst>
          </p:cNvPr>
          <p:cNvGrpSpPr/>
          <p:nvPr/>
        </p:nvGrpSpPr>
        <p:grpSpPr>
          <a:xfrm>
            <a:off x="4814736" y="1954819"/>
            <a:ext cx="5360254" cy="2703285"/>
            <a:chOff x="4814736" y="1954819"/>
            <a:chExt cx="5360254" cy="2703285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C645B03-B1CE-FD37-C487-6BC7132BFE7A}"/>
                </a:ext>
              </a:extLst>
            </p:cNvPr>
            <p:cNvGrpSpPr/>
            <p:nvPr/>
          </p:nvGrpSpPr>
          <p:grpSpPr>
            <a:xfrm>
              <a:off x="4814736" y="1954819"/>
              <a:ext cx="5360254" cy="2703285"/>
              <a:chOff x="4814736" y="1954819"/>
              <a:chExt cx="5360254" cy="2703285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7B6E20D6-60E5-BA70-40CB-98FB48782FD5}"/>
                  </a:ext>
                </a:extLst>
              </p:cNvPr>
              <p:cNvGrpSpPr/>
              <p:nvPr/>
            </p:nvGrpSpPr>
            <p:grpSpPr>
              <a:xfrm>
                <a:off x="4814736" y="1954819"/>
                <a:ext cx="5360254" cy="2377430"/>
                <a:chOff x="4814736" y="1954819"/>
                <a:chExt cx="5360254" cy="2377430"/>
              </a:xfrm>
            </p:grpSpPr>
            <p:pic>
              <p:nvPicPr>
                <p:cNvPr id="14" name="그림 13">
                  <a:extLst>
                    <a:ext uri="{FF2B5EF4-FFF2-40B4-BE49-F238E27FC236}">
                      <a16:creationId xmlns:a16="http://schemas.microsoft.com/office/drawing/2014/main" id="{9003280C-E1BC-FCA3-7C07-3A6EDFF6CB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14736" y="1954819"/>
                  <a:ext cx="5360254" cy="2377430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F72491C5-E810-A0C8-81C1-C5BF07124B9C}"/>
                    </a:ext>
                  </a:extLst>
                </p:cNvPr>
                <p:cNvSpPr/>
                <p:nvPr/>
              </p:nvSpPr>
              <p:spPr>
                <a:xfrm>
                  <a:off x="4814736" y="3221182"/>
                  <a:ext cx="5360254" cy="1111067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2D3DFE-9324-FA6C-836E-09E88037AE94}"/>
                  </a:ext>
                </a:extLst>
              </p:cNvPr>
              <p:cNvSpPr txBox="1"/>
              <p:nvPr/>
            </p:nvSpPr>
            <p:spPr>
              <a:xfrm>
                <a:off x="4814736" y="4350327"/>
                <a:ext cx="36088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/>
                  <a:t>보완 그룹 규칙 추가</a:t>
                </a:r>
                <a:r>
                  <a:rPr lang="en-US" altLang="ko-KR" sz="1400"/>
                  <a:t>(</a:t>
                </a:r>
                <a:r>
                  <a:rPr lang="ko-KR" altLang="en-US" sz="1400"/>
                  <a:t>사용자 지정 </a:t>
                </a:r>
                <a:r>
                  <a:rPr lang="en-US" altLang="ko-KR" sz="1400"/>
                  <a:t>TCP)</a:t>
                </a:r>
                <a:endParaRPr lang="ko-KR" altLang="en-US" sz="1400"/>
              </a:p>
            </p:txBody>
          </p:sp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D633807-41BE-B8F8-1709-DFA01A95B368}"/>
                </a:ext>
              </a:extLst>
            </p:cNvPr>
            <p:cNvSpPr/>
            <p:nvPr/>
          </p:nvSpPr>
          <p:spPr>
            <a:xfrm>
              <a:off x="9208936" y="1975774"/>
              <a:ext cx="332509" cy="3140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8</a:t>
              </a:r>
              <a:endParaRPr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88698D9-236E-1031-D460-B142CCD17ADB}"/>
              </a:ext>
            </a:extLst>
          </p:cNvPr>
          <p:cNvGrpSpPr/>
          <p:nvPr/>
        </p:nvGrpSpPr>
        <p:grpSpPr>
          <a:xfrm>
            <a:off x="5906415" y="4746466"/>
            <a:ext cx="1778240" cy="428685"/>
            <a:chOff x="5961833" y="4737752"/>
            <a:chExt cx="1778240" cy="428685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3675BDD1-8D34-313A-0095-9959A9CF3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1833" y="4737752"/>
              <a:ext cx="1314633" cy="428685"/>
            </a:xfrm>
            <a:prstGeom prst="rect">
              <a:avLst/>
            </a:prstGeom>
          </p:spPr>
        </p:pic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C865EC1-5F1E-CFEA-465D-BD2ED2139294}"/>
                </a:ext>
              </a:extLst>
            </p:cNvPr>
            <p:cNvSpPr/>
            <p:nvPr/>
          </p:nvSpPr>
          <p:spPr>
            <a:xfrm>
              <a:off x="7276466" y="4809998"/>
              <a:ext cx="463607" cy="3140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10</a:t>
              </a:r>
              <a:endParaRPr lang="ko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2854CF5-135C-BE6B-51C5-27D5BAFB6FF9}"/>
              </a:ext>
            </a:extLst>
          </p:cNvPr>
          <p:cNvGrpSpPr/>
          <p:nvPr/>
        </p:nvGrpSpPr>
        <p:grpSpPr>
          <a:xfrm>
            <a:off x="268419" y="4809998"/>
            <a:ext cx="4419727" cy="1969493"/>
            <a:chOff x="268419" y="4809998"/>
            <a:chExt cx="4419727" cy="1969493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ECE23816-DDFE-A0E0-415C-64D1F211DFD3}"/>
                </a:ext>
              </a:extLst>
            </p:cNvPr>
            <p:cNvGrpSpPr/>
            <p:nvPr/>
          </p:nvGrpSpPr>
          <p:grpSpPr>
            <a:xfrm>
              <a:off x="268419" y="4809998"/>
              <a:ext cx="4419727" cy="1969493"/>
              <a:chOff x="268419" y="4809998"/>
              <a:chExt cx="4419727" cy="1969493"/>
            </a:xfrm>
          </p:grpSpPr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AB120FE2-5F15-4BFB-A34E-7612A3EA07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419" y="4809998"/>
                <a:ext cx="4419727" cy="196949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EC17F9E4-DF22-469A-1D47-F661F452FFBC}"/>
                  </a:ext>
                </a:extLst>
              </p:cNvPr>
              <p:cNvSpPr/>
              <p:nvPr/>
            </p:nvSpPr>
            <p:spPr>
              <a:xfrm>
                <a:off x="3768436" y="4861114"/>
                <a:ext cx="332509" cy="31403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9</a:t>
                </a:r>
                <a:endParaRPr lang="ko-KR" alt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A675A40-07B0-681F-3F32-94996FF27218}"/>
                </a:ext>
              </a:extLst>
            </p:cNvPr>
            <p:cNvSpPr txBox="1"/>
            <p:nvPr/>
          </p:nvSpPr>
          <p:spPr>
            <a:xfrm>
              <a:off x="1911927" y="5175151"/>
              <a:ext cx="14593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변경점 없음</a:t>
              </a: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CE2E272-3548-5121-2715-2452BACBB688}"/>
              </a:ext>
            </a:extLst>
          </p:cNvPr>
          <p:cNvSpPr/>
          <p:nvPr/>
        </p:nvSpPr>
        <p:spPr>
          <a:xfrm>
            <a:off x="8423564" y="3657600"/>
            <a:ext cx="785372" cy="23090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DD1F3FD-FCB1-C7FB-CBAD-1A21C132F3A6}"/>
              </a:ext>
            </a:extLst>
          </p:cNvPr>
          <p:cNvCxnSpPr/>
          <p:nvPr/>
        </p:nvCxnSpPr>
        <p:spPr>
          <a:xfrm>
            <a:off x="9208936" y="3749964"/>
            <a:ext cx="1459064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9F3606D-9095-6A65-4B23-0E23FDFC3E71}"/>
              </a:ext>
            </a:extLst>
          </p:cNvPr>
          <p:cNvSpPr txBox="1"/>
          <p:nvPr/>
        </p:nvSpPr>
        <p:spPr>
          <a:xfrm>
            <a:off x="10668000" y="3484418"/>
            <a:ext cx="1262792" cy="73866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/>
              <a:t>톰캣 기본</a:t>
            </a:r>
            <a:br>
              <a:rPr lang="en-US" altLang="ko-KR" sz="1400"/>
            </a:br>
            <a:r>
              <a:rPr lang="en-US" altLang="ko-KR" sz="1400"/>
              <a:t>8080</a:t>
            </a:r>
            <a:r>
              <a:rPr lang="ko-KR" altLang="en-US" sz="1400"/>
              <a:t>포트 수정</a:t>
            </a:r>
          </a:p>
        </p:txBody>
      </p:sp>
    </p:spTree>
    <p:extLst>
      <p:ext uri="{BB962C8B-B14F-4D97-AF65-F5344CB8AC3E}">
        <p14:creationId xmlns:p14="http://schemas.microsoft.com/office/powerpoint/2010/main" val="1685862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662AF-3AA9-9B47-BFBA-E9F37E24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RDS(DB)</a:t>
            </a:r>
            <a:r>
              <a:rPr lang="ko-KR" altLang="en-US"/>
              <a:t> 생성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09149D9-1407-85F7-E437-7BBF68F20D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6" r="1"/>
          <a:stretch>
            <a:fillRect/>
          </a:stretch>
        </p:blipFill>
        <p:spPr>
          <a:xfrm>
            <a:off x="2165927" y="5489934"/>
            <a:ext cx="1450109" cy="134035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21CC7F6E-222E-B7E9-3EAD-96CCC9C5504B}"/>
              </a:ext>
            </a:extLst>
          </p:cNvPr>
          <p:cNvGrpSpPr/>
          <p:nvPr/>
        </p:nvGrpSpPr>
        <p:grpSpPr>
          <a:xfrm>
            <a:off x="261882" y="1896961"/>
            <a:ext cx="11872293" cy="4827547"/>
            <a:chOff x="261882" y="1896961"/>
            <a:chExt cx="11872293" cy="482754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9948C04-EF6F-6100-E38F-18066F6DD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8544" y="1896962"/>
              <a:ext cx="6275631" cy="13599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ADCBECBC-F40F-D5C8-8CD6-DE4B4B0C741A}"/>
                </a:ext>
              </a:extLst>
            </p:cNvPr>
            <p:cNvGrpSpPr/>
            <p:nvPr/>
          </p:nvGrpSpPr>
          <p:grpSpPr>
            <a:xfrm>
              <a:off x="261882" y="1896962"/>
              <a:ext cx="11817857" cy="4827546"/>
              <a:chOff x="261882" y="1896962"/>
              <a:chExt cx="11817857" cy="4827546"/>
            </a:xfrm>
          </p:grpSpPr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8E2A86F3-6A33-492A-C266-32976B4445A7}"/>
                  </a:ext>
                </a:extLst>
              </p:cNvPr>
              <p:cNvGrpSpPr/>
              <p:nvPr/>
            </p:nvGrpSpPr>
            <p:grpSpPr>
              <a:xfrm>
                <a:off x="261882" y="1896962"/>
                <a:ext cx="11817857" cy="4827546"/>
                <a:chOff x="261882" y="1896962"/>
                <a:chExt cx="11817857" cy="4827546"/>
              </a:xfrm>
            </p:grpSpPr>
            <p:grpSp>
              <p:nvGrpSpPr>
                <p:cNvPr id="30" name="그룹 29">
                  <a:extLst>
                    <a:ext uri="{FF2B5EF4-FFF2-40B4-BE49-F238E27FC236}">
                      <a16:creationId xmlns:a16="http://schemas.microsoft.com/office/drawing/2014/main" id="{A00F9EB4-5934-1DD5-97E1-9172490DB16B}"/>
                    </a:ext>
                  </a:extLst>
                </p:cNvPr>
                <p:cNvGrpSpPr/>
                <p:nvPr/>
              </p:nvGrpSpPr>
              <p:grpSpPr>
                <a:xfrm>
                  <a:off x="261882" y="1896962"/>
                  <a:ext cx="11817857" cy="4827546"/>
                  <a:chOff x="261882" y="1896962"/>
                  <a:chExt cx="11817857" cy="4827546"/>
                </a:xfrm>
              </p:grpSpPr>
              <p:grpSp>
                <p:nvGrpSpPr>
                  <p:cNvPr id="6" name="그룹 5">
                    <a:extLst>
                      <a:ext uri="{FF2B5EF4-FFF2-40B4-BE49-F238E27FC236}">
                        <a16:creationId xmlns:a16="http://schemas.microsoft.com/office/drawing/2014/main" id="{9168C89A-4D4C-B18B-B599-9AA086570B6C}"/>
                      </a:ext>
                    </a:extLst>
                  </p:cNvPr>
                  <p:cNvGrpSpPr/>
                  <p:nvPr/>
                </p:nvGrpSpPr>
                <p:grpSpPr>
                  <a:xfrm>
                    <a:off x="261882" y="1896962"/>
                    <a:ext cx="3617392" cy="1052459"/>
                    <a:chOff x="261882" y="1896962"/>
                    <a:chExt cx="3617392" cy="1052459"/>
                  </a:xfrm>
                </p:grpSpPr>
                <p:pic>
                  <p:nvPicPr>
                    <p:cNvPr id="4" name="그림 3">
                      <a:extLst>
                        <a:ext uri="{FF2B5EF4-FFF2-40B4-BE49-F238E27FC236}">
                          <a16:creationId xmlns:a16="http://schemas.microsoft.com/office/drawing/2014/main" id="{C88606DE-2D0C-33FC-696A-A3C0F0028A3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261882" y="1896962"/>
                      <a:ext cx="3617392" cy="1052459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" name="직사각형 4">
                      <a:extLst>
                        <a:ext uri="{FF2B5EF4-FFF2-40B4-BE49-F238E27FC236}">
                          <a16:creationId xmlns:a16="http://schemas.microsoft.com/office/drawing/2014/main" id="{38DCC093-56C0-CEC3-E465-DB49464D50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2691" y="2466109"/>
                      <a:ext cx="1976583" cy="483312"/>
                    </a:xfrm>
                    <a:prstGeom prst="rect">
                      <a:avLst/>
                    </a:prstGeom>
                    <a:noFill/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pic>
                <p:nvPicPr>
                  <p:cNvPr id="8" name="그림 7">
                    <a:extLst>
                      <a:ext uri="{FF2B5EF4-FFF2-40B4-BE49-F238E27FC236}">
                        <a16:creationId xmlns:a16="http://schemas.microsoft.com/office/drawing/2014/main" id="{2B658681-9963-6B84-4001-264AB32363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4061718" y="1896962"/>
                    <a:ext cx="1667108" cy="1200318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pic>
                <p:nvPicPr>
                  <p:cNvPr id="12" name="그림 11">
                    <a:extLst>
                      <a:ext uri="{FF2B5EF4-FFF2-40B4-BE49-F238E27FC236}">
                        <a16:creationId xmlns:a16="http://schemas.microsoft.com/office/drawing/2014/main" id="{18C1DE30-8D6B-A5F9-FCD3-DDB5E04E14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78073" y="3341400"/>
                    <a:ext cx="11801666" cy="799732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pic>
                <p:nvPicPr>
                  <p:cNvPr id="14" name="그림 13">
                    <a:extLst>
                      <a:ext uri="{FF2B5EF4-FFF2-40B4-BE49-F238E27FC236}">
                        <a16:creationId xmlns:a16="http://schemas.microsoft.com/office/drawing/2014/main" id="{F7BE2425-4095-9B00-3CA2-D0C5559E67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261882" y="4262106"/>
                    <a:ext cx="11801666" cy="1143310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pic>
                <p:nvPicPr>
                  <p:cNvPr id="16" name="그림 15">
                    <a:extLst>
                      <a:ext uri="{FF2B5EF4-FFF2-40B4-BE49-F238E27FC236}">
                        <a16:creationId xmlns:a16="http://schemas.microsoft.com/office/drawing/2014/main" id="{6D6E000F-E87E-45FC-B6AD-D494295B36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61882" y="5562353"/>
                    <a:ext cx="1695687" cy="771633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pic>
                <p:nvPicPr>
                  <p:cNvPr id="20" name="그림 19">
                    <a:extLst>
                      <a:ext uri="{FF2B5EF4-FFF2-40B4-BE49-F238E27FC236}">
                        <a16:creationId xmlns:a16="http://schemas.microsoft.com/office/drawing/2014/main" id="{83C4D36D-94A0-096F-15B5-3ACC2E65B3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3798461" y="5489934"/>
                    <a:ext cx="3860729" cy="673964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pic>
                <p:nvPicPr>
                  <p:cNvPr id="22" name="그림 21">
                    <a:extLst>
                      <a:ext uri="{FF2B5EF4-FFF2-40B4-BE49-F238E27FC236}">
                        <a16:creationId xmlns:a16="http://schemas.microsoft.com/office/drawing/2014/main" id="{5E8A1671-3993-403B-F1B2-EDB71845CAE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7841615" y="5489934"/>
                    <a:ext cx="1933845" cy="1114581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700F971A-6C34-8784-D7C7-E97CB53F84DB}"/>
                      </a:ext>
                    </a:extLst>
                  </p:cNvPr>
                  <p:cNvSpPr/>
                  <p:nvPr/>
                </p:nvSpPr>
                <p:spPr>
                  <a:xfrm>
                    <a:off x="4174836" y="2549236"/>
                    <a:ext cx="1256146" cy="304800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4" name="직사각형 23">
                    <a:extLst>
                      <a:ext uri="{FF2B5EF4-FFF2-40B4-BE49-F238E27FC236}">
                        <a16:creationId xmlns:a16="http://schemas.microsoft.com/office/drawing/2014/main" id="{EE016501-021C-FFC7-E828-2F9A4E0BD1F1}"/>
                      </a:ext>
                    </a:extLst>
                  </p:cNvPr>
                  <p:cNvSpPr/>
                  <p:nvPr/>
                </p:nvSpPr>
                <p:spPr>
                  <a:xfrm>
                    <a:off x="8996359" y="2161308"/>
                    <a:ext cx="1551568" cy="526473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5" name="직사각형 24">
                    <a:extLst>
                      <a:ext uri="{FF2B5EF4-FFF2-40B4-BE49-F238E27FC236}">
                        <a16:creationId xmlns:a16="http://schemas.microsoft.com/office/drawing/2014/main" id="{07C1EF53-31D8-18BE-C209-C9E831C1CF82}"/>
                      </a:ext>
                    </a:extLst>
                  </p:cNvPr>
                  <p:cNvSpPr/>
                  <p:nvPr/>
                </p:nvSpPr>
                <p:spPr>
                  <a:xfrm>
                    <a:off x="351122" y="3633132"/>
                    <a:ext cx="5837241" cy="472038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7" name="직사각형 26">
                    <a:extLst>
                      <a:ext uri="{FF2B5EF4-FFF2-40B4-BE49-F238E27FC236}">
                        <a16:creationId xmlns:a16="http://schemas.microsoft.com/office/drawing/2014/main" id="{3CE3A92B-66EC-9FC9-BC47-28607DAAA297}"/>
                      </a:ext>
                    </a:extLst>
                  </p:cNvPr>
                  <p:cNvSpPr/>
                  <p:nvPr/>
                </p:nvSpPr>
                <p:spPr>
                  <a:xfrm>
                    <a:off x="351122" y="6006041"/>
                    <a:ext cx="1551569" cy="327945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8" name="직사각형 27">
                    <a:extLst>
                      <a:ext uri="{FF2B5EF4-FFF2-40B4-BE49-F238E27FC236}">
                        <a16:creationId xmlns:a16="http://schemas.microsoft.com/office/drawing/2014/main" id="{33A608C8-1142-358E-CD3E-A21DC7542717}"/>
                      </a:ext>
                    </a:extLst>
                  </p:cNvPr>
                  <p:cNvSpPr/>
                  <p:nvPr/>
                </p:nvSpPr>
                <p:spPr>
                  <a:xfrm>
                    <a:off x="2267388" y="5745171"/>
                    <a:ext cx="900686" cy="979337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9" name="직사각형 28">
                    <a:extLst>
                      <a:ext uri="{FF2B5EF4-FFF2-40B4-BE49-F238E27FC236}">
                        <a16:creationId xmlns:a16="http://schemas.microsoft.com/office/drawing/2014/main" id="{190F89A5-DCE4-22AF-E707-B9EBC19838A8}"/>
                      </a:ext>
                    </a:extLst>
                  </p:cNvPr>
                  <p:cNvSpPr/>
                  <p:nvPr/>
                </p:nvSpPr>
                <p:spPr>
                  <a:xfrm>
                    <a:off x="7915564" y="5745171"/>
                    <a:ext cx="1859895" cy="489374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38CD61A8-A021-8FDB-EAC8-5E526DC04716}"/>
                    </a:ext>
                  </a:extLst>
                </p:cNvPr>
                <p:cNvSpPr/>
                <p:nvPr/>
              </p:nvSpPr>
              <p:spPr>
                <a:xfrm>
                  <a:off x="749777" y="2183084"/>
                  <a:ext cx="332509" cy="314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/>
                    <a:t>1</a:t>
                  </a:r>
                  <a:endParaRPr lang="ko-KR" altLang="en-US"/>
                </a:p>
              </p:txBody>
            </p:sp>
          </p:grp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EB67ED9C-0757-DB16-250E-E63706B750CB}"/>
                  </a:ext>
                </a:extLst>
              </p:cNvPr>
              <p:cNvSpPr/>
              <p:nvPr/>
            </p:nvSpPr>
            <p:spPr>
              <a:xfrm>
                <a:off x="5413650" y="2229265"/>
                <a:ext cx="332509" cy="31403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2</a:t>
                </a:r>
                <a:endParaRPr lang="ko-KR" altLang="en-US"/>
              </a:p>
            </p:txBody>
          </p:sp>
        </p:grp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ADA8892-D75F-3932-58E7-AAA10461961B}"/>
                </a:ext>
              </a:extLst>
            </p:cNvPr>
            <p:cNvSpPr/>
            <p:nvPr/>
          </p:nvSpPr>
          <p:spPr>
            <a:xfrm>
              <a:off x="10215418" y="1896961"/>
              <a:ext cx="332509" cy="3140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</a:t>
              </a:r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83FCC75-A2D0-2328-4C31-CA27C41D80B5}"/>
                </a:ext>
              </a:extLst>
            </p:cNvPr>
            <p:cNvSpPr/>
            <p:nvPr/>
          </p:nvSpPr>
          <p:spPr>
            <a:xfrm>
              <a:off x="5840583" y="3633132"/>
              <a:ext cx="332509" cy="3140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4</a:t>
              </a:r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88227B3F-0878-DA28-5958-BF7A0ECB3237}"/>
                </a:ext>
              </a:extLst>
            </p:cNvPr>
            <p:cNvSpPr/>
            <p:nvPr/>
          </p:nvSpPr>
          <p:spPr>
            <a:xfrm>
              <a:off x="3283527" y="5489934"/>
              <a:ext cx="332509" cy="3140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6</a:t>
              </a:r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BE28C441-1449-2705-FCBE-1734C959CECE}"/>
                </a:ext>
              </a:extLst>
            </p:cNvPr>
            <p:cNvSpPr/>
            <p:nvPr/>
          </p:nvSpPr>
          <p:spPr>
            <a:xfrm>
              <a:off x="1616433" y="5562353"/>
              <a:ext cx="332509" cy="3140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5</a:t>
              </a:r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EC520AB-EFA2-9FB2-FB16-D7944748FF64}"/>
                </a:ext>
              </a:extLst>
            </p:cNvPr>
            <p:cNvSpPr/>
            <p:nvPr/>
          </p:nvSpPr>
          <p:spPr>
            <a:xfrm>
              <a:off x="9439634" y="5489933"/>
              <a:ext cx="332509" cy="3140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7</a:t>
              </a:r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E21C9F5-E246-4559-28CE-9687155099C5}"/>
              </a:ext>
            </a:extLst>
          </p:cNvPr>
          <p:cNvGrpSpPr/>
          <p:nvPr/>
        </p:nvGrpSpPr>
        <p:grpSpPr>
          <a:xfrm>
            <a:off x="10007600" y="5476615"/>
            <a:ext cx="1733792" cy="943107"/>
            <a:chOff x="10007600" y="5476615"/>
            <a:chExt cx="1733792" cy="943107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395062D9-D9C9-A723-77CE-C3147F7CE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007600" y="5476615"/>
              <a:ext cx="1733792" cy="94310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A0E6719-1E44-91CC-0225-889A2F13CB94}"/>
                </a:ext>
              </a:extLst>
            </p:cNvPr>
            <p:cNvSpPr/>
            <p:nvPr/>
          </p:nvSpPr>
          <p:spPr>
            <a:xfrm>
              <a:off x="11408883" y="5489932"/>
              <a:ext cx="332509" cy="3140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8</a:t>
              </a: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3562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CDCC0-EC27-E201-3664-4A7CD1CDC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RDS(DB)</a:t>
            </a:r>
            <a:r>
              <a:rPr lang="ko-KR" altLang="en-US"/>
              <a:t> 생성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B0A4828-A1D6-CB20-E3CB-220F06A85761}"/>
              </a:ext>
            </a:extLst>
          </p:cNvPr>
          <p:cNvGrpSpPr/>
          <p:nvPr/>
        </p:nvGrpSpPr>
        <p:grpSpPr>
          <a:xfrm>
            <a:off x="554182" y="1810876"/>
            <a:ext cx="4901149" cy="1166225"/>
            <a:chOff x="554182" y="1810876"/>
            <a:chExt cx="4901149" cy="1166225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696025B8-18BB-770D-ABF0-42714545E04F}"/>
                </a:ext>
              </a:extLst>
            </p:cNvPr>
            <p:cNvGrpSpPr/>
            <p:nvPr/>
          </p:nvGrpSpPr>
          <p:grpSpPr>
            <a:xfrm>
              <a:off x="554182" y="1810876"/>
              <a:ext cx="4901149" cy="1166225"/>
              <a:chOff x="554182" y="1810876"/>
              <a:chExt cx="4901149" cy="1166225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AC9E92E9-C2E2-FCBF-373C-F0699238160A}"/>
                  </a:ext>
                </a:extLst>
              </p:cNvPr>
              <p:cNvGrpSpPr/>
              <p:nvPr/>
            </p:nvGrpSpPr>
            <p:grpSpPr>
              <a:xfrm>
                <a:off x="554182" y="1949690"/>
                <a:ext cx="2687782" cy="1027411"/>
                <a:chOff x="554182" y="1949690"/>
                <a:chExt cx="2687782" cy="1027411"/>
              </a:xfrm>
            </p:grpSpPr>
            <p:pic>
              <p:nvPicPr>
                <p:cNvPr id="7" name="그림 6">
                  <a:extLst>
                    <a:ext uri="{FF2B5EF4-FFF2-40B4-BE49-F238E27FC236}">
                      <a16:creationId xmlns:a16="http://schemas.microsoft.com/office/drawing/2014/main" id="{9F089164-24A6-0D8A-64DD-7BCDFDCC3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60058" y="1949690"/>
                  <a:ext cx="2648320" cy="70494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F84F181-2EAE-4595-4D8B-CF2B03BA2A00}"/>
                    </a:ext>
                  </a:extLst>
                </p:cNvPr>
                <p:cNvSpPr txBox="1"/>
                <p:nvPr/>
              </p:nvSpPr>
              <p:spPr>
                <a:xfrm>
                  <a:off x="554182" y="2715491"/>
                  <a:ext cx="268778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100"/>
                    <a:t>자동 백업 활성화 해제</a:t>
                  </a:r>
                  <a:r>
                    <a:rPr lang="en-US" altLang="ko-KR" sz="1100"/>
                    <a:t>(</a:t>
                  </a:r>
                  <a:r>
                    <a:rPr lang="ko-KR" altLang="en-US" sz="1100"/>
                    <a:t>실습용</a:t>
                  </a:r>
                  <a:r>
                    <a:rPr lang="en-US" altLang="ko-KR" sz="1100"/>
                    <a:t>)</a:t>
                  </a:r>
                  <a:endParaRPr lang="ko-KR" altLang="en-US" sz="1100"/>
                </a:p>
              </p:txBody>
            </p:sp>
          </p:grpSp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069E3527-89C9-5930-1495-612EA75EC5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41169" y="1915054"/>
                <a:ext cx="1581371" cy="495369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C0001C7-62AA-7F9C-5742-BB84E96BE312}"/>
                  </a:ext>
                </a:extLst>
              </p:cNvPr>
              <p:cNvSpPr/>
              <p:nvPr/>
            </p:nvSpPr>
            <p:spPr>
              <a:xfrm>
                <a:off x="2875869" y="1949690"/>
                <a:ext cx="332509" cy="31403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9</a:t>
                </a:r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F312F4A-0EE7-92D0-0288-542D7ED77DC2}"/>
                  </a:ext>
                </a:extLst>
              </p:cNvPr>
              <p:cNvSpPr/>
              <p:nvPr/>
            </p:nvSpPr>
            <p:spPr>
              <a:xfrm>
                <a:off x="4956285" y="1810876"/>
                <a:ext cx="499046" cy="31403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10</a:t>
                </a:r>
                <a:endParaRPr lang="ko-KR" altLang="en-US"/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F865016-0F8B-88BC-168A-C75BA0BD8D15}"/>
                </a:ext>
              </a:extLst>
            </p:cNvPr>
            <p:cNvSpPr/>
            <p:nvPr/>
          </p:nvSpPr>
          <p:spPr>
            <a:xfrm>
              <a:off x="628073" y="2211300"/>
              <a:ext cx="258618" cy="31403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C2437D0-4EE2-793B-A0E7-7A7B0AF56A8A}"/>
              </a:ext>
            </a:extLst>
          </p:cNvPr>
          <p:cNvGrpSpPr/>
          <p:nvPr/>
        </p:nvGrpSpPr>
        <p:grpSpPr>
          <a:xfrm>
            <a:off x="554182" y="3124448"/>
            <a:ext cx="3238952" cy="1762371"/>
            <a:chOff x="554182" y="3241858"/>
            <a:chExt cx="3238952" cy="1762371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72D3DF51-0592-A85D-5403-1B0D3CA0A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182" y="3241858"/>
              <a:ext cx="3238952" cy="176237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922F16B-9A76-E9E3-F6BD-E30F9E4F456A}"/>
                </a:ext>
              </a:extLst>
            </p:cNvPr>
            <p:cNvSpPr/>
            <p:nvPr/>
          </p:nvSpPr>
          <p:spPr>
            <a:xfrm>
              <a:off x="1459345" y="4535055"/>
              <a:ext cx="1246910" cy="3694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ACE17F7-EC48-2110-F7F5-71294183AD5B}"/>
              </a:ext>
            </a:extLst>
          </p:cNvPr>
          <p:cNvSpPr/>
          <p:nvPr/>
        </p:nvSpPr>
        <p:spPr>
          <a:xfrm>
            <a:off x="3186169" y="3318732"/>
            <a:ext cx="499046" cy="3140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11</a:t>
            </a:r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DD49912-DB86-8D34-4032-136BD562DCE9}"/>
              </a:ext>
            </a:extLst>
          </p:cNvPr>
          <p:cNvGrpSpPr/>
          <p:nvPr/>
        </p:nvGrpSpPr>
        <p:grpSpPr>
          <a:xfrm>
            <a:off x="8398865" y="3126757"/>
            <a:ext cx="2419688" cy="1044335"/>
            <a:chOff x="8464897" y="3161713"/>
            <a:chExt cx="2419688" cy="1044335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C98027B3-9D75-5D6C-7EC5-312DCB646AD8}"/>
                </a:ext>
              </a:extLst>
            </p:cNvPr>
            <p:cNvGrpSpPr/>
            <p:nvPr/>
          </p:nvGrpSpPr>
          <p:grpSpPr>
            <a:xfrm>
              <a:off x="8464897" y="3177204"/>
              <a:ext cx="2419688" cy="1028844"/>
              <a:chOff x="8464897" y="3177204"/>
              <a:chExt cx="2419688" cy="1028844"/>
            </a:xfrm>
          </p:grpSpPr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BF5E911E-8323-7BE3-441F-E963C24638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64897" y="3177204"/>
                <a:ext cx="2419688" cy="102884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3D7DF066-E924-0098-DE89-5189F5AB6F17}"/>
                  </a:ext>
                </a:extLst>
              </p:cNvPr>
              <p:cNvSpPr/>
              <p:nvPr/>
            </p:nvSpPr>
            <p:spPr>
              <a:xfrm>
                <a:off x="8580582" y="3916175"/>
                <a:ext cx="2105891" cy="28987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FA256BE-FAC3-6A70-017C-9EF7110AD973}"/>
                </a:ext>
              </a:extLst>
            </p:cNvPr>
            <p:cNvSpPr/>
            <p:nvPr/>
          </p:nvSpPr>
          <p:spPr>
            <a:xfrm>
              <a:off x="10385539" y="3161713"/>
              <a:ext cx="499046" cy="314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13</a:t>
              </a:r>
              <a:endParaRPr lang="ko-KR" altLang="en-US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DAF5173-B46C-7135-49E8-423C68C47137}"/>
              </a:ext>
            </a:extLst>
          </p:cNvPr>
          <p:cNvGrpSpPr/>
          <p:nvPr/>
        </p:nvGrpSpPr>
        <p:grpSpPr>
          <a:xfrm>
            <a:off x="4143102" y="3124448"/>
            <a:ext cx="3905795" cy="1325161"/>
            <a:chOff x="4142859" y="3209894"/>
            <a:chExt cx="3905795" cy="1325161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7F48C20-B0C9-E189-2F07-409F6097511C}"/>
                </a:ext>
              </a:extLst>
            </p:cNvPr>
            <p:cNvGrpSpPr/>
            <p:nvPr/>
          </p:nvGrpSpPr>
          <p:grpSpPr>
            <a:xfrm>
              <a:off x="4142859" y="3209894"/>
              <a:ext cx="3905795" cy="1325161"/>
              <a:chOff x="4142859" y="3209894"/>
              <a:chExt cx="3905795" cy="1325161"/>
            </a:xfrm>
          </p:grpSpPr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709FD78D-FAF0-70E5-5094-A8B9C220E8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42859" y="3209894"/>
                <a:ext cx="1190791" cy="43821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6393A2F2-40FF-09C1-F2E5-2574DA1E59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42859" y="3792001"/>
                <a:ext cx="3905795" cy="74305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E0EDA8D3-A864-9B24-62EA-0151249530F4}"/>
                  </a:ext>
                </a:extLst>
              </p:cNvPr>
              <p:cNvSpPr/>
              <p:nvPr/>
            </p:nvSpPr>
            <p:spPr>
              <a:xfrm>
                <a:off x="7508207" y="3209894"/>
                <a:ext cx="499046" cy="3140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12</a:t>
                </a:r>
                <a:endParaRPr lang="ko-KR" altLang="en-US"/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9340A8E-B16E-C317-D125-B05BC0B1FC8B}"/>
                </a:ext>
              </a:extLst>
            </p:cNvPr>
            <p:cNvSpPr/>
            <p:nvPr/>
          </p:nvSpPr>
          <p:spPr>
            <a:xfrm>
              <a:off x="4331854" y="3318731"/>
              <a:ext cx="868219" cy="2052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504DE2E-4024-35F8-7C92-A0957008CD21}"/>
                </a:ext>
              </a:extLst>
            </p:cNvPr>
            <p:cNvSpPr/>
            <p:nvPr/>
          </p:nvSpPr>
          <p:spPr>
            <a:xfrm>
              <a:off x="4209377" y="3916175"/>
              <a:ext cx="2715004" cy="4156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0AA0AB0-52F5-6404-DF06-72055B4FFEB5}"/>
              </a:ext>
            </a:extLst>
          </p:cNvPr>
          <p:cNvGrpSpPr/>
          <p:nvPr/>
        </p:nvGrpSpPr>
        <p:grpSpPr>
          <a:xfrm>
            <a:off x="557542" y="5113066"/>
            <a:ext cx="10169236" cy="1691228"/>
            <a:chOff x="557542" y="5113066"/>
            <a:chExt cx="10169236" cy="1691228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6A403B09-437B-7E08-DEF8-91702A40CE07}"/>
                </a:ext>
              </a:extLst>
            </p:cNvPr>
            <p:cNvGrpSpPr/>
            <p:nvPr/>
          </p:nvGrpSpPr>
          <p:grpSpPr>
            <a:xfrm>
              <a:off x="557542" y="5113066"/>
              <a:ext cx="10169236" cy="1691228"/>
              <a:chOff x="557542" y="5113066"/>
              <a:chExt cx="10169236" cy="1691228"/>
            </a:xfrm>
          </p:grpSpPr>
          <p:pic>
            <p:nvPicPr>
              <p:cNvPr id="40" name="그림 39">
                <a:extLst>
                  <a:ext uri="{FF2B5EF4-FFF2-40B4-BE49-F238E27FC236}">
                    <a16:creationId xmlns:a16="http://schemas.microsoft.com/office/drawing/2014/main" id="{AE855EAF-F1C5-F876-63AD-AC14E54B2D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7542" y="5113066"/>
                <a:ext cx="10169236" cy="169122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7CC8EF51-54BF-10EA-E33E-20FED9E20330}"/>
                  </a:ext>
                </a:extLst>
              </p:cNvPr>
              <p:cNvSpPr/>
              <p:nvPr/>
            </p:nvSpPr>
            <p:spPr>
              <a:xfrm>
                <a:off x="9494982" y="5689600"/>
                <a:ext cx="1080654" cy="29556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87F374D-3DE9-F6E1-C9F3-A34F878632A0}"/>
                </a:ext>
              </a:extLst>
            </p:cNvPr>
            <p:cNvSpPr/>
            <p:nvPr/>
          </p:nvSpPr>
          <p:spPr>
            <a:xfrm>
              <a:off x="10227732" y="5113066"/>
              <a:ext cx="499046" cy="314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14</a:t>
              </a: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8664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77F731-FB68-01BA-5C39-DE4BF4C05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RDS(DB) </a:t>
            </a:r>
            <a:r>
              <a:rPr lang="ko-KR" altLang="en-US"/>
              <a:t>생성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EC06A74-ED95-C177-DBFA-2AB8062188D7}"/>
              </a:ext>
            </a:extLst>
          </p:cNvPr>
          <p:cNvGrpSpPr/>
          <p:nvPr/>
        </p:nvGrpSpPr>
        <p:grpSpPr>
          <a:xfrm>
            <a:off x="1097280" y="1909345"/>
            <a:ext cx="1800476" cy="1838582"/>
            <a:chOff x="1097280" y="1909345"/>
            <a:chExt cx="1800476" cy="183858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68F8415-BA19-4CEA-0BD3-84BC7BC8E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09345"/>
              <a:ext cx="1800476" cy="183858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952D1E9-5CDD-17C2-160D-52182B7DE9F5}"/>
                </a:ext>
              </a:extLst>
            </p:cNvPr>
            <p:cNvSpPr/>
            <p:nvPr/>
          </p:nvSpPr>
          <p:spPr>
            <a:xfrm>
              <a:off x="1209964" y="3334327"/>
              <a:ext cx="942109" cy="3879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C922941-A322-D1E8-790F-DC6BF959A3C9}"/>
              </a:ext>
            </a:extLst>
          </p:cNvPr>
          <p:cNvGrpSpPr/>
          <p:nvPr/>
        </p:nvGrpSpPr>
        <p:grpSpPr>
          <a:xfrm>
            <a:off x="3010440" y="1909345"/>
            <a:ext cx="8921148" cy="1564372"/>
            <a:chOff x="3010440" y="1909345"/>
            <a:chExt cx="8921148" cy="156437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5618DAC-A017-53BE-4978-1C7BF600E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0440" y="1909345"/>
              <a:ext cx="8921148" cy="15643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EB55941-A17B-2A3E-4AAF-D2CC50E0561B}"/>
                </a:ext>
              </a:extLst>
            </p:cNvPr>
            <p:cNvSpPr/>
            <p:nvPr/>
          </p:nvSpPr>
          <p:spPr>
            <a:xfrm>
              <a:off x="3010440" y="2828636"/>
              <a:ext cx="8921148" cy="6003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49232C5-5984-1E4E-57FB-1A33BC63CA30}"/>
              </a:ext>
            </a:extLst>
          </p:cNvPr>
          <p:cNvGrpSpPr/>
          <p:nvPr/>
        </p:nvGrpSpPr>
        <p:grpSpPr>
          <a:xfrm>
            <a:off x="11055166" y="3473717"/>
            <a:ext cx="876422" cy="419158"/>
            <a:chOff x="11055166" y="3473717"/>
            <a:chExt cx="876422" cy="419158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20D73C9-379E-0777-FC70-E5B774C95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55166" y="3473717"/>
              <a:ext cx="876422" cy="419158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4450E10-D8EE-EAD9-8431-683DDE8719A5}"/>
                </a:ext>
              </a:extLst>
            </p:cNvPr>
            <p:cNvSpPr/>
            <p:nvPr/>
          </p:nvSpPr>
          <p:spPr>
            <a:xfrm>
              <a:off x="11055166" y="3528291"/>
              <a:ext cx="876422" cy="36458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7118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E10526-BDA9-D328-FB31-AFEC0E34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EC2 </a:t>
            </a:r>
            <a:r>
              <a:rPr lang="ko-KR" altLang="en-US"/>
              <a:t>서버 </a:t>
            </a:r>
            <a:r>
              <a:rPr lang="en-US" altLang="ko-KR"/>
              <a:t>- Redis </a:t>
            </a:r>
            <a:r>
              <a:rPr lang="ko-KR" altLang="en-US"/>
              <a:t>프로그램 셋팅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5A4BE99-1C61-A256-0639-FF4FFAC82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41" y="1907857"/>
            <a:ext cx="4496427" cy="4191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C896789-C110-A12B-9A8E-F609F7A5A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171" y="1931672"/>
            <a:ext cx="743054" cy="3715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92AE277-FA9F-4797-EDE9-B530CFBE9D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9028"/>
          <a:stretch>
            <a:fillRect/>
          </a:stretch>
        </p:blipFill>
        <p:spPr>
          <a:xfrm>
            <a:off x="458041" y="2460567"/>
            <a:ext cx="4048690" cy="33805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DAC5C6D-DAC2-C7AC-4371-5132A0334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18" y="3143210"/>
            <a:ext cx="4658375" cy="28579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2281633-65A4-8748-A7EC-D59B4F37CD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041" y="3673615"/>
            <a:ext cx="3315163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179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A6AF47C6-89A8-CAF6-27B0-C40156178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" y="3001235"/>
            <a:ext cx="6478326" cy="338242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9E161DB-833A-7A5C-7339-4129DBF32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EC2 </a:t>
            </a:r>
            <a:r>
              <a:rPr lang="ko-KR" altLang="en-US"/>
              <a:t>서버 </a:t>
            </a:r>
            <a:r>
              <a:rPr lang="en-US" altLang="ko-KR"/>
              <a:t>- Spring Application </a:t>
            </a:r>
            <a:r>
              <a:rPr lang="ko-KR" altLang="en-US"/>
              <a:t>셋팅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3099D-8802-1D84-FB2C-2649241A7476}"/>
              </a:ext>
            </a:extLst>
          </p:cNvPr>
          <p:cNvSpPr txBox="1"/>
          <p:nvPr/>
        </p:nvSpPr>
        <p:spPr>
          <a:xfrm>
            <a:off x="170681" y="1764212"/>
            <a:ext cx="9245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1. JDK</a:t>
            </a:r>
            <a:r>
              <a:rPr lang="ko-KR" altLang="en-US" sz="1400"/>
              <a:t> </a:t>
            </a:r>
            <a:r>
              <a:rPr lang="en-US" altLang="ko-KR" sz="1400"/>
              <a:t>17</a:t>
            </a:r>
            <a:r>
              <a:rPr lang="ko-KR" altLang="en-US" sz="1400"/>
              <a:t>버전 설치</a:t>
            </a:r>
            <a:endParaRPr lang="en-US" altLang="ko-KR" sz="1400"/>
          </a:p>
          <a:p>
            <a:r>
              <a:rPr lang="en-US" altLang="ko-KR" sz="1400"/>
              <a:t>sudo apt-get install openjdk-17-jdk</a:t>
            </a:r>
          </a:p>
          <a:p>
            <a:r>
              <a:rPr lang="en-US" altLang="ko-KR" sz="1400"/>
              <a:t>java -version</a:t>
            </a:r>
          </a:p>
          <a:p>
            <a:endParaRPr lang="en-US" altLang="ko-KR" sz="1400"/>
          </a:p>
          <a:p>
            <a:r>
              <a:rPr lang="en-US" altLang="ko-KR" sz="1400"/>
              <a:t>2. </a:t>
            </a:r>
            <a:r>
              <a:rPr lang="ko-KR" altLang="en-US" sz="1400"/>
              <a:t>프로젝트 </a:t>
            </a:r>
            <a:r>
              <a:rPr lang="en-US" altLang="ko-KR" sz="1400"/>
              <a:t>git</a:t>
            </a:r>
            <a:r>
              <a:rPr lang="ko-KR" altLang="en-US" sz="1400"/>
              <a:t>으로 당겨오기전 애플리케이션 </a:t>
            </a:r>
            <a:r>
              <a:rPr lang="en-US" altLang="ko-KR" sz="1400"/>
              <a:t>prod </a:t>
            </a:r>
            <a:r>
              <a:rPr lang="ko-KR" altLang="en-US" sz="1400"/>
              <a:t>환경 설정</a:t>
            </a:r>
            <a:r>
              <a:rPr lang="en-US" altLang="ko-KR" sz="1400"/>
              <a:t> </a:t>
            </a:r>
            <a:endParaRPr lang="ko-KR" altLang="en-US" sz="140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D243F2E-85EC-04AB-F1AB-B490F29DB6B2}"/>
              </a:ext>
            </a:extLst>
          </p:cNvPr>
          <p:cNvGrpSpPr/>
          <p:nvPr/>
        </p:nvGrpSpPr>
        <p:grpSpPr>
          <a:xfrm>
            <a:off x="6714995" y="1847273"/>
            <a:ext cx="5310750" cy="4890825"/>
            <a:chOff x="5311068" y="1939720"/>
            <a:chExt cx="5310750" cy="4890825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C58CC6C3-13D0-2976-9367-3A7BF7D7D5C0}"/>
                </a:ext>
              </a:extLst>
            </p:cNvPr>
            <p:cNvGrpSpPr/>
            <p:nvPr/>
          </p:nvGrpSpPr>
          <p:grpSpPr>
            <a:xfrm>
              <a:off x="5311068" y="1939720"/>
              <a:ext cx="3934374" cy="2607034"/>
              <a:chOff x="5311068" y="1939720"/>
              <a:chExt cx="3934374" cy="2607034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59F39B86-1C59-F32C-AEFE-66487B9407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11068" y="1939720"/>
                <a:ext cx="3934374" cy="371527"/>
              </a:xfrm>
              <a:prstGeom prst="rect">
                <a:avLst/>
              </a:prstGeom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101C3E2F-FBDC-B002-E6DF-6C3BAB7638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11068" y="2441435"/>
                <a:ext cx="2819794" cy="2105319"/>
              </a:xfrm>
              <a:prstGeom prst="rect">
                <a:avLst/>
              </a:prstGeom>
            </p:spPr>
          </p:pic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4910E875-BBE1-4A66-EF83-0C6406516036}"/>
                </a:ext>
              </a:extLst>
            </p:cNvPr>
            <p:cNvGrpSpPr/>
            <p:nvPr/>
          </p:nvGrpSpPr>
          <p:grpSpPr>
            <a:xfrm>
              <a:off x="6335925" y="4156058"/>
              <a:ext cx="4285893" cy="2674487"/>
              <a:chOff x="6335925" y="4156058"/>
              <a:chExt cx="4285893" cy="2674487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E1A44D91-EDEC-0E17-6294-B03E12264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35925" y="4156058"/>
                <a:ext cx="4285893" cy="2674487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29C189-1E41-92DC-2EDB-3D33952258D8}"/>
                  </a:ext>
                </a:extLst>
              </p:cNvPr>
              <p:cNvSpPr txBox="1"/>
              <p:nvPr/>
            </p:nvSpPr>
            <p:spPr>
              <a:xfrm>
                <a:off x="6853382" y="5883564"/>
                <a:ext cx="32789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/>
                  <a:t>RDS Root </a:t>
                </a:r>
                <a:r>
                  <a:rPr lang="ko-KR" altLang="en-US" sz="1200"/>
                  <a:t>계정 </a:t>
                </a:r>
                <a:r>
                  <a:rPr lang="en-US" altLang="ko-KR" sz="1200"/>
                  <a:t>ID : admin (</a:t>
                </a:r>
                <a:r>
                  <a:rPr lang="ko-KR" altLang="en-US" sz="1200"/>
                  <a:t>기본값으로 설정</a:t>
                </a:r>
                <a:r>
                  <a:rPr lang="en-US" altLang="ko-KR" sz="1200"/>
                  <a:t>)</a:t>
                </a:r>
              </a:p>
              <a:p>
                <a:r>
                  <a:rPr lang="en-US" altLang="ko-KR" sz="1200"/>
                  <a:t>Password : password </a:t>
                </a:r>
                <a:r>
                  <a:rPr lang="ko-KR" altLang="en-US" sz="1200"/>
                  <a:t>설정</a:t>
                </a:r>
                <a:endParaRPr lang="en-US" altLang="ko-KR" sz="1200"/>
              </a:p>
              <a:p>
                <a:endParaRPr lang="ko-KR" altLang="en-US" sz="1200"/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C59525B0-8224-7C44-25D7-BCA5FAB36F89}"/>
                </a:ext>
              </a:extLst>
            </p:cNvPr>
            <p:cNvGrpSpPr/>
            <p:nvPr/>
          </p:nvGrpSpPr>
          <p:grpSpPr>
            <a:xfrm>
              <a:off x="5384800" y="3565236"/>
              <a:ext cx="2819794" cy="1514764"/>
              <a:chOff x="5384800" y="3565236"/>
              <a:chExt cx="2819794" cy="1514764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1897FD13-7DAA-A7C5-8A29-ACB776D1AF81}"/>
                  </a:ext>
                </a:extLst>
              </p:cNvPr>
              <p:cNvSpPr/>
              <p:nvPr/>
            </p:nvSpPr>
            <p:spPr>
              <a:xfrm>
                <a:off x="5384800" y="3565236"/>
                <a:ext cx="2819794" cy="52216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72AD32CE-DD78-A905-D084-E03705AE72AC}"/>
                  </a:ext>
                </a:extLst>
              </p:cNvPr>
              <p:cNvCxnSpPr>
                <a:cxnSpLocks/>
                <a:stCxn id="9" idx="2"/>
                <a:endCxn id="16" idx="0"/>
              </p:cNvCxnSpPr>
              <p:nvPr/>
            </p:nvCxnSpPr>
            <p:spPr>
              <a:xfrm>
                <a:off x="6794697" y="4087398"/>
                <a:ext cx="771237" cy="73398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FC575147-25C5-F30E-93CC-DD9A136B0C24}"/>
                  </a:ext>
                </a:extLst>
              </p:cNvPr>
              <p:cNvSpPr/>
              <p:nvPr/>
            </p:nvSpPr>
            <p:spPr>
              <a:xfrm>
                <a:off x="6927273" y="4821382"/>
                <a:ext cx="1277321" cy="25861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F6DAEE66-26EC-B2A6-C908-7A776CCD7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78546" y="3093682"/>
              <a:ext cx="1733792" cy="94310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12BC04E-A1B7-F8DE-A40D-ABAD9BA17B7C}"/>
              </a:ext>
            </a:extLst>
          </p:cNvPr>
          <p:cNvGrpSpPr/>
          <p:nvPr/>
        </p:nvGrpSpPr>
        <p:grpSpPr>
          <a:xfrm>
            <a:off x="646626" y="3820881"/>
            <a:ext cx="5983426" cy="2469375"/>
            <a:chOff x="709221" y="3629891"/>
            <a:chExt cx="5983426" cy="2469375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0CB601D-ED64-5C2E-5FFB-6EA75968D880}"/>
                </a:ext>
              </a:extLst>
            </p:cNvPr>
            <p:cNvSpPr/>
            <p:nvPr/>
          </p:nvSpPr>
          <p:spPr>
            <a:xfrm>
              <a:off x="709221" y="3629891"/>
              <a:ext cx="5983426" cy="72680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EEAAB01F-1E2C-1494-E2C6-00BAFC2FE37F}"/>
                </a:ext>
              </a:extLst>
            </p:cNvPr>
            <p:cNvSpPr/>
            <p:nvPr/>
          </p:nvSpPr>
          <p:spPr>
            <a:xfrm>
              <a:off x="2979653" y="4501458"/>
              <a:ext cx="3565236" cy="15978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>
                  <a:solidFill>
                    <a:schemeClr val="tx1"/>
                  </a:solidFill>
                </a:rPr>
                <a:t>1. profile : prod </a:t>
              </a:r>
              <a:r>
                <a:rPr lang="ko-KR" altLang="en-US" sz="1200">
                  <a:solidFill>
                    <a:schemeClr val="tx1"/>
                  </a:solidFill>
                </a:rPr>
                <a:t>변경</a:t>
              </a:r>
              <a:endParaRPr lang="en-US" altLang="ko-KR" sz="1200">
                <a:solidFill>
                  <a:schemeClr val="tx1"/>
                </a:solidFill>
              </a:endParaRPr>
            </a:p>
            <a:p>
              <a:r>
                <a:rPr lang="en-US" altLang="ko-KR" sz="1200">
                  <a:solidFill>
                    <a:schemeClr val="tx1"/>
                  </a:solidFill>
                </a:rPr>
                <a:t>2. prod </a:t>
              </a:r>
              <a:r>
                <a:rPr lang="ko-KR" altLang="en-US" sz="1200">
                  <a:solidFill>
                    <a:schemeClr val="tx1"/>
                  </a:solidFill>
                </a:rPr>
                <a:t>환경에서 동작할 수 있도록</a:t>
              </a:r>
              <a:endParaRPr lang="en-US" altLang="ko-KR" sz="1200">
                <a:solidFill>
                  <a:schemeClr val="tx1"/>
                </a:solidFill>
              </a:endParaRPr>
            </a:p>
            <a:p>
              <a:r>
                <a:rPr lang="en-US" altLang="ko-KR" sz="1200">
                  <a:solidFill>
                    <a:schemeClr val="tx1"/>
                  </a:solidFill>
                </a:rPr>
                <a:t>    </a:t>
              </a:r>
              <a:r>
                <a:rPr lang="ko-KR" altLang="en-US" sz="1200">
                  <a:solidFill>
                    <a:schemeClr val="tx1"/>
                  </a:solidFill>
                </a:rPr>
                <a:t>동일한 설정을 </a:t>
              </a:r>
              <a:r>
                <a:rPr lang="en-US" altLang="ko-KR" sz="1200">
                  <a:solidFill>
                    <a:schemeClr val="tx1"/>
                  </a:solidFill>
                </a:rPr>
                <a:t>application.yml </a:t>
              </a:r>
              <a:r>
                <a:rPr lang="ko-KR" altLang="en-US" sz="1200">
                  <a:solidFill>
                    <a:schemeClr val="tx1"/>
                  </a:solidFill>
                </a:rPr>
                <a:t>에 추가하고</a:t>
              </a:r>
              <a:endParaRPr lang="en-US" altLang="ko-KR" sz="1200">
                <a:solidFill>
                  <a:schemeClr val="tx1"/>
                </a:solidFill>
              </a:endParaRPr>
            </a:p>
            <a:p>
              <a:r>
                <a:rPr lang="en-US" altLang="ko-KR" sz="1200">
                  <a:solidFill>
                    <a:schemeClr val="tx1"/>
                  </a:solidFill>
                </a:rPr>
                <a:t>    DB</a:t>
              </a:r>
              <a:r>
                <a:rPr lang="ko-KR" altLang="en-US" sz="1200">
                  <a:solidFill>
                    <a:schemeClr val="tx1"/>
                  </a:solidFill>
                </a:rPr>
                <a:t>접속 정보 변경</a:t>
              </a:r>
              <a:endParaRPr lang="en-US" altLang="ko-KR" sz="1200">
                <a:solidFill>
                  <a:schemeClr val="tx1"/>
                </a:solidFill>
              </a:endParaRPr>
            </a:p>
            <a:p>
              <a:r>
                <a:rPr lang="en-US" altLang="ko-KR" sz="1200">
                  <a:solidFill>
                    <a:schemeClr val="tx1"/>
                  </a:solidFill>
                </a:rPr>
                <a:t>3. git push origin main (</a:t>
              </a:r>
              <a:r>
                <a:rPr lang="ko-KR" altLang="en-US" sz="1200">
                  <a:solidFill>
                    <a:schemeClr val="tx1"/>
                  </a:solidFill>
                </a:rPr>
                <a:t>코드관리 </a:t>
              </a:r>
              <a:r>
                <a:rPr lang="en-US" altLang="ko-KR" sz="1200">
                  <a:solidFill>
                    <a:schemeClr val="tx1"/>
                  </a:solidFill>
                </a:rPr>
                <a:t>tool</a:t>
              </a:r>
              <a:r>
                <a:rPr lang="ko-KR" altLang="en-US" sz="1200">
                  <a:solidFill>
                    <a:schemeClr val="tx1"/>
                  </a:solidFill>
                </a:rPr>
                <a:t> </a:t>
              </a:r>
              <a:r>
                <a:rPr lang="en-US" altLang="ko-KR" sz="1200">
                  <a:solidFill>
                    <a:schemeClr val="tx1"/>
                  </a:solidFill>
                </a:rPr>
                <a:t>push)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9204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2C759-0EB3-8EFE-72AF-7420EB9F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EC2 </a:t>
            </a:r>
            <a:r>
              <a:rPr lang="ko-KR" altLang="en-US"/>
              <a:t>서버 </a:t>
            </a:r>
            <a:r>
              <a:rPr lang="en-US" altLang="ko-KR"/>
              <a:t>- Spring Application </a:t>
            </a:r>
            <a:r>
              <a:rPr lang="ko-KR" altLang="en-US"/>
              <a:t>셋팅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416D35-E601-4E3A-0175-77570BF99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39" y="1958427"/>
            <a:ext cx="4451526" cy="110331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3FB562C-2DE4-EECD-41EB-1F8992718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96" y="3190842"/>
            <a:ext cx="7230484" cy="4763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AD3EAA5-7E75-0F7E-0464-ECA69BF5D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39" y="3888225"/>
            <a:ext cx="5687219" cy="33342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4CEC713-A9AE-FDD8-0344-3CAB7F943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296" y="4366889"/>
            <a:ext cx="5277587" cy="238158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1A0E73A9-2365-A046-30AD-ADA14BF5CCBB}"/>
              </a:ext>
            </a:extLst>
          </p:cNvPr>
          <p:cNvGrpSpPr/>
          <p:nvPr/>
        </p:nvGrpSpPr>
        <p:grpSpPr>
          <a:xfrm>
            <a:off x="423296" y="4751255"/>
            <a:ext cx="8773749" cy="276264"/>
            <a:chOff x="416038" y="5190664"/>
            <a:chExt cx="8773749" cy="276264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97B7377-9CD1-A652-4386-CE50F727D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6038" y="5190664"/>
              <a:ext cx="8773749" cy="276264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5B36256-2493-EB04-D0B3-E6E587D4DE2F}"/>
                </a:ext>
              </a:extLst>
            </p:cNvPr>
            <p:cNvSpPr/>
            <p:nvPr/>
          </p:nvSpPr>
          <p:spPr>
            <a:xfrm>
              <a:off x="6269381" y="5190664"/>
              <a:ext cx="2920406" cy="2762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CA91352-9D71-9556-88DF-ECA67D30D142}"/>
              </a:ext>
            </a:extLst>
          </p:cNvPr>
          <p:cNvSpPr txBox="1"/>
          <p:nvPr/>
        </p:nvSpPr>
        <p:spPr>
          <a:xfrm>
            <a:off x="416039" y="5097435"/>
            <a:ext cx="1005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windows</a:t>
            </a:r>
            <a:r>
              <a:rPr lang="ko-KR" altLang="en-US" sz="1400"/>
              <a:t>에서 작업하여 </a:t>
            </a:r>
            <a:r>
              <a:rPr lang="en-US" altLang="ko-KR" sz="1400"/>
              <a:t>gradle.properties</a:t>
            </a:r>
            <a:r>
              <a:rPr lang="ko-KR" altLang="en-US" sz="1400"/>
              <a:t>가 윈도우 </a:t>
            </a:r>
            <a:r>
              <a:rPr lang="en-US" altLang="ko-KR" sz="1400"/>
              <a:t>jdk </a:t>
            </a:r>
            <a:r>
              <a:rPr lang="ko-KR" altLang="en-US" sz="1400"/>
              <a:t>경로라면 </a:t>
            </a:r>
            <a:r>
              <a:rPr lang="en-US" altLang="ko-KR" sz="1400"/>
              <a:t>jdk </a:t>
            </a:r>
            <a:r>
              <a:rPr lang="ko-KR" altLang="en-US" sz="1400"/>
              <a:t>경로로 변경해서 빌드해야함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5B275D8-969A-FBEE-DAC0-F14A3D52F05B}"/>
              </a:ext>
            </a:extLst>
          </p:cNvPr>
          <p:cNvGrpSpPr/>
          <p:nvPr/>
        </p:nvGrpSpPr>
        <p:grpSpPr>
          <a:xfrm>
            <a:off x="416039" y="5405212"/>
            <a:ext cx="8781006" cy="939797"/>
            <a:chOff x="416039" y="5405212"/>
            <a:chExt cx="8781006" cy="939797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C437AF72-54F4-AB1F-9EA9-30B212CE3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6039" y="5405212"/>
              <a:ext cx="8781006" cy="939797"/>
            </a:xfrm>
            <a:prstGeom prst="rect">
              <a:avLst/>
            </a:prstGeom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9621906-C7CE-B5A6-F0FD-71A9ECB23744}"/>
                </a:ext>
              </a:extLst>
            </p:cNvPr>
            <p:cNvSpPr/>
            <p:nvPr/>
          </p:nvSpPr>
          <p:spPr>
            <a:xfrm>
              <a:off x="5283200" y="5541818"/>
              <a:ext cx="2521527" cy="35578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빌드 명령어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21A87E4-5A2F-0496-7832-4AE317EBA8FF}"/>
              </a:ext>
            </a:extLst>
          </p:cNvPr>
          <p:cNvGrpSpPr/>
          <p:nvPr/>
        </p:nvGrpSpPr>
        <p:grpSpPr>
          <a:xfrm>
            <a:off x="5691646" y="1929668"/>
            <a:ext cx="6296904" cy="955941"/>
            <a:chOff x="5691646" y="1929668"/>
            <a:chExt cx="6296904" cy="955941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815BD7B-A172-36A1-DDB5-59388A36C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91646" y="1929668"/>
              <a:ext cx="6296904" cy="600159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48DA532-43C5-FC58-1E03-31B5B3B6A76E}"/>
                </a:ext>
              </a:extLst>
            </p:cNvPr>
            <p:cNvSpPr/>
            <p:nvPr/>
          </p:nvSpPr>
          <p:spPr>
            <a:xfrm>
              <a:off x="5691646" y="2529827"/>
              <a:ext cx="2521527" cy="3557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>
                  <a:solidFill>
                    <a:schemeClr val="tx1"/>
                  </a:solidFill>
                </a:rPr>
                <a:t>빌드 확인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0747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210A3-700E-2F54-21D7-E09B95930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java application </a:t>
            </a:r>
            <a:r>
              <a:rPr lang="ko-KR" altLang="en-US"/>
              <a:t>실행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121B4-7507-FAC0-9C6A-DC8BA2051EED}"/>
              </a:ext>
            </a:extLst>
          </p:cNvPr>
          <p:cNvSpPr txBox="1"/>
          <p:nvPr/>
        </p:nvSpPr>
        <p:spPr>
          <a:xfrm>
            <a:off x="1246909" y="1828800"/>
            <a:ext cx="9908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java -Dspring.profiles.active=prod -jar redisinspring-0.0.1-SNAPSHOT.jar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1E51A9-D2F2-662C-0EA9-5883DE49C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1" y="2289572"/>
            <a:ext cx="10755226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87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4A1A1-B4CF-3772-514E-99A15E9D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 </a:t>
            </a:r>
            <a:r>
              <a:rPr lang="ko-KR" altLang="en-US"/>
              <a:t>데이터 셋팅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7BCC59-7029-1F39-9F1A-AD2456E59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4501"/>
            <a:ext cx="6535062" cy="38772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34364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ED341-E617-165F-0439-AD8528F1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캐시 </a:t>
            </a:r>
            <a:r>
              <a:rPr lang="en-US" altLang="ko-KR"/>
              <a:t>hit Postman</a:t>
            </a:r>
            <a:r>
              <a:rPr lang="ko-KR" altLang="en-US"/>
              <a:t> 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6840E3-A11B-B8E7-D4EC-C2EC3C78D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3824"/>
            <a:ext cx="5471565" cy="21971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0CDBF55-FDB7-ABA5-222A-415EC31B9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86987"/>
            <a:ext cx="5471565" cy="22330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38AC34D-AC60-1CCC-40FF-A17B72BA5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435" y="2005067"/>
            <a:ext cx="4808615" cy="221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70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7F375-6159-BCCA-AF2F-223AA531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캐시 미적용 </a:t>
            </a:r>
            <a:r>
              <a:rPr lang="en-US" altLang="ko-KR"/>
              <a:t>Postman </a:t>
            </a:r>
            <a:r>
              <a:rPr lang="ko-KR" altLang="en-US"/>
              <a:t>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88F2B4-D746-A485-D718-39262DEA7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03" y="1809524"/>
            <a:ext cx="7073672" cy="206974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F6514D-A7C5-767D-9F50-1E88C38DD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03" y="4048250"/>
            <a:ext cx="6058746" cy="27626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1BE8105-A72A-955B-1B6D-CCE9B30EC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03" y="4493491"/>
            <a:ext cx="8211696" cy="2762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53C4767-3039-AB8D-9994-24CB22759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203" y="4938732"/>
            <a:ext cx="10888595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578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C7653-CCD4-5BE6-A66E-DA4588892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49E30-F1A8-16E7-46E9-91B046A7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캐시 미적용 </a:t>
            </a:r>
            <a:r>
              <a:rPr lang="en-US" altLang="ko-KR"/>
              <a:t>Postman </a:t>
            </a:r>
            <a:r>
              <a:rPr lang="ko-KR" altLang="en-US"/>
              <a:t>테스트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D7A365-5DCE-440F-A627-8F91FD0D75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358"/>
          <a:stretch>
            <a:fillRect/>
          </a:stretch>
        </p:blipFill>
        <p:spPr>
          <a:xfrm>
            <a:off x="175493" y="1827590"/>
            <a:ext cx="3740726" cy="44897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4AF0777-1414-724A-C05D-2369ABD9D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273" y="1827590"/>
            <a:ext cx="6330818" cy="291917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05D6056-2D5A-6662-28B9-120EE7BF1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192" y="4836991"/>
            <a:ext cx="2676899" cy="38105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70AB314-DAE9-34E9-CF50-B00C987696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6297" y="5308274"/>
            <a:ext cx="3000794" cy="44773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59AFAF3-2CEE-2808-A964-D61192EDF1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3349" y="5846241"/>
            <a:ext cx="3343742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84459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183</TotalTime>
  <Words>217</Words>
  <Application>Microsoft Office PowerPoint</Application>
  <PresentationFormat>와이드스크린</PresentationFormat>
  <Paragraphs>59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Calibri</vt:lpstr>
      <vt:lpstr>Calibri Light</vt:lpstr>
      <vt:lpstr>추억</vt:lpstr>
      <vt:lpstr>AWS Redis 구성하기</vt:lpstr>
      <vt:lpstr>AWS 아키텍쳐 구성</vt:lpstr>
      <vt:lpstr>EC2 서버 생성</vt:lpstr>
      <vt:lpstr>EC2 서버 생성</vt:lpstr>
      <vt:lpstr>RDS(DB) 생성</vt:lpstr>
      <vt:lpstr>RDS(DB) 생성</vt:lpstr>
      <vt:lpstr>RDS(DB) 생성</vt:lpstr>
      <vt:lpstr>EC2 서버 - Redis 프로그램 셋팅</vt:lpstr>
      <vt:lpstr>EC2 서버 - Spring Application 셋팅</vt:lpstr>
      <vt:lpstr>EC2 서버 - Spring Application 셋팅</vt:lpstr>
      <vt:lpstr>java application 실행</vt:lpstr>
      <vt:lpstr>DB 데이터 셋팅</vt:lpstr>
      <vt:lpstr>캐시 hit Postman 테스트</vt:lpstr>
      <vt:lpstr>캐시 미적용 Postman 테스트</vt:lpstr>
      <vt:lpstr>캐시 미적용 Postman 테스트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40</cp:revision>
  <dcterms:created xsi:type="dcterms:W3CDTF">2026-08-25T05:58:04Z</dcterms:created>
  <dcterms:modified xsi:type="dcterms:W3CDTF">2026-08-25T09:01:10Z</dcterms:modified>
</cp:coreProperties>
</file>