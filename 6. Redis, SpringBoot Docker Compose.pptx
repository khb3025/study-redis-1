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5" r:id="rId12"/>
    <p:sldId id="266" r:id="rId13"/>
  </p:sldIdLst>
  <p:sldSz cx="12192000" cy="6858000"/>
  <p:notesSz cx="7105650" cy="10236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967B4C8-90CD-4487-B53E-0C643BB31829}">
          <p14:sldIdLst>
            <p14:sldId id="256"/>
          </p14:sldIdLst>
        </p14:section>
        <p14:section name="Local Docker 컨테이너 구성하기" id="{7AC694F0-759B-4D8B-9624-324D1348F418}">
          <p14:sldIdLst>
            <p14:sldId id="257"/>
            <p14:sldId id="258"/>
            <p14:sldId id="259"/>
            <p14:sldId id="260"/>
          </p14:sldIdLst>
        </p14:section>
        <p14:section name="AWS EC2에 Docker 구성하기" id="{968AC108-CECF-4954-8632-161044FFED3E}">
          <p14:sldIdLst>
            <p14:sldId id="261"/>
            <p14:sldId id="262"/>
            <p14:sldId id="267"/>
            <p14:sldId id="263"/>
            <p14:sldId id="264"/>
            <p14:sldId id="265"/>
            <p14:sldId id="26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6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C58C-5740-4BA0-AD61-ACBC784FE2E4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B543A-279D-4499-A1D1-5F20FD1B655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8003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C58C-5740-4BA0-AD61-ACBC784FE2E4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B543A-279D-4499-A1D1-5F20FD1B65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8446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C58C-5740-4BA0-AD61-ACBC784FE2E4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B543A-279D-4499-A1D1-5F20FD1B655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6594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C58C-5740-4BA0-AD61-ACBC784FE2E4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B543A-279D-4499-A1D1-5F20FD1B65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7529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C58C-5740-4BA0-AD61-ACBC784FE2E4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B543A-279D-4499-A1D1-5F20FD1B65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1852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C58C-5740-4BA0-AD61-ACBC784FE2E4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B543A-279D-4499-A1D1-5F20FD1B65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9959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C58C-5740-4BA0-AD61-ACBC784FE2E4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B543A-279D-4499-A1D1-5F20FD1B65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8821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B40C58C-5740-4BA0-AD61-ACBC784FE2E4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E2B543A-279D-4499-A1D1-5F20FD1B65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7900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C58C-5740-4BA0-AD61-ACBC784FE2E4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B543A-279D-4499-A1D1-5F20FD1B65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501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C58C-5740-4BA0-AD61-ACBC784FE2E4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B543A-279D-4499-A1D1-5F20FD1B65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1281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C58C-5740-4BA0-AD61-ACBC784FE2E4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B543A-279D-4499-A1D1-5F20FD1B65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3961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B40C58C-5740-4BA0-AD61-ACBC784FE2E4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E2B543A-279D-4499-A1D1-5F20FD1B655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5075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ownload.docker.com/linux/ubuntu/gpg%20-o%20/etc/apt/keyrings/docker.asc" TargetMode="Externa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F4BFF9-37E4-2466-75FC-EC1A665522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5400"/>
              <a:t>도커 컨테이너로 인프라 구성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7289174-18EB-D626-8412-B6009B8D14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/>
              <a:t>Redis / SpringBoot </a:t>
            </a:r>
            <a:r>
              <a:rPr lang="ko-KR" altLang="en-US"/>
              <a:t>구성 가상환경을 </a:t>
            </a:r>
            <a:r>
              <a:rPr lang="en-US" altLang="ko-KR"/>
              <a:t>docker</a:t>
            </a:r>
            <a:r>
              <a:rPr lang="ko-KR" altLang="en-US"/>
              <a:t>를 통해 올리기</a:t>
            </a:r>
          </a:p>
        </p:txBody>
      </p:sp>
    </p:spTree>
    <p:extLst>
      <p:ext uri="{BB962C8B-B14F-4D97-AF65-F5344CB8AC3E}">
        <p14:creationId xmlns:p14="http://schemas.microsoft.com/office/powerpoint/2010/main" val="227921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D0AD36-53F3-8BCC-29B7-A5D527F7E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Application Dockerfile </a:t>
            </a:r>
            <a:r>
              <a:rPr lang="ko-KR" altLang="en-US" sz="3600"/>
              <a:t>작성하기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361C87-C2BE-4CBB-E4B5-7E1EBB97482D}"/>
              </a:ext>
            </a:extLst>
          </p:cNvPr>
          <p:cNvSpPr txBox="1"/>
          <p:nvPr/>
        </p:nvSpPr>
        <p:spPr>
          <a:xfrm>
            <a:off x="2863273" y="1855864"/>
            <a:ext cx="6096000" cy="82496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eclipse-temurin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17-jdk</a:t>
            </a: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redisinspring/build/libs/*SNAPSHOT.jar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app.jar</a:t>
            </a: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ENTRYPOINT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"java"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"-jar"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"/app.jar"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B9B2341-78A5-BD44-1181-816C5E801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782" y="1855864"/>
            <a:ext cx="2200582" cy="4715533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679C0613-8347-56A6-9331-749D1A909BC2}"/>
              </a:ext>
            </a:extLst>
          </p:cNvPr>
          <p:cNvSpPr/>
          <p:nvPr/>
        </p:nvSpPr>
        <p:spPr>
          <a:xfrm>
            <a:off x="628073" y="6077526"/>
            <a:ext cx="1099127" cy="2124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55C1390-6856-6133-8AE9-EE1CFC32F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8182" y="1855864"/>
            <a:ext cx="2748379" cy="14507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A278AC8-757D-A49B-F1A4-75076E0B5C04}"/>
              </a:ext>
            </a:extLst>
          </p:cNvPr>
          <p:cNvSpPr txBox="1"/>
          <p:nvPr/>
        </p:nvSpPr>
        <p:spPr>
          <a:xfrm>
            <a:off x="10658764" y="2050473"/>
            <a:ext cx="1071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구 버전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B14756-7816-E894-AA8D-5AF636179A21}"/>
              </a:ext>
            </a:extLst>
          </p:cNvPr>
          <p:cNvSpPr txBox="1"/>
          <p:nvPr/>
        </p:nvSpPr>
        <p:spPr>
          <a:xfrm>
            <a:off x="2863273" y="2780145"/>
            <a:ext cx="600363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Dockerfile : </a:t>
            </a:r>
            <a:r>
              <a:rPr lang="ko-KR" altLang="en-US" sz="1200"/>
              <a:t>사용자지정 컨테이너  생성 파일  </a:t>
            </a:r>
            <a:r>
              <a:rPr lang="en-US" altLang="ko-KR" sz="1200"/>
              <a:t>(</a:t>
            </a:r>
            <a:r>
              <a:rPr lang="ko-KR" altLang="en-US" sz="1200"/>
              <a:t>이미지 파일</a:t>
            </a:r>
            <a:r>
              <a:rPr lang="en-US" altLang="ko-KR" sz="1200"/>
              <a:t>)</a:t>
            </a:r>
          </a:p>
          <a:p>
            <a:endParaRPr lang="en-US" altLang="ko-KR" sz="1200"/>
          </a:p>
          <a:p>
            <a:r>
              <a:rPr lang="en-US" altLang="ko-KR" sz="1200"/>
              <a:t>※ </a:t>
            </a:r>
            <a:r>
              <a:rPr lang="ko-KR" altLang="en-US" sz="1200"/>
              <a:t>자바 애플리케이션을 </a:t>
            </a:r>
            <a:r>
              <a:rPr lang="en-US" altLang="ko-KR" sz="1200"/>
              <a:t>docker Container</a:t>
            </a:r>
            <a:r>
              <a:rPr lang="ko-KR" altLang="en-US" sz="1200"/>
              <a:t>로 구성해주는 명령어가 변경되어 </a:t>
            </a:r>
            <a:br>
              <a:rPr lang="en-US" altLang="ko-KR" sz="1200"/>
            </a:br>
            <a:r>
              <a:rPr lang="en-US" altLang="ko-KR" sz="1200"/>
              <a:t>     FROM openjdk:17-jdk </a:t>
            </a:r>
            <a:r>
              <a:rPr lang="ko-KR" altLang="en-US" sz="1200"/>
              <a:t>는 더 이상 지원되지 않는다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en-US" altLang="ko-KR" sz="1200"/>
              <a:t>FROM : </a:t>
            </a:r>
            <a:r>
              <a:rPr lang="ko-KR" altLang="en-US" sz="1200"/>
              <a:t>새로 만들 이미지가 어떤 </a:t>
            </a:r>
            <a:r>
              <a:rPr lang="ko-KR" altLang="en-US" sz="1200" b="1"/>
              <a:t>베이스 이미지</a:t>
            </a:r>
            <a:r>
              <a:rPr lang="ko-KR" altLang="en-US" sz="1200"/>
              <a:t> 위에 얹혀질지를 지정</a:t>
            </a:r>
            <a:endParaRPr lang="en-US" altLang="ko-KR" sz="1200"/>
          </a:p>
          <a:p>
            <a:r>
              <a:rPr lang="en-US" altLang="ko-KR" sz="1200"/>
              <a:t>COPY : </a:t>
            </a:r>
            <a:r>
              <a:rPr lang="ko-KR" altLang="en-US" sz="1200"/>
              <a:t>호스트 파일이나 디렉토리를 이미지 내부로 넣는 명령어</a:t>
            </a:r>
            <a:endParaRPr lang="en-US" altLang="ko-KR" sz="1200"/>
          </a:p>
          <a:p>
            <a:r>
              <a:rPr lang="en-US" altLang="ko-KR" sz="1200"/>
              <a:t>ENTRYPOINT : </a:t>
            </a:r>
            <a:r>
              <a:rPr lang="ko-KR" altLang="en-US" sz="1200"/>
              <a:t>이 이미지로 만든 </a:t>
            </a:r>
            <a:r>
              <a:rPr lang="ko-KR" altLang="en-US" sz="1200" b="1"/>
              <a:t>컨테이너가 시작될 때 실행할 명령어</a:t>
            </a:r>
            <a:r>
              <a:rPr lang="ko-KR" altLang="en-US" sz="1200"/>
              <a:t>를 고정합니다</a:t>
            </a:r>
            <a:r>
              <a:rPr lang="en-US" altLang="ko-KR" sz="1200"/>
              <a:t>. </a:t>
            </a:r>
          </a:p>
          <a:p>
            <a:endParaRPr lang="en-US" altLang="ko-KR" sz="1200"/>
          </a:p>
          <a:p>
            <a:endParaRPr lang="en-US" altLang="ko-KR" sz="1200"/>
          </a:p>
          <a:p>
            <a:r>
              <a:rPr lang="en-US" altLang="ko-KR" sz="1200"/>
              <a:t>※ application java</a:t>
            </a:r>
            <a:r>
              <a:rPr lang="ko-KR" altLang="en-US" sz="1200"/>
              <a:t> 실행 파일이있는 </a:t>
            </a:r>
            <a:r>
              <a:rPr lang="en-US" altLang="ko-KR" sz="1200"/>
              <a:t>redisinspring/build/libs </a:t>
            </a:r>
            <a:r>
              <a:rPr lang="ko-KR" altLang="en-US" sz="1200"/>
              <a:t>경로의 </a:t>
            </a:r>
            <a:r>
              <a:rPr lang="en-US" altLang="ko-KR" sz="1200"/>
              <a:t>*SNAPSHOT.jar </a:t>
            </a:r>
            <a:r>
              <a:rPr lang="ko-KR" altLang="en-US" sz="1200"/>
              <a:t>파일을 </a:t>
            </a:r>
            <a:br>
              <a:rPr lang="en-US" altLang="ko-KR" sz="1200"/>
            </a:br>
            <a:r>
              <a:rPr lang="en-US" altLang="ko-KR" sz="1200"/>
              <a:t>    </a:t>
            </a:r>
            <a:r>
              <a:rPr lang="ko-KR" altLang="en-US" sz="1200"/>
              <a:t>컨테이너 이미지 내부에 </a:t>
            </a:r>
            <a:r>
              <a:rPr lang="en-US" altLang="ko-KR" sz="1200"/>
              <a:t>app.jar </a:t>
            </a:r>
            <a:r>
              <a:rPr lang="ko-KR" altLang="en-US" sz="1200"/>
              <a:t>이름으로 생성한다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3060614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E5A308-CDAA-DD6E-2AD3-962358C95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compose.yml </a:t>
            </a:r>
            <a:r>
              <a:rPr lang="ko-KR" altLang="en-US"/>
              <a:t>파일 작성하기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E684C16-87DB-F30C-9CC4-92C0DC2D754F}"/>
              </a:ext>
            </a:extLst>
          </p:cNvPr>
          <p:cNvGrpSpPr/>
          <p:nvPr/>
        </p:nvGrpSpPr>
        <p:grpSpPr>
          <a:xfrm>
            <a:off x="543782" y="1855864"/>
            <a:ext cx="2200582" cy="4715533"/>
            <a:chOff x="543782" y="1855864"/>
            <a:chExt cx="2200582" cy="4715533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D91AF1AD-144F-EDAF-6922-7611645C4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3782" y="1855864"/>
              <a:ext cx="2200582" cy="4715533"/>
            </a:xfrm>
            <a:prstGeom prst="rect">
              <a:avLst/>
            </a:prstGeom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D80414FF-61AA-DC04-8AED-2506D4F7171E}"/>
                </a:ext>
              </a:extLst>
            </p:cNvPr>
            <p:cNvSpPr/>
            <p:nvPr/>
          </p:nvSpPr>
          <p:spPr>
            <a:xfrm>
              <a:off x="609600" y="5865091"/>
              <a:ext cx="1080655" cy="2032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A6BC4F0-6BB3-509D-56F3-FBBC8B9B467F}"/>
              </a:ext>
            </a:extLst>
          </p:cNvPr>
          <p:cNvSpPr txBox="1"/>
          <p:nvPr/>
        </p:nvSpPr>
        <p:spPr>
          <a:xfrm>
            <a:off x="2890982" y="1855864"/>
            <a:ext cx="3851564" cy="297940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services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api-server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build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altLang="ko-KR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ports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altLang="ko-KR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"8080:8080"</a:t>
            </a:r>
            <a:endParaRPr lang="en-US" altLang="ko-KR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depends_on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2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cache-server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condition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service_healthy</a:t>
            </a:r>
            <a:endParaRPr lang="en-US" altLang="ko-KR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cache-server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redis</a:t>
            </a:r>
            <a:endParaRPr lang="en-US" altLang="ko-KR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ports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altLang="ko-KR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"6379:6379"</a:t>
            </a:r>
            <a:endParaRPr lang="en-US" altLang="ko-KR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healthcheck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2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en-US" altLang="ko-KR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"CMD"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"redis-cli"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"ping"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2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interval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5s</a:t>
            </a:r>
            <a:endParaRPr lang="en-US" altLang="ko-KR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200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retries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endParaRPr lang="en-US" altLang="ko-KR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DA73A6-3C9C-FD9A-1E71-D71953DA815A}"/>
              </a:ext>
            </a:extLst>
          </p:cNvPr>
          <p:cNvSpPr txBox="1"/>
          <p:nvPr/>
        </p:nvSpPr>
        <p:spPr>
          <a:xfrm>
            <a:off x="6844145" y="1921164"/>
            <a:ext cx="4950691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api-server : </a:t>
            </a:r>
            <a:r>
              <a:rPr lang="en-US" altLang="ko-KR" sz="1100">
                <a:sym typeface="Wingdings" panose="05000000000000000000" pitchFamily="2" charset="2"/>
              </a:rPr>
              <a:t> </a:t>
            </a:r>
            <a:r>
              <a:rPr lang="ko-KR" altLang="en-US" sz="1100">
                <a:sym typeface="Wingdings" panose="05000000000000000000" pitchFamily="2" charset="2"/>
              </a:rPr>
              <a:t>생성할 사용자 지정 컨테이너 명</a:t>
            </a:r>
            <a:endParaRPr lang="en-US" altLang="ko-KR" sz="1100">
              <a:sym typeface="Wingdings" panose="05000000000000000000" pitchFamily="2" charset="2"/>
            </a:endParaRPr>
          </a:p>
          <a:p>
            <a:r>
              <a:rPr lang="en-US" altLang="ko-KR" sz="1100"/>
              <a:t>build: . </a:t>
            </a:r>
            <a:r>
              <a:rPr lang="en-US" altLang="ko-KR" sz="1100">
                <a:sym typeface="Wingdings" panose="05000000000000000000" pitchFamily="2" charset="2"/>
              </a:rPr>
              <a:t> </a:t>
            </a:r>
            <a:r>
              <a:rPr lang="ko-KR" altLang="en-US" sz="1100">
                <a:sym typeface="Wingdings" panose="05000000000000000000" pitchFamily="2" charset="2"/>
              </a:rPr>
              <a:t>작성하고 있는 </a:t>
            </a:r>
            <a:r>
              <a:rPr lang="en-US" altLang="ko-KR" sz="1100">
                <a:sym typeface="Wingdings" panose="05000000000000000000" pitchFamily="2" charset="2"/>
              </a:rPr>
              <a:t>compose.yml </a:t>
            </a:r>
            <a:r>
              <a:rPr lang="ko-KR" altLang="en-US" sz="1100">
                <a:sym typeface="Wingdings" panose="05000000000000000000" pitchFamily="2" charset="2"/>
              </a:rPr>
              <a:t>파일 기준 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              </a:t>
            </a:r>
            <a:r>
              <a:rPr lang="ko-KR" altLang="en-US" sz="1100">
                <a:sym typeface="Wingdings" panose="05000000000000000000" pitchFamily="2" charset="2"/>
              </a:rPr>
              <a:t>상대 경로로써 </a:t>
            </a:r>
            <a:r>
              <a:rPr lang="en-US" altLang="ko-KR" sz="1100">
                <a:sym typeface="Wingdings" panose="05000000000000000000" pitchFamily="2" charset="2"/>
              </a:rPr>
              <a:t>Dockerfile(</a:t>
            </a:r>
            <a:r>
              <a:rPr lang="ko-KR" altLang="en-US" sz="1100">
                <a:sym typeface="Wingdings" panose="05000000000000000000" pitchFamily="2" charset="2"/>
              </a:rPr>
              <a:t>사용자 작성 이미지 파일</a:t>
            </a:r>
            <a:r>
              <a:rPr lang="en-US" altLang="ko-KR" sz="1100">
                <a:sym typeface="Wingdings" panose="05000000000000000000" pitchFamily="2" charset="2"/>
              </a:rPr>
              <a:t>)</a:t>
            </a:r>
            <a:r>
              <a:rPr lang="ko-KR" altLang="en-US" sz="1100">
                <a:sym typeface="Wingdings" panose="05000000000000000000" pitchFamily="2" charset="2"/>
              </a:rPr>
              <a:t>을 찾음</a:t>
            </a:r>
            <a:r>
              <a:rPr lang="en-US" altLang="ko-KR" sz="1100">
                <a:sym typeface="Wingdings" panose="05000000000000000000" pitchFamily="2" charset="2"/>
              </a:rPr>
              <a:t>.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              </a:t>
            </a:r>
            <a:r>
              <a:rPr lang="ko-KR" altLang="en-US" sz="1100">
                <a:sym typeface="Wingdings" panose="05000000000000000000" pitchFamily="2" charset="2"/>
              </a:rPr>
              <a:t>사용자가 작성한 </a:t>
            </a:r>
            <a:r>
              <a:rPr lang="en-US" altLang="ko-KR" sz="1100">
                <a:sym typeface="Wingdings" panose="05000000000000000000" pitchFamily="2" charset="2"/>
              </a:rPr>
              <a:t>Dockerfile(</a:t>
            </a:r>
            <a:r>
              <a:rPr lang="ko-KR" altLang="en-US" sz="1100">
                <a:sym typeface="Wingdings" panose="05000000000000000000" pitchFamily="2" charset="2"/>
              </a:rPr>
              <a:t>이미지 파일</a:t>
            </a:r>
            <a:r>
              <a:rPr lang="en-US" altLang="ko-KR" sz="1100">
                <a:sym typeface="Wingdings" panose="05000000000000000000" pitchFamily="2" charset="2"/>
              </a:rPr>
              <a:t>)</a:t>
            </a:r>
            <a:r>
              <a:rPr lang="ko-KR" altLang="en-US" sz="1100">
                <a:sym typeface="Wingdings" panose="05000000000000000000" pitchFamily="2" charset="2"/>
              </a:rPr>
              <a:t>로 컨테이너 생성</a:t>
            </a:r>
            <a:endParaRPr lang="en-US" altLang="ko-KR" sz="1100"/>
          </a:p>
          <a:p>
            <a:r>
              <a:rPr lang="en-US" altLang="ko-KR" sz="1100"/>
              <a:t>ports</a:t>
            </a:r>
            <a:r>
              <a:rPr lang="ko-KR" altLang="en-US" sz="1100"/>
              <a:t>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- "8080:8080" </a:t>
            </a:r>
            <a:r>
              <a:rPr lang="en-US" altLang="ko-KR" sz="1100">
                <a:sym typeface="Wingdings" panose="05000000000000000000" pitchFamily="2" charset="2"/>
              </a:rPr>
              <a:t> </a:t>
            </a:r>
            <a:r>
              <a:rPr lang="ko-KR" altLang="en-US" sz="1100"/>
              <a:t>컨테이너 </a:t>
            </a:r>
            <a:r>
              <a:rPr lang="en-US" altLang="ko-KR" sz="1100"/>
              <a:t>Open </a:t>
            </a:r>
            <a:r>
              <a:rPr lang="ko-KR" altLang="en-US" sz="1100"/>
              <a:t>포트 설정</a:t>
            </a:r>
            <a:endParaRPr lang="en-US" altLang="ko-KR" sz="1100"/>
          </a:p>
          <a:p>
            <a:endParaRPr lang="en-US" altLang="ko-KR" sz="1100"/>
          </a:p>
          <a:p>
            <a:endParaRPr lang="en-US" altLang="ko-KR" sz="1100"/>
          </a:p>
          <a:p>
            <a:r>
              <a:rPr lang="en-US" altLang="ko-KR" sz="1100"/>
              <a:t>depends_on : </a:t>
            </a:r>
            <a:r>
              <a:rPr lang="en-US" altLang="ko-KR" sz="1100">
                <a:sym typeface="Wingdings" panose="05000000000000000000" pitchFamily="2" charset="2"/>
              </a:rPr>
              <a:t> </a:t>
            </a:r>
            <a:r>
              <a:rPr lang="ko-KR" altLang="en-US" sz="1100">
                <a:sym typeface="Wingdings" panose="05000000000000000000" pitchFamily="2" charset="2"/>
              </a:rPr>
              <a:t>의존적 구성 설정 </a:t>
            </a:r>
            <a:r>
              <a:rPr lang="en-US" altLang="ko-KR" sz="1100">
                <a:sym typeface="Wingdings" panose="05000000000000000000" pitchFamily="2" charset="2"/>
              </a:rPr>
              <a:t>cache-server</a:t>
            </a:r>
            <a:r>
              <a:rPr lang="ko-KR" altLang="en-US" sz="1100">
                <a:sym typeface="Wingdings" panose="05000000000000000000" pitchFamily="2" charset="2"/>
              </a:rPr>
              <a:t>의 서비스가 살아있을 때 실행</a:t>
            </a:r>
            <a:br>
              <a:rPr lang="en-US" altLang="ko-KR" sz="1100"/>
            </a:br>
            <a:r>
              <a:rPr lang="en-US" altLang="ko-KR" sz="1100"/>
              <a:t> 	cache-server:</a:t>
            </a:r>
          </a:p>
          <a:p>
            <a:r>
              <a:rPr lang="en-US" altLang="ko-KR" sz="1100"/>
              <a:t>		condition : servicehealthy  </a:t>
            </a:r>
          </a:p>
          <a:p>
            <a:endParaRPr lang="en-US" altLang="ko-KR" sz="1100"/>
          </a:p>
          <a:p>
            <a:r>
              <a:rPr lang="en-US" altLang="ko-KR" sz="1100"/>
              <a:t>-----------------------------------------------------</a:t>
            </a:r>
          </a:p>
          <a:p>
            <a:r>
              <a:rPr lang="en-US" altLang="ko-KR" sz="1100"/>
              <a:t>cache-server:</a:t>
            </a:r>
            <a:r>
              <a:rPr lang="ko-KR" altLang="en-US" sz="1100"/>
              <a:t> </a:t>
            </a:r>
            <a:r>
              <a:rPr lang="en-US" altLang="ko-KR" sz="1100">
                <a:sym typeface="Wingdings" panose="05000000000000000000" pitchFamily="2" charset="2"/>
              </a:rPr>
              <a:t> </a:t>
            </a:r>
            <a:r>
              <a:rPr lang="ko-KR" altLang="en-US" sz="1100">
                <a:sym typeface="Wingdings" panose="05000000000000000000" pitchFamily="2" charset="2"/>
              </a:rPr>
              <a:t>생성할 컨테이너 명 </a:t>
            </a:r>
            <a:r>
              <a:rPr lang="en-US" altLang="ko-KR" sz="1100">
                <a:sym typeface="Wingdings" panose="05000000000000000000" pitchFamily="2" charset="2"/>
              </a:rPr>
              <a:t>(</a:t>
            </a:r>
            <a:r>
              <a:rPr lang="ko-KR" altLang="en-US" sz="1100">
                <a:sym typeface="Wingdings" panose="05000000000000000000" pitchFamily="2" charset="2"/>
              </a:rPr>
              <a:t>사용자가 명명</a:t>
            </a:r>
            <a:r>
              <a:rPr lang="en-US" altLang="ko-KR" sz="1100">
                <a:sym typeface="Wingdings" panose="05000000000000000000" pitchFamily="2" charset="2"/>
              </a:rPr>
              <a:t>)</a:t>
            </a:r>
          </a:p>
          <a:p>
            <a:r>
              <a:rPr lang="en-US" altLang="ko-KR" sz="1100">
                <a:sym typeface="Wingdings" panose="05000000000000000000" pitchFamily="2" charset="2"/>
              </a:rPr>
              <a:t>images: redis</a:t>
            </a:r>
            <a:r>
              <a:rPr lang="ko-KR" altLang="en-US" sz="1100">
                <a:sym typeface="Wingdings" panose="05000000000000000000" pitchFamily="2" charset="2"/>
              </a:rPr>
              <a:t> </a:t>
            </a:r>
            <a:r>
              <a:rPr lang="en-US" altLang="ko-KR" sz="1100">
                <a:sym typeface="Wingdings" panose="05000000000000000000" pitchFamily="2" charset="2"/>
              </a:rPr>
              <a:t></a:t>
            </a:r>
            <a:r>
              <a:rPr lang="ko-KR" altLang="en-US" sz="1100">
                <a:sym typeface="Wingdings" panose="05000000000000000000" pitchFamily="2" charset="2"/>
              </a:rPr>
              <a:t> </a:t>
            </a:r>
            <a:r>
              <a:rPr lang="en-US" altLang="ko-KR" sz="1100">
                <a:sym typeface="Wingdings" panose="05000000000000000000" pitchFamily="2" charset="2"/>
              </a:rPr>
              <a:t>redis</a:t>
            </a:r>
            <a:r>
              <a:rPr lang="ko-KR" altLang="en-US" sz="1100">
                <a:sym typeface="Wingdings" panose="05000000000000000000" pitchFamily="2" charset="2"/>
              </a:rPr>
              <a:t>에서 제공하는 컨테이너 이미지로 </a:t>
            </a:r>
            <a:r>
              <a:rPr lang="en-US" altLang="ko-KR" sz="1100">
                <a:sym typeface="Wingdings" panose="05000000000000000000" pitchFamily="2" charset="2"/>
              </a:rPr>
              <a:t> </a:t>
            </a:r>
            <a:r>
              <a:rPr lang="ko-KR" altLang="en-US" sz="1100">
                <a:sym typeface="Wingdings" panose="05000000000000000000" pitchFamily="2" charset="2"/>
              </a:rPr>
              <a:t>컨테이너 생성</a:t>
            </a:r>
            <a:endParaRPr lang="en-US" altLang="ko-KR" sz="1100">
              <a:sym typeface="Wingdings" panose="05000000000000000000" pitchFamily="2" charset="2"/>
            </a:endParaRPr>
          </a:p>
          <a:p>
            <a:r>
              <a:rPr lang="en-US" altLang="ko-KR" sz="1100"/>
              <a:t>ports</a:t>
            </a:r>
            <a:r>
              <a:rPr lang="ko-KR" altLang="en-US" sz="1100"/>
              <a:t> </a:t>
            </a:r>
            <a:r>
              <a:rPr lang="en-US" altLang="ko-KR" sz="1100"/>
              <a:t>:  </a:t>
            </a:r>
            <a:r>
              <a:rPr lang="en-US" altLang="ko-KR" sz="1100">
                <a:sym typeface="Wingdings" panose="05000000000000000000" pitchFamily="2" charset="2"/>
              </a:rPr>
              <a:t> Redis</a:t>
            </a:r>
            <a:r>
              <a:rPr lang="ko-KR" altLang="en-US" sz="1100">
                <a:sym typeface="Wingdings" panose="05000000000000000000" pitchFamily="2" charset="2"/>
              </a:rPr>
              <a:t> 프로그램 기본 포트 </a:t>
            </a:r>
            <a:r>
              <a:rPr lang="en-US" altLang="ko-KR" sz="1100">
                <a:sym typeface="Wingdings" panose="05000000000000000000" pitchFamily="2" charset="2"/>
              </a:rPr>
              <a:t>6379</a:t>
            </a:r>
            <a:br>
              <a:rPr lang="en-US" altLang="ko-KR" sz="1100"/>
            </a:br>
            <a:r>
              <a:rPr lang="ko-KR" altLang="en-US" sz="1100"/>
              <a:t>     </a:t>
            </a:r>
            <a:r>
              <a:rPr lang="en-US" altLang="ko-KR" sz="1100"/>
              <a:t>-</a:t>
            </a:r>
            <a:r>
              <a:rPr lang="ko-KR" altLang="en-US" sz="1100"/>
              <a:t> </a:t>
            </a:r>
            <a:r>
              <a:rPr lang="en-US" altLang="ko-KR" sz="1100"/>
              <a:t>"6379:6379"</a:t>
            </a:r>
          </a:p>
          <a:p>
            <a:r>
              <a:rPr lang="en-US" altLang="ko-KR" sz="1100"/>
              <a:t>healthcheck: </a:t>
            </a:r>
            <a:r>
              <a:rPr lang="en-US" altLang="ko-KR" sz="1100">
                <a:sym typeface="Wingdings" panose="05000000000000000000" pitchFamily="2" charset="2"/>
              </a:rPr>
              <a:t> cache-serve</a:t>
            </a:r>
            <a:r>
              <a:rPr lang="ko-KR" altLang="en-US" sz="1100">
                <a:sym typeface="Wingdings" panose="05000000000000000000" pitchFamily="2" charset="2"/>
              </a:rPr>
              <a:t>의 </a:t>
            </a:r>
            <a:r>
              <a:rPr lang="en-US" altLang="ko-KR" sz="1100">
                <a:sym typeface="Wingdings" panose="05000000000000000000" pitchFamily="2" charset="2"/>
              </a:rPr>
              <a:t>health </a:t>
            </a:r>
            <a:r>
              <a:rPr lang="ko-KR" altLang="en-US" sz="1100">
                <a:sym typeface="Wingdings" panose="05000000000000000000" pitchFamily="2" charset="2"/>
              </a:rPr>
              <a:t>체크 설정 </a:t>
            </a:r>
            <a:r>
              <a:rPr lang="en-US" altLang="ko-KR" sz="1100">
                <a:sym typeface="Wingdings" panose="05000000000000000000" pitchFamily="2" charset="2"/>
              </a:rPr>
              <a:t>CMD </a:t>
            </a:r>
            <a:r>
              <a:rPr lang="ko-KR" altLang="en-US" sz="1100">
                <a:sym typeface="Wingdings" panose="05000000000000000000" pitchFamily="2" charset="2"/>
              </a:rPr>
              <a:t>로 </a:t>
            </a:r>
            <a:r>
              <a:rPr lang="en-US" altLang="ko-KR" sz="1100">
                <a:sym typeface="Wingdings" panose="05000000000000000000" pitchFamily="2" charset="2"/>
              </a:rPr>
              <a:t>redis-cli </a:t>
            </a:r>
            <a:r>
              <a:rPr lang="ko-KR" altLang="en-US" sz="1100">
                <a:sym typeface="Wingdings" panose="05000000000000000000" pitchFamily="2" charset="2"/>
              </a:rPr>
              <a:t>에 </a:t>
            </a:r>
            <a:r>
              <a:rPr lang="en-US" altLang="ko-KR" sz="1100">
                <a:sym typeface="Wingdings" panose="05000000000000000000" pitchFamily="2" charset="2"/>
              </a:rPr>
              <a:t>ping</a:t>
            </a:r>
            <a:r>
              <a:rPr lang="ko-KR" altLang="en-US" sz="1100">
                <a:sym typeface="Wingdings" panose="05000000000000000000" pitchFamily="2" charset="2"/>
              </a:rPr>
              <a:t> 명령을 </a:t>
            </a:r>
            <a:r>
              <a:rPr lang="en-US" altLang="ko-KR" sz="1100">
                <a:sym typeface="Wingdings" panose="05000000000000000000" pitchFamily="2" charset="2"/>
              </a:rPr>
              <a:t>		</a:t>
            </a:r>
            <a:r>
              <a:rPr lang="ko-KR" altLang="en-US" sz="1100">
                <a:sym typeface="Wingdings" panose="05000000000000000000" pitchFamily="2" charset="2"/>
              </a:rPr>
              <a:t>던짐</a:t>
            </a:r>
            <a:r>
              <a:rPr lang="en-US" altLang="ko-KR" sz="1100">
                <a:sym typeface="Wingdings" panose="05000000000000000000" pitchFamily="2" charset="2"/>
              </a:rPr>
              <a:t>. 5</a:t>
            </a:r>
            <a:r>
              <a:rPr lang="ko-KR" altLang="en-US" sz="1100">
                <a:sym typeface="Wingdings" panose="05000000000000000000" pitchFamily="2" charset="2"/>
              </a:rPr>
              <a:t>초간격으로 </a:t>
            </a:r>
            <a:r>
              <a:rPr lang="en-US" altLang="ko-KR" sz="1100">
                <a:sym typeface="Wingdings" panose="05000000000000000000" pitchFamily="2" charset="2"/>
              </a:rPr>
              <a:t>10</a:t>
            </a:r>
            <a:r>
              <a:rPr lang="ko-KR" altLang="en-US" sz="1100">
                <a:sym typeface="Wingdings" panose="05000000000000000000" pitchFamily="2" charset="2"/>
              </a:rPr>
              <a:t>번 체크</a:t>
            </a:r>
            <a:endParaRPr lang="en-US" altLang="ko-KR" sz="1100"/>
          </a:p>
          <a:p>
            <a:r>
              <a:rPr lang="en-US" altLang="ko-KR" sz="1100"/>
              <a:t>	test: ["CMD", "redis-cli", "ping"]</a:t>
            </a:r>
          </a:p>
          <a:p>
            <a:r>
              <a:rPr lang="en-US" altLang="ko-KR" sz="1100"/>
              <a:t>	interval : 5s</a:t>
            </a:r>
          </a:p>
          <a:p>
            <a:r>
              <a:rPr lang="en-US" altLang="ko-KR" sz="1100"/>
              <a:t>	retries : 10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2138091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B136D7-DA4E-B735-BF0B-A89835F9B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/>
              <a:t>애플리케이션 설정 변경</a:t>
            </a:r>
            <a:r>
              <a:rPr lang="en-US" altLang="ko-KR" sz="4000"/>
              <a:t>(application.yml)</a:t>
            </a:r>
            <a:endParaRPr lang="ko-KR" altLang="en-US" sz="400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1C32908E-BE44-03B7-FFF6-7B869AD00FCB}"/>
              </a:ext>
            </a:extLst>
          </p:cNvPr>
          <p:cNvGrpSpPr/>
          <p:nvPr/>
        </p:nvGrpSpPr>
        <p:grpSpPr>
          <a:xfrm>
            <a:off x="3221314" y="1857433"/>
            <a:ext cx="4980577" cy="4850325"/>
            <a:chOff x="1198550" y="2030765"/>
            <a:chExt cx="4980577" cy="485032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7B2B5A4-4826-EDBB-F88C-AAE81903DEC7}"/>
                </a:ext>
              </a:extLst>
            </p:cNvPr>
            <p:cNvSpPr txBox="1"/>
            <p:nvPr/>
          </p:nvSpPr>
          <p:spPr>
            <a:xfrm>
              <a:off x="1198550" y="2030765"/>
              <a:ext cx="4980577" cy="4850325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spring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profiles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default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local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b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</a:b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dataSource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url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jdbc:mysql://host.docker.internal:3323/redis-1-db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username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redis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password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password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driver-class-name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com.mysql.cj.jdbc.Driver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b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</a:b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jpa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hibernate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ddl-auto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update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show-sql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100" b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true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data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redis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host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cache-server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port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100" b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6379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b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</a:b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logging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level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org.springfaorwork.cache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debug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2292FC7-2925-2495-FC55-873DDB28F3E3}"/>
                </a:ext>
              </a:extLst>
            </p:cNvPr>
            <p:cNvSpPr/>
            <p:nvPr/>
          </p:nvSpPr>
          <p:spPr>
            <a:xfrm>
              <a:off x="3205018" y="3117389"/>
              <a:ext cx="1570181" cy="32327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4963A5A-80F2-DA60-FB9F-8AC6F1AF20F0}"/>
                </a:ext>
              </a:extLst>
            </p:cNvPr>
            <p:cNvSpPr/>
            <p:nvPr/>
          </p:nvSpPr>
          <p:spPr>
            <a:xfrm>
              <a:off x="2118657" y="5430982"/>
              <a:ext cx="1570181" cy="21705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B2F5086C-F317-EF84-B465-E3CFF1214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57433"/>
            <a:ext cx="1952898" cy="28197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ABF4D40-6E45-41EC-62AC-2E20B3AD3BAF}"/>
              </a:ext>
            </a:extLst>
          </p:cNvPr>
          <p:cNvSpPr txBox="1"/>
          <p:nvPr/>
        </p:nvSpPr>
        <p:spPr>
          <a:xfrm>
            <a:off x="8321964" y="1857433"/>
            <a:ext cx="3666836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docker container </a:t>
            </a:r>
            <a:r>
              <a:rPr lang="ko-KR" altLang="en-US" sz="1200"/>
              <a:t>내부에서 실행한 애플리케이션 프로그램이 </a:t>
            </a:r>
            <a:r>
              <a:rPr lang="en-US" altLang="ko-KR" sz="1200"/>
              <a:t>host</a:t>
            </a:r>
            <a:r>
              <a:rPr lang="ko-KR" altLang="en-US" sz="1200"/>
              <a:t>로 통신하는것 임으로 </a:t>
            </a:r>
            <a:r>
              <a:rPr lang="en-US" altLang="ko-KR" sz="1200"/>
              <a:t>host:docker.internal </a:t>
            </a:r>
            <a:r>
              <a:rPr lang="ko-KR" altLang="en-US" sz="1200"/>
              <a:t>로 변경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en-US" altLang="ko-KR" sz="1200">
                <a:sym typeface="Wingdings" panose="05000000000000000000" pitchFamily="2" charset="2"/>
              </a:rPr>
              <a:t> localhost</a:t>
            </a:r>
            <a:r>
              <a:rPr lang="ko-KR" altLang="en-US" sz="1200">
                <a:sym typeface="Wingdings" panose="05000000000000000000" pitchFamily="2" charset="2"/>
              </a:rPr>
              <a:t>라면 컨테이너 내부의 </a:t>
            </a:r>
            <a:br>
              <a:rPr lang="en-US" altLang="ko-KR" sz="1200">
                <a:sym typeface="Wingdings" panose="05000000000000000000" pitchFamily="2" charset="2"/>
              </a:rPr>
            </a:br>
            <a:r>
              <a:rPr lang="en-US" altLang="ko-KR" sz="1200">
                <a:sym typeface="Wingdings" panose="05000000000000000000" pitchFamily="2" charset="2"/>
              </a:rPr>
              <a:t>     localhost</a:t>
            </a:r>
            <a:r>
              <a:rPr lang="ko-KR" altLang="en-US" sz="1200">
                <a:sym typeface="Wingdings" panose="05000000000000000000" pitchFamily="2" charset="2"/>
              </a:rPr>
              <a:t>라고 인식해버린다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  <a:br>
              <a:rPr lang="en-US" altLang="ko-KR" sz="1200">
                <a:sym typeface="Wingdings" panose="05000000000000000000" pitchFamily="2" charset="2"/>
              </a:rPr>
            </a:br>
            <a:endParaRPr lang="en-US" altLang="ko-KR" sz="1200">
              <a:sym typeface="Wingdings" panose="05000000000000000000" pitchFamily="2" charset="2"/>
            </a:endParaRPr>
          </a:p>
          <a:p>
            <a:endParaRPr lang="en-US" altLang="ko-KR" sz="1200">
              <a:sym typeface="Wingdings" panose="05000000000000000000" pitchFamily="2" charset="2"/>
            </a:endParaRPr>
          </a:p>
          <a:p>
            <a:br>
              <a:rPr lang="en-US" altLang="ko-KR" sz="1200">
                <a:sym typeface="Wingdings" panose="05000000000000000000" pitchFamily="2" charset="2"/>
              </a:rPr>
            </a:br>
            <a:r>
              <a:rPr lang="en-US" altLang="ko-KR" sz="1200">
                <a:sym typeface="Wingdings" panose="05000000000000000000" pitchFamily="2" charset="2"/>
              </a:rPr>
              <a:t>compose.yml </a:t>
            </a:r>
            <a:r>
              <a:rPr lang="ko-KR" altLang="en-US" sz="1200">
                <a:sym typeface="Wingdings" panose="05000000000000000000" pitchFamily="2" charset="2"/>
              </a:rPr>
              <a:t>에서 함께 묶인 </a:t>
            </a:r>
            <a:r>
              <a:rPr lang="en-US" altLang="ko-KR" sz="1200">
                <a:sym typeface="Wingdings" panose="05000000000000000000" pitchFamily="2" charset="2"/>
              </a:rPr>
              <a:t>container</a:t>
            </a:r>
            <a:r>
              <a:rPr lang="ko-KR" altLang="en-US" sz="1200">
                <a:sym typeface="Wingdings" panose="05000000000000000000" pitchFamily="2" charset="2"/>
              </a:rPr>
              <a:t>는 </a:t>
            </a:r>
            <a:br>
              <a:rPr lang="en-US" altLang="ko-KR" sz="1200">
                <a:sym typeface="Wingdings" panose="05000000000000000000" pitchFamily="2" charset="2"/>
              </a:rPr>
            </a:br>
            <a:r>
              <a:rPr lang="en-US" altLang="ko-KR" sz="1200">
                <a:sym typeface="Wingdings" panose="05000000000000000000" pitchFamily="2" charset="2"/>
              </a:rPr>
              <a:t>docker-compose </a:t>
            </a:r>
            <a:r>
              <a:rPr lang="ko-KR" altLang="en-US" sz="1200">
                <a:sym typeface="Wingdings" panose="05000000000000000000" pitchFamily="2" charset="2"/>
              </a:rPr>
              <a:t>네트워킹에 묶여 내장 </a:t>
            </a:r>
            <a:r>
              <a:rPr lang="en-US" altLang="ko-KR" sz="1200">
                <a:sym typeface="Wingdings" panose="05000000000000000000" pitchFamily="2" charset="2"/>
              </a:rPr>
              <a:t>DNS </a:t>
            </a:r>
            <a:r>
              <a:rPr lang="ko-KR" altLang="en-US" sz="1200">
                <a:sym typeface="Wingdings" panose="05000000000000000000" pitchFamily="2" charset="2"/>
              </a:rPr>
              <a:t>서버에 의해 컨테이너 이름을 내부 </a:t>
            </a:r>
            <a:r>
              <a:rPr lang="en-US" altLang="ko-KR" sz="1200">
                <a:sym typeface="Wingdings" panose="05000000000000000000" pitchFamily="2" charset="2"/>
              </a:rPr>
              <a:t>IP</a:t>
            </a:r>
            <a:r>
              <a:rPr lang="ko-KR" altLang="en-US" sz="1200">
                <a:sym typeface="Wingdings" panose="05000000000000000000" pitchFamily="2" charset="2"/>
              </a:rPr>
              <a:t>매핑으로 처리해줌</a:t>
            </a:r>
            <a:endParaRPr lang="en-US" altLang="ko-KR" sz="1200">
              <a:sym typeface="Wingdings" panose="05000000000000000000" pitchFamily="2" charset="2"/>
            </a:endParaRPr>
          </a:p>
          <a:p>
            <a:endParaRPr lang="en-US" altLang="ko-KR" sz="1200">
              <a:sym typeface="Wingdings" panose="05000000000000000000" pitchFamily="2" charset="2"/>
            </a:endParaRPr>
          </a:p>
          <a:p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042268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65832A-EBB3-E519-F250-C74DC95F3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local</a:t>
            </a:r>
            <a:r>
              <a:rPr lang="ko-KR" altLang="en-US"/>
              <a:t> 환경에서 </a:t>
            </a:r>
            <a:r>
              <a:rPr lang="en-US" altLang="ko-KR"/>
              <a:t>docker container </a:t>
            </a:r>
            <a:r>
              <a:rPr lang="ko-KR" altLang="en-US"/>
              <a:t>띄우기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833325-21F5-70CE-A2D7-D12BFF157396}"/>
              </a:ext>
            </a:extLst>
          </p:cNvPr>
          <p:cNvSpPr txBox="1"/>
          <p:nvPr/>
        </p:nvSpPr>
        <p:spPr>
          <a:xfrm>
            <a:off x="1237673" y="182424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./gradlew clean build -x test</a:t>
            </a:r>
            <a:br>
              <a:rPr lang="en-US" altLang="ko-KR"/>
            </a:br>
            <a:r>
              <a:rPr lang="en-US" altLang="ko-KR"/>
              <a:t>docker compose up --build -d</a:t>
            </a:r>
          </a:p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67B1F6D-24EC-8856-232E-26460D86E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02" y="2609198"/>
            <a:ext cx="11974596" cy="106694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86680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29903C-77A3-7737-102D-11930D3E2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Prod </a:t>
            </a:r>
            <a:r>
              <a:rPr lang="ko-KR" altLang="en-US" sz="3600"/>
              <a:t>환경에서 동작하는 </a:t>
            </a:r>
            <a:r>
              <a:rPr lang="en-US" altLang="ko-KR" sz="3600"/>
              <a:t>Dockerfile </a:t>
            </a:r>
            <a:r>
              <a:rPr lang="ko-KR" altLang="en-US" sz="3600"/>
              <a:t>작성하기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3ADDF41-14EB-4CF6-9729-777CD1B98487}"/>
              </a:ext>
            </a:extLst>
          </p:cNvPr>
          <p:cNvGrpSpPr/>
          <p:nvPr/>
        </p:nvGrpSpPr>
        <p:grpSpPr>
          <a:xfrm>
            <a:off x="1097280" y="1950926"/>
            <a:ext cx="1505160" cy="3658111"/>
            <a:chOff x="1097280" y="1950926"/>
            <a:chExt cx="1505160" cy="3658111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7D218825-5126-5CAA-12AA-067145EBEE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950926"/>
              <a:ext cx="1505160" cy="3658111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A958533-F3F6-CC15-204B-4FA7CCCBBB3B}"/>
                </a:ext>
              </a:extLst>
            </p:cNvPr>
            <p:cNvSpPr/>
            <p:nvPr/>
          </p:nvSpPr>
          <p:spPr>
            <a:xfrm>
              <a:off x="1097280" y="5116945"/>
              <a:ext cx="1505160" cy="29556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7E6445D-FDE2-ADB7-9291-3A6A5472E6EE}"/>
              </a:ext>
            </a:extLst>
          </p:cNvPr>
          <p:cNvSpPr txBox="1"/>
          <p:nvPr/>
        </p:nvSpPr>
        <p:spPr>
          <a:xfrm>
            <a:off x="2658226" y="1950926"/>
            <a:ext cx="6936508" cy="63094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eclipse-temurin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2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17-jdk</a:t>
            </a:r>
            <a:endParaRPr lang="en-US" altLang="ko-KR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redisinspring/build/libs/*SNAPSHOT.jar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app.jar</a:t>
            </a:r>
            <a:endParaRPr lang="en-US" altLang="ko-KR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2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ENTRYPOINT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"java"</a:t>
            </a:r>
            <a:r>
              <a:rPr lang="en-US" altLang="ko-KR" sz="12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"-jar"</a:t>
            </a:r>
            <a:r>
              <a:rPr lang="en-US" altLang="ko-KR" sz="12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>
                <a:solidFill>
                  <a:srgbClr val="A5D6FF"/>
                </a:solidFill>
                <a:latin typeface="Consolas" panose="020B0609020204030204" pitchFamily="49" charset="0"/>
              </a:rPr>
              <a:t>"-Dspring.profiles.active=prod"</a:t>
            </a:r>
            <a:r>
              <a:rPr lang="en-US" altLang="ko-KR" sz="1200">
                <a:solidFill>
                  <a:srgbClr val="FFA657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"/app.jar"</a:t>
            </a:r>
            <a:r>
              <a:rPr lang="en-US" altLang="ko-KR" sz="12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]</a:t>
            </a:r>
            <a:endParaRPr lang="en-US" altLang="ko-KR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90BE85-A52B-5166-A828-F17ABBF5E9F5}"/>
              </a:ext>
            </a:extLst>
          </p:cNvPr>
          <p:cNvSpPr txBox="1"/>
          <p:nvPr/>
        </p:nvSpPr>
        <p:spPr>
          <a:xfrm>
            <a:off x="2658226" y="2581868"/>
            <a:ext cx="8497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prod </a:t>
            </a:r>
            <a:r>
              <a:rPr lang="ko-KR" altLang="en-US"/>
              <a:t>환경에서의 </a:t>
            </a:r>
            <a:r>
              <a:rPr lang="en-US" altLang="ko-KR"/>
              <a:t>jar </a:t>
            </a:r>
            <a:r>
              <a:rPr lang="ko-KR" altLang="en-US"/>
              <a:t>파일 배포 실행은 </a:t>
            </a:r>
            <a:r>
              <a:rPr lang="en-US" altLang="ko-KR"/>
              <a:t>-Dspring.profiles.active=prod </a:t>
            </a:r>
            <a:r>
              <a:rPr lang="ko-KR" altLang="en-US"/>
              <a:t>옵션을 </a:t>
            </a:r>
            <a:br>
              <a:rPr lang="en-US" altLang="ko-KR"/>
            </a:br>
            <a:r>
              <a:rPr lang="ko-KR" altLang="en-US"/>
              <a:t>추가하여 실행했다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8393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4B6295-B852-2371-C16F-714C9E31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compose-prod.yml </a:t>
            </a:r>
            <a:r>
              <a:rPr lang="ko-KR" altLang="en-US"/>
              <a:t>작성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9A7C399-7264-A720-F6EB-C27C119CBC98}"/>
              </a:ext>
            </a:extLst>
          </p:cNvPr>
          <p:cNvGrpSpPr/>
          <p:nvPr/>
        </p:nvGrpSpPr>
        <p:grpSpPr>
          <a:xfrm>
            <a:off x="1097280" y="1950926"/>
            <a:ext cx="1505160" cy="3658111"/>
            <a:chOff x="1097280" y="1950926"/>
            <a:chExt cx="1505160" cy="3658111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2233E3F4-11DF-9DE1-6746-152260A04C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950926"/>
              <a:ext cx="1505160" cy="3658111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3CF63E47-934F-73B5-4C66-D26B02AE9180}"/>
                </a:ext>
              </a:extLst>
            </p:cNvPr>
            <p:cNvSpPr/>
            <p:nvPr/>
          </p:nvSpPr>
          <p:spPr>
            <a:xfrm>
              <a:off x="1097280" y="4498108"/>
              <a:ext cx="1505160" cy="29556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44A9392B-3808-2478-14A9-75ABEDA87489}"/>
              </a:ext>
            </a:extLst>
          </p:cNvPr>
          <p:cNvGrpSpPr/>
          <p:nvPr/>
        </p:nvGrpSpPr>
        <p:grpSpPr>
          <a:xfrm>
            <a:off x="3048000" y="1941607"/>
            <a:ext cx="4054764" cy="3323987"/>
            <a:chOff x="3048000" y="1941607"/>
            <a:chExt cx="4054764" cy="332398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7B9FE2C-2450-E5D9-EC00-E21EE64C18B7}"/>
                </a:ext>
              </a:extLst>
            </p:cNvPr>
            <p:cNvSpPr txBox="1"/>
            <p:nvPr/>
          </p:nvSpPr>
          <p:spPr>
            <a:xfrm>
              <a:off x="3048000" y="1941607"/>
              <a:ext cx="4054764" cy="3323987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services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api-server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build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>
                  <a:solidFill>
                    <a:srgbClr val="BBBEBF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1200">
                  <a:solidFill>
                    <a:srgbClr val="7EE787"/>
                  </a:solidFill>
                  <a:latin typeface="Consolas" panose="020B0609020204030204" pitchFamily="49" charset="0"/>
                </a:rPr>
                <a:t>context</a:t>
              </a:r>
              <a:r>
                <a:rPr lang="en-US" altLang="ko-KR" sz="1200">
                  <a:solidFill>
                    <a:srgbClr val="BBBEBF"/>
                  </a:solidFill>
                  <a:latin typeface="Consolas" panose="020B0609020204030204" pitchFamily="49" charset="0"/>
                </a:rPr>
                <a:t>:</a:t>
              </a:r>
              <a:r>
                <a:rPr lang="en-US" altLang="ko-KR" sz="12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.</a:t>
              </a:r>
              <a:br>
                <a:rPr lang="en-US" altLang="ko-KR" sz="12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altLang="ko-KR" sz="12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	</a:t>
              </a:r>
              <a:r>
                <a:rPr lang="en-US" altLang="ko-KR" sz="1200">
                  <a:solidFill>
                    <a:srgbClr val="7EE787"/>
                  </a:solidFill>
                  <a:latin typeface="Consolas" panose="020B0609020204030204" pitchFamily="49" charset="0"/>
                </a:rPr>
                <a:t>dockerfile</a:t>
              </a:r>
              <a:r>
                <a:rPr lang="en-US" altLang="ko-KR" sz="1200">
                  <a:solidFill>
                    <a:srgbClr val="BBBEBF"/>
                  </a:solidFill>
                  <a:latin typeface="Consolas" panose="020B0609020204030204" pitchFamily="49" charset="0"/>
                </a:rPr>
                <a:t>:</a:t>
              </a:r>
              <a:r>
                <a:rPr lang="en-US" altLang="ko-KR" sz="1200">
                  <a:solidFill>
                    <a:srgbClr val="A5D6FF"/>
                  </a:solidFill>
                  <a:latin typeface="Consolas" panose="020B0609020204030204" pitchFamily="49" charset="0"/>
                </a:rPr>
                <a:t>Dockerfile-prod</a:t>
              </a:r>
              <a:endPara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ports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- </a:t>
              </a:r>
              <a:r>
                <a:rPr lang="en-US" altLang="ko-KR" sz="12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"8080:8080"</a:t>
              </a:r>
              <a:endPara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depends_on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cache-server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condition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2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service_healthy</a:t>
              </a:r>
              <a:endPara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cache-server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image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2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redis</a:t>
              </a:r>
              <a:endPara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ports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- </a:t>
              </a:r>
              <a:r>
                <a:rPr lang="en-US" altLang="ko-KR" sz="12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"6379:6379"</a:t>
              </a:r>
              <a:endPara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healthcheck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test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[</a:t>
              </a:r>
              <a:r>
                <a:rPr lang="en-US" altLang="ko-KR" sz="12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"CMD"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ko-KR" sz="12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"redis-cli"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ko-KR" sz="12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"ping"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]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interval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2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5s</a:t>
              </a:r>
              <a:endPara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</a:t>
              </a:r>
              <a:r>
                <a:rPr lang="en-US" altLang="ko-KR" sz="12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retries</a:t>
              </a:r>
              <a:r>
                <a:rPr lang="en-US" altLang="ko-KR" sz="12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200" b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10</a:t>
              </a:r>
              <a:endPara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5E7E533E-7B7D-CF65-35F3-5BDA33F183B0}"/>
                </a:ext>
              </a:extLst>
            </p:cNvPr>
            <p:cNvSpPr/>
            <p:nvPr/>
          </p:nvSpPr>
          <p:spPr>
            <a:xfrm>
              <a:off x="3364807" y="2332181"/>
              <a:ext cx="2500284" cy="58651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701DBF2-7CEE-9057-0B4E-77946E13C63B}"/>
              </a:ext>
            </a:extLst>
          </p:cNvPr>
          <p:cNvSpPr txBox="1"/>
          <p:nvPr/>
        </p:nvSpPr>
        <p:spPr>
          <a:xfrm>
            <a:off x="7269018" y="1941607"/>
            <a:ext cx="438727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Local </a:t>
            </a:r>
            <a:r>
              <a:rPr lang="ko-KR" altLang="en-US" sz="1200"/>
              <a:t>환경에서 처럼 </a:t>
            </a:r>
            <a:endParaRPr lang="en-US" altLang="ko-KR" sz="1200"/>
          </a:p>
          <a:p>
            <a:endParaRPr lang="en-US" altLang="ko-KR" sz="1200"/>
          </a:p>
          <a:p>
            <a:r>
              <a:rPr lang="en-US" altLang="ko-KR" sz="1200" b="1">
                <a:solidFill>
                  <a:srgbClr val="FF0000"/>
                </a:solidFill>
              </a:rPr>
              <a:t>build : .  </a:t>
            </a:r>
          </a:p>
          <a:p>
            <a:r>
              <a:rPr lang="ko-KR" altLang="en-US" sz="1200"/>
              <a:t>으로 할 경우</a:t>
            </a:r>
            <a:r>
              <a:rPr lang="en-US" altLang="ko-KR" sz="1200"/>
              <a:t>. </a:t>
            </a:r>
          </a:p>
          <a:p>
            <a:endParaRPr lang="en-US" altLang="ko-KR" sz="1200"/>
          </a:p>
          <a:p>
            <a:r>
              <a:rPr lang="ko-KR" altLang="en-US" sz="1200"/>
              <a:t>현재 경로의 </a:t>
            </a:r>
            <a:r>
              <a:rPr lang="en-US" altLang="ko-KR" sz="1200"/>
              <a:t>Dockerfile</a:t>
            </a:r>
            <a:r>
              <a:rPr lang="ko-KR" altLang="en-US" sz="1200"/>
              <a:t>을 실행시킴으로</a:t>
            </a:r>
            <a:br>
              <a:rPr lang="en-US" altLang="ko-KR" sz="1200"/>
            </a:br>
            <a:r>
              <a:rPr lang="en-US" altLang="ko-KR" sz="1200"/>
              <a:t>prod </a:t>
            </a:r>
            <a:r>
              <a:rPr lang="ko-KR" altLang="en-US" sz="1200"/>
              <a:t>환경의 </a:t>
            </a:r>
            <a:r>
              <a:rPr lang="en-US" altLang="ko-KR" sz="1200"/>
              <a:t>Dockerfile</a:t>
            </a:r>
            <a:r>
              <a:rPr lang="ko-KR" altLang="en-US" sz="1200"/>
              <a:t>인</a:t>
            </a:r>
            <a:r>
              <a:rPr lang="ko-KR" altLang="en-US" sz="1200" b="1">
                <a:solidFill>
                  <a:srgbClr val="FF0000"/>
                </a:solidFill>
              </a:rPr>
              <a:t> </a:t>
            </a:r>
            <a:r>
              <a:rPr lang="en-US" altLang="ko-KR" sz="1200" b="1">
                <a:solidFill>
                  <a:srgbClr val="FF0000"/>
                </a:solidFill>
              </a:rPr>
              <a:t>Dockerfile-prod</a:t>
            </a:r>
            <a:r>
              <a:rPr lang="ko-KR" altLang="en-US" sz="1200"/>
              <a:t>를 명확하게 지정함으로써 운영환경으로써 </a:t>
            </a:r>
            <a:r>
              <a:rPr lang="en-US" altLang="ko-KR" sz="1200"/>
              <a:t>docker</a:t>
            </a:r>
            <a:r>
              <a:rPr lang="ko-KR" altLang="en-US" sz="1200"/>
              <a:t>가 컨테이너를 생성하도록 한다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296051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ABD81C-25C2-3CBF-6C66-0336789FB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application.yml </a:t>
            </a:r>
            <a:r>
              <a:rPr lang="ko-KR" altLang="en-US"/>
              <a:t>수정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2D08DB1-57E1-4C62-B99B-3A8BA1286918}"/>
              </a:ext>
            </a:extLst>
          </p:cNvPr>
          <p:cNvGrpSpPr/>
          <p:nvPr/>
        </p:nvGrpSpPr>
        <p:grpSpPr>
          <a:xfrm>
            <a:off x="1006763" y="1820924"/>
            <a:ext cx="9439563" cy="4751685"/>
            <a:chOff x="1006763" y="1820924"/>
            <a:chExt cx="9439563" cy="4751685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D9268B4C-ADC9-4583-9FB4-3FE1B890B4AB}"/>
                </a:ext>
              </a:extLst>
            </p:cNvPr>
            <p:cNvGrpSpPr/>
            <p:nvPr/>
          </p:nvGrpSpPr>
          <p:grpSpPr>
            <a:xfrm>
              <a:off x="1006763" y="1820924"/>
              <a:ext cx="9439563" cy="4751685"/>
              <a:chOff x="1006763" y="1820924"/>
              <a:chExt cx="9439563" cy="4751685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4EF6AF9-1AED-5DF6-1496-21C75F5FA4E9}"/>
                  </a:ext>
                </a:extLst>
              </p:cNvPr>
              <p:cNvSpPr txBox="1"/>
              <p:nvPr/>
            </p:nvSpPr>
            <p:spPr>
              <a:xfrm>
                <a:off x="1006763" y="1820924"/>
                <a:ext cx="9439563" cy="4751685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100" b="0">
                    <a:solidFill>
                      <a:srgbClr val="79C0FF"/>
                    </a:solidFill>
                    <a:effectLst/>
                    <a:latin typeface="Consolas" panose="020B0609020204030204" pitchFamily="49" charset="0"/>
                  </a:rPr>
                  <a:t>---</a:t>
                </a:r>
                <a:endPara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10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spring</a:t>
                </a:r>
                <a:r>
                  <a:rPr lang="en-US" altLang="ko-KR" sz="11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</a:t>
                </a: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1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</a:t>
                </a:r>
                <a:r>
                  <a:rPr lang="en-US" altLang="ko-KR" sz="110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config</a:t>
                </a:r>
                <a:r>
                  <a:rPr lang="en-US" altLang="ko-KR" sz="11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</a:t>
                </a: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1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    </a:t>
                </a:r>
                <a:r>
                  <a:rPr lang="en-US" altLang="ko-KR" sz="110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activate</a:t>
                </a:r>
                <a:r>
                  <a:rPr lang="en-US" altLang="ko-KR" sz="11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</a:t>
                </a: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1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        </a:t>
                </a:r>
                <a:r>
                  <a:rPr lang="en-US" altLang="ko-KR" sz="110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on-profile</a:t>
                </a:r>
                <a:r>
                  <a:rPr lang="en-US" altLang="ko-KR" sz="11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 </a:t>
                </a:r>
                <a:r>
                  <a:rPr lang="en-US" altLang="ko-KR" sz="1100" b="0">
                    <a:solidFill>
                      <a:srgbClr val="A5D6FF"/>
                    </a:solidFill>
                    <a:effectLst/>
                    <a:latin typeface="Consolas" panose="020B0609020204030204" pitchFamily="49" charset="0"/>
                  </a:rPr>
                  <a:t>prod</a:t>
                </a:r>
                <a:endPara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1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        </a:t>
                </a: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1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</a:t>
                </a:r>
                <a:r>
                  <a:rPr lang="en-US" altLang="ko-KR" sz="110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datasource</a:t>
                </a:r>
                <a:r>
                  <a:rPr lang="en-US" altLang="ko-KR" sz="11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</a:t>
                </a: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1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    </a:t>
                </a:r>
                <a:r>
                  <a:rPr lang="en-US" altLang="ko-KR" sz="110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url</a:t>
                </a:r>
                <a:r>
                  <a:rPr lang="en-US" altLang="ko-KR" sz="11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 </a:t>
                </a:r>
                <a:r>
                  <a:rPr lang="en-US" altLang="ko-KR" sz="1100" b="0">
                    <a:solidFill>
                      <a:srgbClr val="A5D6FF"/>
                    </a:solidFill>
                    <a:effectLst/>
                    <a:latin typeface="Consolas" panose="020B0609020204030204" pitchFamily="49" charset="0"/>
                  </a:rPr>
                  <a:t>jdbc:mysql://redis-learning-db.cx8u4i82c37m.ap-northeast-2.rds.amazonaws.com:3306/redis_learning_db</a:t>
                </a:r>
                <a:endPara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1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    </a:t>
                </a:r>
                <a:r>
                  <a:rPr lang="en-US" altLang="ko-KR" sz="110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username</a:t>
                </a:r>
                <a:r>
                  <a:rPr lang="en-US" altLang="ko-KR" sz="11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 </a:t>
                </a:r>
                <a:r>
                  <a:rPr lang="en-US" altLang="ko-KR" sz="1100" b="0">
                    <a:solidFill>
                      <a:srgbClr val="A5D6FF"/>
                    </a:solidFill>
                    <a:effectLst/>
                    <a:latin typeface="Consolas" panose="020B0609020204030204" pitchFamily="49" charset="0"/>
                  </a:rPr>
                  <a:t>admin</a:t>
                </a:r>
                <a:endPara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1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    </a:t>
                </a:r>
                <a:r>
                  <a:rPr lang="en-US" altLang="ko-KR" sz="110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password</a:t>
                </a:r>
                <a:r>
                  <a:rPr lang="en-US" altLang="ko-KR" sz="11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 </a:t>
                </a:r>
                <a:r>
                  <a:rPr lang="en-US" altLang="ko-KR" sz="1100" b="0">
                    <a:solidFill>
                      <a:srgbClr val="A5D6FF"/>
                    </a:solidFill>
                    <a:effectLst/>
                    <a:latin typeface="Consolas" panose="020B0609020204030204" pitchFamily="49" charset="0"/>
                  </a:rPr>
                  <a:t>password</a:t>
                </a:r>
                <a:endPara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1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    </a:t>
                </a:r>
                <a:r>
                  <a:rPr lang="en-US" altLang="ko-KR" sz="110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driver-class-name</a:t>
                </a:r>
                <a:r>
                  <a:rPr lang="en-US" altLang="ko-KR" sz="11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 </a:t>
                </a:r>
                <a:r>
                  <a:rPr lang="en-US" altLang="ko-KR" sz="1100" b="0">
                    <a:solidFill>
                      <a:srgbClr val="A5D6FF"/>
                    </a:solidFill>
                    <a:effectLst/>
                    <a:latin typeface="Consolas" panose="020B0609020204030204" pitchFamily="49" charset="0"/>
                  </a:rPr>
                  <a:t>com.mysql.cj.jdbc.Driver</a:t>
                </a:r>
                <a:endPara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lnSpc>
                    <a:spcPts val="1425"/>
                  </a:lnSpc>
                  <a:buNone/>
                </a:pPr>
                <a:endPara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1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</a:t>
                </a:r>
                <a:r>
                  <a:rPr lang="en-US" altLang="ko-KR" sz="110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jpa</a:t>
                </a:r>
                <a:r>
                  <a:rPr lang="en-US" altLang="ko-KR" sz="11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</a:t>
                </a: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1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    </a:t>
                </a:r>
                <a:r>
                  <a:rPr lang="en-US" altLang="ko-KR" sz="110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hibernate</a:t>
                </a:r>
                <a:r>
                  <a:rPr lang="en-US" altLang="ko-KR" sz="11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</a:t>
                </a: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1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        </a:t>
                </a:r>
                <a:r>
                  <a:rPr lang="en-US" altLang="ko-KR" sz="110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ddl-auto</a:t>
                </a:r>
                <a:r>
                  <a:rPr lang="en-US" altLang="ko-KR" sz="11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 </a:t>
                </a:r>
                <a:r>
                  <a:rPr lang="en-US" altLang="ko-KR" sz="1100" b="0">
                    <a:solidFill>
                      <a:srgbClr val="A5D6FF"/>
                    </a:solidFill>
                    <a:effectLst/>
                    <a:latin typeface="Consolas" panose="020B0609020204030204" pitchFamily="49" charset="0"/>
                  </a:rPr>
                  <a:t>update</a:t>
                </a:r>
                <a:endPara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1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    </a:t>
                </a:r>
                <a:r>
                  <a:rPr lang="en-US" altLang="ko-KR" sz="110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show-sql</a:t>
                </a:r>
                <a:r>
                  <a:rPr lang="en-US" altLang="ko-KR" sz="11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 </a:t>
                </a:r>
                <a:r>
                  <a:rPr lang="en-US" altLang="ko-KR" sz="1100" b="0">
                    <a:solidFill>
                      <a:srgbClr val="569CD6"/>
                    </a:solidFill>
                    <a:effectLst/>
                    <a:latin typeface="Consolas" panose="020B0609020204030204" pitchFamily="49" charset="0"/>
                  </a:rPr>
                  <a:t>true</a:t>
                </a:r>
                <a:endPara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1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    </a:t>
                </a: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1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</a:t>
                </a:r>
                <a:r>
                  <a:rPr lang="en-US" altLang="ko-KR" sz="110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data</a:t>
                </a:r>
                <a:r>
                  <a:rPr lang="en-US" altLang="ko-KR" sz="11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</a:t>
                </a: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1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    </a:t>
                </a:r>
                <a:r>
                  <a:rPr lang="en-US" altLang="ko-KR" sz="110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redis</a:t>
                </a:r>
                <a:r>
                  <a:rPr lang="en-US" altLang="ko-KR" sz="11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</a:t>
                </a: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1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        </a:t>
                </a:r>
                <a:r>
                  <a:rPr lang="en-US" altLang="ko-KR" sz="110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host</a:t>
                </a:r>
                <a:r>
                  <a:rPr lang="en-US" altLang="ko-KR" sz="11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 </a:t>
                </a:r>
                <a:r>
                  <a:rPr lang="en-US" altLang="ko-KR" sz="1100" b="0">
                    <a:solidFill>
                      <a:srgbClr val="A5D6FF"/>
                    </a:solidFill>
                    <a:effectLst/>
                    <a:latin typeface="Consolas" panose="020B0609020204030204" pitchFamily="49" charset="0"/>
                  </a:rPr>
                  <a:t>cache-server</a:t>
                </a:r>
                <a:endPara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1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        </a:t>
                </a:r>
                <a:r>
                  <a:rPr lang="en-US" altLang="ko-KR" sz="110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port</a:t>
                </a:r>
                <a:r>
                  <a:rPr lang="en-US" altLang="ko-KR" sz="11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 </a:t>
                </a:r>
                <a:r>
                  <a:rPr lang="en-US" altLang="ko-KR" sz="1100" b="0">
                    <a:solidFill>
                      <a:srgbClr val="B5CEA8"/>
                    </a:solidFill>
                    <a:effectLst/>
                    <a:latin typeface="Consolas" panose="020B0609020204030204" pitchFamily="49" charset="0"/>
                  </a:rPr>
                  <a:t>6379</a:t>
                </a:r>
                <a:br>
                  <a:rPr lang="en-US" altLang="ko-KR" sz="11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</a:br>
                <a:endPara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10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logging</a:t>
                </a:r>
                <a:r>
                  <a:rPr lang="en-US" altLang="ko-KR" sz="11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</a:t>
                </a: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1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</a:t>
                </a:r>
                <a:r>
                  <a:rPr lang="en-US" altLang="ko-KR" sz="110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level</a:t>
                </a:r>
                <a:r>
                  <a:rPr lang="en-US" altLang="ko-KR" sz="11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</a:t>
                </a:r>
              </a:p>
              <a:p>
                <a:pPr>
                  <a:lnSpc>
                    <a:spcPts val="1425"/>
                  </a:lnSpc>
                  <a:buNone/>
                </a:pPr>
                <a:r>
                  <a:rPr lang="en-US" altLang="ko-KR" sz="11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        </a:t>
                </a:r>
                <a:r>
                  <a:rPr lang="en-US" altLang="ko-KR" sz="1100" b="0">
                    <a:solidFill>
                      <a:srgbClr val="7EE787"/>
                    </a:solidFill>
                    <a:effectLst/>
                    <a:latin typeface="Consolas" panose="020B0609020204030204" pitchFamily="49" charset="0"/>
                  </a:rPr>
                  <a:t>org.springfaorwork.cache</a:t>
                </a:r>
                <a:r>
                  <a:rPr lang="en-US" altLang="ko-KR" sz="1100" b="0">
                    <a:solidFill>
                      <a:srgbClr val="BBBEBF"/>
                    </a:solidFill>
                    <a:effectLst/>
                    <a:latin typeface="Consolas" panose="020B0609020204030204" pitchFamily="49" charset="0"/>
                  </a:rPr>
                  <a:t>: </a:t>
                </a:r>
                <a:r>
                  <a:rPr lang="en-US" altLang="ko-KR" sz="1100" b="0">
                    <a:solidFill>
                      <a:srgbClr val="A5D6FF"/>
                    </a:solidFill>
                    <a:effectLst/>
                    <a:latin typeface="Consolas" panose="020B0609020204030204" pitchFamily="49" charset="0"/>
                  </a:rPr>
                  <a:t>debug</a:t>
                </a:r>
                <a:endPara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endParaRPr>
              </a:p>
            </p:txBody>
          </p:sp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EC69CC99-6291-BBDA-804D-BAA37D93F134}"/>
                  </a:ext>
                </a:extLst>
              </p:cNvPr>
              <p:cNvSpPr/>
              <p:nvPr/>
            </p:nvSpPr>
            <p:spPr>
              <a:xfrm>
                <a:off x="1902691" y="5237018"/>
                <a:ext cx="1616364" cy="21243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6515573-CCA3-031F-C6D2-6C57E8559A03}"/>
                </a:ext>
              </a:extLst>
            </p:cNvPr>
            <p:cNvSpPr/>
            <p:nvPr/>
          </p:nvSpPr>
          <p:spPr>
            <a:xfrm>
              <a:off x="4608945" y="4322618"/>
              <a:ext cx="4950691" cy="130232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/>
                <a:t>Prod </a:t>
              </a:r>
              <a:r>
                <a:rPr lang="ko-KR" altLang="en-US" sz="1400"/>
                <a:t>환경의 </a:t>
              </a:r>
              <a:r>
                <a:rPr lang="en-US" altLang="ko-KR" sz="1400"/>
                <a:t>application.yml </a:t>
              </a:r>
              <a:r>
                <a:rPr lang="ko-KR" altLang="en-US" sz="1400"/>
                <a:t>도</a:t>
              </a:r>
              <a:br>
                <a:rPr lang="en-US" altLang="ko-KR" sz="1400"/>
              </a:br>
              <a:r>
                <a:rPr lang="en-US" altLang="ko-KR" sz="1400"/>
                <a:t>docker DNS</a:t>
              </a:r>
              <a:r>
                <a:rPr lang="ko-KR" altLang="en-US" sz="1400"/>
                <a:t>로 통신되도록 동일하게 수정해준다</a:t>
              </a:r>
              <a:r>
                <a:rPr lang="en-US" altLang="ko-KR" sz="1400"/>
                <a:t>.</a:t>
              </a:r>
              <a:endParaRPr lang="ko-KR" altLang="en-US" sz="1400"/>
            </a:p>
          </p:txBody>
        </p:sp>
      </p:grpSp>
    </p:spTree>
    <p:extLst>
      <p:ext uri="{BB962C8B-B14F-4D97-AF65-F5344CB8AC3E}">
        <p14:creationId xmlns:p14="http://schemas.microsoft.com/office/powerpoint/2010/main" val="3728633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BE4645-9C39-326A-3E12-DC60E02C1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EC2 </a:t>
            </a:r>
            <a:r>
              <a:rPr lang="ko-KR" altLang="en-US"/>
              <a:t>시스템에 </a:t>
            </a:r>
            <a:r>
              <a:rPr lang="en-US" altLang="ko-KR"/>
              <a:t>Docker </a:t>
            </a:r>
            <a:r>
              <a:rPr lang="ko-KR" altLang="en-US"/>
              <a:t>설치하기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0FFA20-1DC5-B98B-9A07-69D5E7E0127C}"/>
              </a:ext>
            </a:extLst>
          </p:cNvPr>
          <p:cNvSpPr txBox="1"/>
          <p:nvPr/>
        </p:nvSpPr>
        <p:spPr>
          <a:xfrm>
            <a:off x="1163781" y="1816019"/>
            <a:ext cx="10400145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>
                <a:solidFill>
                  <a:srgbClr val="FF0000"/>
                </a:solidFill>
              </a:rPr>
              <a:t>Docker</a:t>
            </a:r>
            <a:r>
              <a:rPr lang="ko-KR" altLang="en-US" sz="1000" b="1">
                <a:solidFill>
                  <a:srgbClr val="FF0000"/>
                </a:solidFill>
              </a:rPr>
              <a:t>를 설치하기 위한 </a:t>
            </a:r>
            <a:r>
              <a:rPr lang="en-US" altLang="ko-KR" sz="1000" b="1">
                <a:solidFill>
                  <a:srgbClr val="FF0000"/>
                </a:solidFill>
              </a:rPr>
              <a:t>apt repository </a:t>
            </a:r>
            <a:r>
              <a:rPr lang="ko-KR" altLang="en-US" sz="1000" b="1">
                <a:solidFill>
                  <a:srgbClr val="FF0000"/>
                </a:solidFill>
              </a:rPr>
              <a:t>설정 셋팅</a:t>
            </a:r>
            <a:endParaRPr lang="en-US" altLang="ko-KR" sz="1000" b="1">
              <a:solidFill>
                <a:srgbClr val="FF0000"/>
              </a:solidFill>
            </a:endParaRPr>
          </a:p>
          <a:p>
            <a:r>
              <a:rPr lang="en-US" altLang="ko-KR" sz="1000"/>
              <a:t>sudo apt remove $(dpkg --get-selections docker.io docker-compose docker-compose-v2 docker-doc docker-buildx podman-docker containerd runc | cut -f1)</a:t>
            </a:r>
          </a:p>
          <a:p>
            <a:r>
              <a:rPr lang="en-US" altLang="ko-KR" sz="1000"/>
              <a:t>sudo apt update</a:t>
            </a:r>
          </a:p>
          <a:p>
            <a:r>
              <a:rPr lang="en-US" altLang="ko-KR" sz="1000"/>
              <a:t>sudo apt install ca-certificates curl</a:t>
            </a:r>
          </a:p>
          <a:p>
            <a:r>
              <a:rPr lang="nb-NO" altLang="ko-KR" sz="1000"/>
              <a:t>sudo install -m 0755 -d /etc/apt/keyrings</a:t>
            </a:r>
          </a:p>
          <a:p>
            <a:r>
              <a:rPr lang="en-US" altLang="ko-KR" sz="1000"/>
              <a:t>sudo curl -fsSL </a:t>
            </a:r>
            <a:r>
              <a:rPr lang="en-US" altLang="ko-KR" sz="1000">
                <a:hlinkClick r:id="rId2"/>
              </a:rPr>
              <a:t>https://download.docker.com/linux/ubuntu/gpg -o /etc/apt/keyrings/docker.asc</a:t>
            </a:r>
            <a:endParaRPr lang="en-US" altLang="ko-KR" sz="1000"/>
          </a:p>
          <a:p>
            <a:r>
              <a:rPr lang="en-US" altLang="ko-KR" sz="1000"/>
              <a:t>sudo chmod a+r /etc/apt/keyrings/docker.asc</a:t>
            </a:r>
          </a:p>
          <a:p>
            <a:endParaRPr lang="en-US" altLang="ko-KR" sz="1000"/>
          </a:p>
          <a:p>
            <a:r>
              <a:rPr lang="en-US" altLang="ko-KR" sz="1000"/>
              <a:t># Add the repository to Apt sources:</a:t>
            </a:r>
          </a:p>
          <a:p>
            <a:r>
              <a:rPr lang="en-US" altLang="ko-KR" sz="1000"/>
              <a:t>sudo tee /etc/apt/sources.list.d/docker.sources &lt;&lt;EOF</a:t>
            </a:r>
          </a:p>
          <a:p>
            <a:r>
              <a:rPr lang="en-US" altLang="ko-KR" sz="1000"/>
              <a:t>Types: deb</a:t>
            </a:r>
          </a:p>
          <a:p>
            <a:r>
              <a:rPr lang="en-US" altLang="ko-KR" sz="1000"/>
              <a:t>URIs: https://download.docker.com/linux/ubuntu</a:t>
            </a:r>
          </a:p>
          <a:p>
            <a:r>
              <a:rPr lang="en-US" altLang="ko-KR" sz="1000"/>
              <a:t>Suites: $(. /etc/os-release &amp;&amp; echo "${UBUNTU_CODENAME:-$VERSION_CODENAME}")</a:t>
            </a:r>
          </a:p>
          <a:p>
            <a:r>
              <a:rPr lang="en-US" altLang="ko-KR" sz="1000"/>
              <a:t>Components: stable</a:t>
            </a:r>
          </a:p>
          <a:p>
            <a:r>
              <a:rPr lang="en-US" altLang="ko-KR" sz="1000"/>
              <a:t>Architectures: $(dpkg --print-architecture)</a:t>
            </a:r>
          </a:p>
          <a:p>
            <a:r>
              <a:rPr lang="en-US" altLang="ko-KR" sz="1000"/>
              <a:t>Signed-By: /etc/apt/keyrings/docker.asc</a:t>
            </a:r>
          </a:p>
          <a:p>
            <a:r>
              <a:rPr lang="en-US" altLang="ko-KR" sz="1000"/>
              <a:t>EOF</a:t>
            </a:r>
          </a:p>
          <a:p>
            <a:endParaRPr lang="en-US" altLang="ko-KR" sz="1000"/>
          </a:p>
          <a:p>
            <a:r>
              <a:rPr lang="en-US" altLang="ko-KR" sz="1000"/>
              <a:t>sudo apt update</a:t>
            </a:r>
          </a:p>
          <a:p>
            <a:endParaRPr lang="en-US" altLang="ko-KR" sz="1000"/>
          </a:p>
          <a:p>
            <a:r>
              <a:rPr lang="en-US" altLang="ko-KR" sz="1000" b="1">
                <a:solidFill>
                  <a:srgbClr val="FF0000"/>
                </a:solidFill>
              </a:rPr>
              <a:t>Docker </a:t>
            </a:r>
            <a:r>
              <a:rPr lang="ko-KR" altLang="en-US" sz="1000" b="1">
                <a:solidFill>
                  <a:srgbClr val="FF0000"/>
                </a:solidFill>
              </a:rPr>
              <a:t>설치</a:t>
            </a:r>
            <a:endParaRPr lang="en-US" altLang="ko-KR" sz="1000" b="1">
              <a:solidFill>
                <a:srgbClr val="FF0000"/>
              </a:solidFill>
            </a:endParaRPr>
          </a:p>
          <a:p>
            <a:r>
              <a:rPr lang="en-US" altLang="ko-KR" sz="1000"/>
              <a:t>sudo apt install docker-ce docker-ce-cli containerd.io docker-buildx-plugin docker-compose-plugin</a:t>
            </a:r>
          </a:p>
          <a:p>
            <a:endParaRPr lang="en-US" altLang="ko-KR" sz="1000"/>
          </a:p>
          <a:p>
            <a:r>
              <a:rPr lang="en-US" altLang="ko-KR" sz="1000" b="1">
                <a:solidFill>
                  <a:srgbClr val="FF0000"/>
                </a:solidFill>
              </a:rPr>
              <a:t>Docker </a:t>
            </a:r>
            <a:r>
              <a:rPr lang="ko-KR" altLang="en-US" sz="1000" b="1">
                <a:solidFill>
                  <a:srgbClr val="FF0000"/>
                </a:solidFill>
              </a:rPr>
              <a:t>상태 확인</a:t>
            </a:r>
            <a:endParaRPr lang="en-US" altLang="ko-KR" sz="1000" b="1">
              <a:solidFill>
                <a:srgbClr val="FF0000"/>
              </a:solidFill>
            </a:endParaRPr>
          </a:p>
          <a:p>
            <a:r>
              <a:rPr lang="en-US" altLang="ko-KR" sz="1000"/>
              <a:t>sudo systemctl status docker</a:t>
            </a:r>
            <a:endParaRPr lang="ko-KR" altLang="en-US" sz="1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B0DD8A-EBF3-D983-B75C-AAF296549208}"/>
              </a:ext>
            </a:extLst>
          </p:cNvPr>
          <p:cNvSpPr txBox="1"/>
          <p:nvPr/>
        </p:nvSpPr>
        <p:spPr>
          <a:xfrm>
            <a:off x="7324436" y="3020291"/>
            <a:ext cx="472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설치는 </a:t>
            </a:r>
            <a:r>
              <a:rPr lang="en-US" altLang="ko-KR"/>
              <a:t>docker install</a:t>
            </a:r>
            <a:r>
              <a:rPr lang="ko-KR" altLang="en-US"/>
              <a:t> 사이트를 확인하자</a:t>
            </a:r>
          </a:p>
        </p:txBody>
      </p:sp>
    </p:spTree>
    <p:extLst>
      <p:ext uri="{BB962C8B-B14F-4D97-AF65-F5344CB8AC3E}">
        <p14:creationId xmlns:p14="http://schemas.microsoft.com/office/powerpoint/2010/main" val="760910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4FB328-5D32-D104-3F4E-070129B32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EC2 Redis </a:t>
            </a:r>
            <a:r>
              <a:rPr lang="ko-KR" altLang="en-US" sz="4000"/>
              <a:t>및 실행중인 애플리케이션 중지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B7E580-3C4B-4C12-68BC-2D4A319DCB63}"/>
              </a:ext>
            </a:extLst>
          </p:cNvPr>
          <p:cNvSpPr txBox="1"/>
          <p:nvPr/>
        </p:nvSpPr>
        <p:spPr>
          <a:xfrm>
            <a:off x="1097280" y="1737360"/>
            <a:ext cx="6096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>
                <a:solidFill>
                  <a:srgbClr val="FF0000"/>
                </a:solidFill>
              </a:rPr>
              <a:t>레디스 중지</a:t>
            </a:r>
            <a:endParaRPr lang="en-US" altLang="ko-KR" sz="1400" b="1">
              <a:solidFill>
                <a:srgbClr val="FF0000"/>
              </a:solidFill>
            </a:endParaRPr>
          </a:p>
          <a:p>
            <a:r>
              <a:rPr lang="en-US" altLang="ko-KR" sz="1400"/>
              <a:t>sudo systemctl stop redis</a:t>
            </a:r>
          </a:p>
          <a:p>
            <a:endParaRPr lang="en-US" altLang="ko-KR" sz="1400"/>
          </a:p>
          <a:p>
            <a:r>
              <a:rPr lang="ko-KR" altLang="en-US" sz="1400" b="1">
                <a:solidFill>
                  <a:srgbClr val="FF0000"/>
                </a:solidFill>
              </a:rPr>
              <a:t>스프링 애플리케이션 중지</a:t>
            </a:r>
            <a:endParaRPr lang="en-US" altLang="ko-KR" sz="1400" b="1">
              <a:solidFill>
                <a:srgbClr val="FF0000"/>
              </a:solidFill>
            </a:endParaRPr>
          </a:p>
          <a:p>
            <a:r>
              <a:rPr lang="en-US" altLang="ko-KR" sz="1400"/>
              <a:t>sudo lsof -i:8080</a:t>
            </a:r>
          </a:p>
          <a:p>
            <a:r>
              <a:rPr lang="en-US" altLang="ko-KR" sz="1400"/>
              <a:t>sudo</a:t>
            </a:r>
            <a:r>
              <a:rPr lang="ko-KR" altLang="en-US" sz="1400"/>
              <a:t> </a:t>
            </a:r>
            <a:r>
              <a:rPr lang="en-US" altLang="ko-KR" sz="1400"/>
              <a:t>kill -9 {</a:t>
            </a:r>
            <a:r>
              <a:rPr lang="ko-KR" altLang="en-US" sz="1400"/>
              <a:t>애플리케이션 프로세스 </a:t>
            </a:r>
            <a:r>
              <a:rPr lang="en-US" altLang="ko-KR" sz="1400"/>
              <a:t>PID}</a:t>
            </a:r>
            <a:endParaRPr lang="ko-KR" altLang="en-US" sz="140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25EE700-5CEB-9EEC-AB37-DA18C1D5E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960" y="3287908"/>
            <a:ext cx="6020640" cy="89547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C2C54D9-B0B1-7F51-402B-250BC720F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960" y="4348936"/>
            <a:ext cx="10602805" cy="34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2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19F963-F30F-ED82-2FC2-AE780544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Git </a:t>
            </a:r>
            <a:r>
              <a:rPr lang="ko-KR" altLang="en-US"/>
              <a:t>으로 프로젝트 세팅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BB4EA47-C8A7-66E5-6F5D-21A9DB9EA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9" y="1909180"/>
            <a:ext cx="5461991" cy="17761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01A0BD-5B3E-2B87-7A53-FA0464D93BB2}"/>
              </a:ext>
            </a:extLst>
          </p:cNvPr>
          <p:cNvSpPr txBox="1"/>
          <p:nvPr/>
        </p:nvSpPr>
        <p:spPr>
          <a:xfrm>
            <a:off x="5966691" y="1911927"/>
            <a:ext cx="6003636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git </a:t>
            </a:r>
            <a:r>
              <a:rPr lang="ko-KR" altLang="en-US" sz="1400"/>
              <a:t>이랑 필요없는 파일들은 제거하고 </a:t>
            </a:r>
            <a:r>
              <a:rPr lang="en-US" altLang="ko-KR" sz="1400"/>
              <a:t>springboot</a:t>
            </a:r>
            <a:r>
              <a:rPr lang="ko-KR" altLang="en-US" sz="1400"/>
              <a:t> 폴더와 </a:t>
            </a:r>
            <a:r>
              <a:rPr lang="en-US" altLang="ko-KR" sz="1400"/>
              <a:t>docker </a:t>
            </a:r>
            <a:r>
              <a:rPr lang="ko-KR" altLang="en-US" sz="1400"/>
              <a:t>파일만 남긴다</a:t>
            </a:r>
            <a:r>
              <a:rPr lang="en-US" altLang="ko-KR" sz="1400"/>
              <a:t>.</a:t>
            </a:r>
          </a:p>
          <a:p>
            <a:endParaRPr lang="en-US" altLang="ko-KR" sz="1400"/>
          </a:p>
          <a:p>
            <a:r>
              <a:rPr lang="en-US" altLang="ko-KR" sz="1400"/>
              <a:t>cd</a:t>
            </a:r>
            <a:r>
              <a:rPr lang="ko-KR" altLang="en-US" sz="1400"/>
              <a:t> </a:t>
            </a:r>
            <a:r>
              <a:rPr lang="en-US" altLang="ko-KR" sz="1400"/>
              <a:t>Redis_1</a:t>
            </a:r>
          </a:p>
          <a:p>
            <a:r>
              <a:rPr lang="en-US" altLang="ko-KR" sz="1400"/>
              <a:t>rm -rf *.pptx</a:t>
            </a:r>
          </a:p>
          <a:p>
            <a:r>
              <a:rPr lang="en-US" altLang="ko-KR" sz="1400"/>
              <a:t>rm -rf *.pdf</a:t>
            </a:r>
          </a:p>
          <a:p>
            <a:r>
              <a:rPr lang="en-US" altLang="ko-KR" sz="1400"/>
              <a:t>rm -rf redis-erminal-study</a:t>
            </a:r>
          </a:p>
          <a:p>
            <a:r>
              <a:rPr lang="ko-KR" altLang="en-US" sz="1400"/>
              <a:t>cd redisinspring/</a:t>
            </a:r>
            <a:endParaRPr lang="en-US" altLang="ko-KR" sz="1400"/>
          </a:p>
          <a:p>
            <a:r>
              <a:rPr lang="en-US" altLang="ko-KR" sz="1400"/>
              <a:t>vi gradle.properties </a:t>
            </a:r>
            <a:endParaRPr lang="ko-KR" altLang="en-US" sz="1400"/>
          </a:p>
          <a:p>
            <a:endParaRPr lang="en-US" altLang="ko-KR" sz="1400"/>
          </a:p>
          <a:p>
            <a:r>
              <a:rPr lang="en-US" altLang="ko-KR" sz="1400"/>
              <a:t>org.gradle.java.home=/usr/lib/jvm/java-17-openjdk-amd64     ( </a:t>
            </a:r>
            <a:r>
              <a:rPr lang="ko-KR" altLang="en-US" sz="1400"/>
              <a:t>수정 </a:t>
            </a:r>
            <a:r>
              <a:rPr lang="en-US" altLang="ko-KR" sz="1400"/>
              <a:t>)</a:t>
            </a:r>
          </a:p>
          <a:p>
            <a:r>
              <a:rPr lang="en-US" altLang="ko-KR" sz="1400"/>
              <a:t>chmod 755 *</a:t>
            </a:r>
          </a:p>
          <a:p>
            <a:r>
              <a:rPr lang="en-US" altLang="ko-KR" sz="1400"/>
              <a:t>./gradlew clean build -x test</a:t>
            </a:r>
          </a:p>
          <a:p>
            <a:r>
              <a:rPr lang="en-US" altLang="ko-KR" sz="1400"/>
              <a:t>cd ..</a:t>
            </a:r>
          </a:p>
          <a:p>
            <a:r>
              <a:rPr lang="de-DE" altLang="ko-KR" sz="1400"/>
              <a:t>sudo usermod -aG docker ubuntu </a:t>
            </a:r>
            <a:r>
              <a:rPr lang="de-DE" altLang="ko-KR" sz="1000"/>
              <a:t>(</a:t>
            </a:r>
            <a:r>
              <a:rPr lang="en-US" altLang="ko-KR" sz="1000"/>
              <a:t>docker</a:t>
            </a:r>
            <a:r>
              <a:rPr lang="ko-KR" altLang="en-US" sz="1000"/>
              <a:t>그룹에 </a:t>
            </a:r>
            <a:r>
              <a:rPr lang="en-US" altLang="ko-KR" sz="1000"/>
              <a:t>ubuntu </a:t>
            </a:r>
            <a:r>
              <a:rPr lang="ko-KR" altLang="en-US" sz="1000"/>
              <a:t>유저 추가</a:t>
            </a:r>
            <a:r>
              <a:rPr lang="en-US" altLang="ko-KR" sz="1000"/>
              <a:t>)</a:t>
            </a:r>
          </a:p>
          <a:p>
            <a:endParaRPr lang="en-US" altLang="ko-KR" sz="1000"/>
          </a:p>
          <a:p>
            <a:r>
              <a:rPr lang="ko-KR" altLang="en-US" sz="1200"/>
              <a:t>터미널 종료 </a:t>
            </a:r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ko-KR" altLang="en-US" sz="1200">
                <a:sym typeface="Wingdings" panose="05000000000000000000" pitchFamily="2" charset="2"/>
              </a:rPr>
              <a:t>재접속</a:t>
            </a:r>
            <a:endParaRPr lang="en-US" altLang="ko-KR" sz="1200">
              <a:sym typeface="Wingdings" panose="05000000000000000000" pitchFamily="2" charset="2"/>
            </a:endParaRPr>
          </a:p>
          <a:p>
            <a:r>
              <a:rPr lang="en-US" altLang="ko-KR" sz="1200">
                <a:sym typeface="Wingdings" panose="05000000000000000000" pitchFamily="2" charset="2"/>
              </a:rPr>
              <a:t>cd</a:t>
            </a:r>
            <a:r>
              <a:rPr lang="ko-KR" altLang="en-US" sz="1200">
                <a:sym typeface="Wingdings" panose="05000000000000000000" pitchFamily="2" charset="2"/>
              </a:rPr>
              <a:t> </a:t>
            </a:r>
            <a:r>
              <a:rPr lang="en-US" altLang="ko-KR" sz="1200">
                <a:sym typeface="Wingdings" panose="05000000000000000000" pitchFamily="2" charset="2"/>
              </a:rPr>
              <a:t>Redis_1</a:t>
            </a:r>
            <a:endParaRPr lang="en-US" altLang="ko-KR" sz="1200"/>
          </a:p>
          <a:p>
            <a:r>
              <a:rPr lang="en-US" altLang="ko-KR" sz="1200"/>
              <a:t>docker compose -f compose-prod.yml up --build -d  </a:t>
            </a:r>
          </a:p>
          <a:p>
            <a:r>
              <a:rPr lang="en-US" altLang="ko-KR" sz="1200"/>
              <a:t>docker ps</a:t>
            </a:r>
            <a:endParaRPr lang="ko-KR" altLang="en-US" sz="120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76BEE15-BBE7-2E79-5524-A19D3C16C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673" y="3798166"/>
            <a:ext cx="5745018" cy="22203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C029A7D-3496-83FD-3858-E463592FB5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673" y="6081002"/>
            <a:ext cx="11600873" cy="626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876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45EBAF-F010-27AE-E39D-18A0169E7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AWS EC2 </a:t>
            </a:r>
            <a:r>
              <a:rPr lang="ko-KR" altLang="en-US"/>
              <a:t>로 요청 보내보기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FF91C7-5CF1-C1C4-502A-6221C93C9617}"/>
              </a:ext>
            </a:extLst>
          </p:cNvPr>
          <p:cNvSpPr txBox="1"/>
          <p:nvPr/>
        </p:nvSpPr>
        <p:spPr>
          <a:xfrm>
            <a:off x="1097280" y="190737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$ docker compose logs -f # </a:t>
            </a:r>
            <a:r>
              <a:rPr lang="ko-KR" altLang="en-US"/>
              <a:t>실시간 로그 확인하기 명령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54B96D7-F99F-8F5B-6B8D-BBF69A78E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90" y="2446712"/>
            <a:ext cx="11517745" cy="1670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71446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119</TotalTime>
  <Words>1203</Words>
  <Application>Microsoft Office PowerPoint</Application>
  <PresentationFormat>와이드스크린</PresentationFormat>
  <Paragraphs>190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Calibri</vt:lpstr>
      <vt:lpstr>Calibri Light</vt:lpstr>
      <vt:lpstr>Consolas</vt:lpstr>
      <vt:lpstr>Wingdings</vt:lpstr>
      <vt:lpstr>추억</vt:lpstr>
      <vt:lpstr>도커 컨테이너로 인프라 구성</vt:lpstr>
      <vt:lpstr>Application Dockerfile 작성하기</vt:lpstr>
      <vt:lpstr>compose.yml 파일 작성하기</vt:lpstr>
      <vt:lpstr>애플리케이션 설정 변경(application.yml)</vt:lpstr>
      <vt:lpstr>local 환경에서 docker container 띄우기</vt:lpstr>
      <vt:lpstr>Prod 환경에서 동작하는 Dockerfile 작성하기</vt:lpstr>
      <vt:lpstr>compose-prod.yml 작성</vt:lpstr>
      <vt:lpstr>application.yml 수정</vt:lpstr>
      <vt:lpstr>EC2 시스템에 Docker 설치하기</vt:lpstr>
      <vt:lpstr>EC2 Redis 및 실행중인 애플리케이션 중지</vt:lpstr>
      <vt:lpstr>Git 으로 프로젝트 세팅</vt:lpstr>
      <vt:lpstr>AWS EC2 로 요청 보내보기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44</cp:revision>
  <dcterms:created xsi:type="dcterms:W3CDTF">2026-08-25T14:01:42Z</dcterms:created>
  <dcterms:modified xsi:type="dcterms:W3CDTF">2026-08-25T16:01:20Z</dcterms:modified>
</cp:coreProperties>
</file>