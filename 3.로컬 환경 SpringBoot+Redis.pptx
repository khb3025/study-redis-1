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AA1AB6D-EC91-41C0-B8D3-82C905AB51E7}">
          <p14:sldIdLst>
            <p14:sldId id="256"/>
          </p14:sldIdLst>
        </p14:section>
        <p14:section name="게시글 애플리케이션 작성" id="{D5EB2DE2-FBE1-42FA-8F4F-4FD48752479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dis 셋팅" id="{0E90D56B-1FF0-46C0-8794-162A834D2BED}">
          <p14:sldIdLst>
            <p14:sldId id="265"/>
            <p14:sldId id="266"/>
            <p14:sldId id="267"/>
            <p14:sldId id="268"/>
            <p14:sldId id="270"/>
            <p14:sldId id="269"/>
          </p14:sldIdLst>
        </p14:section>
        <p14:section name="캐시 미적용, 적용 응답시간 비교" id="{013CD2DA-236E-4F09-B401-0C3FC5747FAF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0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90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03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04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56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52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93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110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22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00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10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922853D-96C8-4D55-8417-23EB18CE17A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5B412FE-1C00-454F-A670-F11A75BF8E4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80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70679-628E-E430-A299-C62435C32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로컬 환경 </a:t>
            </a:r>
            <a:r>
              <a:rPr lang="en-US" altLang="ko-KR" sz="6000"/>
              <a:t>SpringBoot+Redis</a:t>
            </a:r>
            <a:endParaRPr lang="ko-KR" altLang="en-US" sz="6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2A0A3B-6D3D-E312-D245-DF71F25E3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426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52A21-8985-AB5C-E634-670201B8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Spring Boot Application </a:t>
            </a:r>
            <a:r>
              <a:rPr lang="ko-KR" altLang="en-US"/>
              <a:t>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C1F17E7-23AB-D894-1F19-577743507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745" y="1994159"/>
            <a:ext cx="8682182" cy="4010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656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421EE-8A03-4FD1-754F-C77DE93B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</a:t>
            </a:r>
            <a:r>
              <a:rPr lang="ko-KR" altLang="en-US"/>
              <a:t>생성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D8CBC-F283-A1AC-E49D-CEBC793D284F}"/>
              </a:ext>
            </a:extLst>
          </p:cNvPr>
          <p:cNvSpPr txBox="1"/>
          <p:nvPr/>
        </p:nvSpPr>
        <p:spPr>
          <a:xfrm>
            <a:off x="1191491" y="1861327"/>
            <a:ext cx="101692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윈도우</a:t>
            </a:r>
            <a:endParaRPr lang="en-US" altLang="ko-KR"/>
          </a:p>
          <a:p>
            <a:r>
              <a:rPr lang="en-US" altLang="ko-KR"/>
              <a:t>docker run -d -p3323:3306 --name redis-1-mysqldb ^ </a:t>
            </a:r>
          </a:p>
          <a:p>
            <a:r>
              <a:rPr lang="en-US" altLang="ko-KR"/>
              <a:t>		   -e MYSQL_ROOT_PASSWORD=password ^</a:t>
            </a:r>
          </a:p>
          <a:p>
            <a:r>
              <a:rPr lang="en-US" altLang="ko-KR"/>
              <a:t>		   -e MYSQL_DATABASE=redis-1-db ^</a:t>
            </a:r>
          </a:p>
          <a:p>
            <a:r>
              <a:rPr lang="en-US" altLang="ko-KR"/>
              <a:t>		   -e MYSQL_USER=redis ^</a:t>
            </a:r>
          </a:p>
          <a:p>
            <a:r>
              <a:rPr lang="en-US" altLang="ko-KR"/>
              <a:t>		   -e MYSQL_PASSWORD=password mysql:latest</a:t>
            </a:r>
          </a:p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리눅스 </a:t>
            </a:r>
            <a:endParaRPr lang="en-US" altLang="ko-KR"/>
          </a:p>
          <a:p>
            <a:r>
              <a:rPr lang="ko-KR" altLang="en-US"/>
              <a:t>docker run -d -p3323:3306 --name redis-1-mysqldb </a:t>
            </a:r>
            <a:r>
              <a:rPr lang="en-US" altLang="ko-KR"/>
              <a:t>\</a:t>
            </a:r>
          </a:p>
          <a:p>
            <a:r>
              <a:rPr lang="en-US" altLang="ko-KR"/>
              <a:t>		   </a:t>
            </a:r>
            <a:r>
              <a:rPr lang="ko-KR" altLang="en-US"/>
              <a:t>-e MYSQL_ROOT_PASSWORD=password </a:t>
            </a:r>
            <a:r>
              <a:rPr lang="en-US" altLang="ko-KR"/>
              <a:t>\</a:t>
            </a:r>
          </a:p>
          <a:p>
            <a:r>
              <a:rPr lang="en-US" altLang="ko-KR"/>
              <a:t>                    </a:t>
            </a:r>
            <a:r>
              <a:rPr lang="ko-KR" altLang="en-US"/>
              <a:t>-e MYSQL_DATABASE=redis-1-db </a:t>
            </a:r>
            <a:r>
              <a:rPr lang="en-US" altLang="ko-KR"/>
              <a:t>\</a:t>
            </a:r>
          </a:p>
          <a:p>
            <a:r>
              <a:rPr lang="en-US" altLang="ko-KR"/>
              <a:t>		   </a:t>
            </a:r>
            <a:r>
              <a:rPr lang="ko-KR" altLang="en-US"/>
              <a:t>-e MYSQL_USER=redis </a:t>
            </a:r>
            <a:r>
              <a:rPr lang="en-US" altLang="ko-KR"/>
              <a:t>\</a:t>
            </a:r>
          </a:p>
          <a:p>
            <a:r>
              <a:rPr lang="en-US" altLang="ko-KR"/>
              <a:t>		   </a:t>
            </a:r>
            <a:r>
              <a:rPr lang="ko-KR" altLang="en-US"/>
              <a:t>-e MYSQL_PASSWORD=password mysql:latest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320B55-FB2B-3F7F-333B-19E4E78883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9"/>
          <a:stretch>
            <a:fillRect/>
          </a:stretch>
        </p:blipFill>
        <p:spPr>
          <a:xfrm>
            <a:off x="6832915" y="2088370"/>
            <a:ext cx="5188070" cy="34626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E78F2B-61C3-8BBC-4BE5-B8D37BA9B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59"/>
          <a:stretch>
            <a:fillRect/>
          </a:stretch>
        </p:blipFill>
        <p:spPr>
          <a:xfrm>
            <a:off x="8164766" y="4012448"/>
            <a:ext cx="2595598" cy="22271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862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529B7-FC45-38D0-AB6F-9FC32CA9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C68B8B-F1AF-EB83-5C26-2F4596C5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7629"/>
            <a:ext cx="4544059" cy="3162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392684-5BA0-3F78-EC66-5601E3632E80}"/>
              </a:ext>
            </a:extLst>
          </p:cNvPr>
          <p:cNvSpPr txBox="1"/>
          <p:nvPr/>
        </p:nvSpPr>
        <p:spPr>
          <a:xfrm>
            <a:off x="5763491" y="1847629"/>
            <a:ext cx="5938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Product </a:t>
            </a:r>
            <a:r>
              <a:rPr lang="ko-KR" altLang="en-US"/>
              <a:t>환경과 </a:t>
            </a:r>
            <a:r>
              <a:rPr lang="en-US" altLang="ko-KR"/>
              <a:t>Local </a:t>
            </a:r>
            <a:r>
              <a:rPr lang="ko-KR" altLang="en-US"/>
              <a:t>환경 분리하여 실습 진행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DB</a:t>
            </a:r>
            <a:r>
              <a:rPr lang="ko-KR" altLang="en-US"/>
              <a:t>정보 셋팅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JPA </a:t>
            </a:r>
            <a:r>
              <a:rPr lang="ko-KR" altLang="en-US"/>
              <a:t>데이터의 변경을 남기도록 하기 위해 </a:t>
            </a:r>
            <a:r>
              <a:rPr lang="en-US" altLang="ko-KR"/>
              <a:t>update </a:t>
            </a:r>
            <a:r>
              <a:rPr lang="ko-KR" altLang="en-US"/>
              <a:t>설정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JPA</a:t>
            </a:r>
            <a:r>
              <a:rPr lang="ko-KR" altLang="en-US"/>
              <a:t>에서 나가는 쿼리를 보기위해 </a:t>
            </a:r>
            <a:r>
              <a:rPr lang="en-US" altLang="ko-KR"/>
              <a:t>show-sql : true</a:t>
            </a:r>
          </a:p>
          <a:p>
            <a:pPr marL="285750" indent="-285750"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5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AD799-18B6-FD1B-967C-3C31EF09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애플리케이션 </a:t>
            </a:r>
            <a:r>
              <a:rPr lang="en-US" altLang="ko-KR"/>
              <a:t>API </a:t>
            </a:r>
            <a:r>
              <a:rPr lang="ko-KR" altLang="en-US"/>
              <a:t>작성 </a:t>
            </a:r>
            <a:r>
              <a:rPr lang="en-US" altLang="ko-KR"/>
              <a:t>- Entity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29B64AC-1920-4A39-4FB3-26B54D6FF93E}"/>
              </a:ext>
            </a:extLst>
          </p:cNvPr>
          <p:cNvGrpSpPr/>
          <p:nvPr/>
        </p:nvGrpSpPr>
        <p:grpSpPr>
          <a:xfrm>
            <a:off x="1097280" y="1802012"/>
            <a:ext cx="2334114" cy="5010563"/>
            <a:chOff x="1097280" y="1802012"/>
            <a:chExt cx="2334114" cy="501056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C18E521-522F-F0D3-1787-42384626F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02012"/>
              <a:ext cx="2334114" cy="501056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11AC451-2BAF-2CFF-3E41-B7880ADA5397}"/>
                </a:ext>
              </a:extLst>
            </p:cNvPr>
            <p:cNvSpPr/>
            <p:nvPr/>
          </p:nvSpPr>
          <p:spPr>
            <a:xfrm>
              <a:off x="1394691" y="3777673"/>
              <a:ext cx="665018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2AAB2297-EAFB-272D-1D8C-13367CD0E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996" y="1802012"/>
            <a:ext cx="4224259" cy="502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94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54D9C1-DAD1-C20A-4231-E4533164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애플리케이션 </a:t>
            </a:r>
            <a:r>
              <a:rPr lang="en-US" altLang="ko-KR"/>
              <a:t>API </a:t>
            </a:r>
            <a:r>
              <a:rPr lang="ko-KR" altLang="en-US"/>
              <a:t>작성 </a:t>
            </a:r>
            <a:r>
              <a:rPr lang="en-US" altLang="ko-KR"/>
              <a:t>- Controller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F2BD4D-83AC-9F12-6DE3-0B026B77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46" y="1802012"/>
            <a:ext cx="4620270" cy="3515216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C4C5390-B0F9-2243-A42F-D546BBF87A60}"/>
              </a:ext>
            </a:extLst>
          </p:cNvPr>
          <p:cNvGrpSpPr/>
          <p:nvPr/>
        </p:nvGrpSpPr>
        <p:grpSpPr>
          <a:xfrm>
            <a:off x="1097280" y="1802012"/>
            <a:ext cx="2334114" cy="5010563"/>
            <a:chOff x="1097280" y="1802012"/>
            <a:chExt cx="2334114" cy="501056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3460B41-59D5-79DA-C2C4-0A19A87D2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1802012"/>
              <a:ext cx="2334114" cy="501056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4E86C1E-6A9C-D899-D644-904029F26598}"/>
                </a:ext>
              </a:extLst>
            </p:cNvPr>
            <p:cNvSpPr/>
            <p:nvPr/>
          </p:nvSpPr>
          <p:spPr>
            <a:xfrm>
              <a:off x="1394691" y="3962400"/>
              <a:ext cx="1126836" cy="2309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6178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6ED33-52E0-8A0F-243A-C895EE27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애플리케이션 </a:t>
            </a:r>
            <a:r>
              <a:rPr lang="en-US" altLang="ko-KR"/>
              <a:t>API</a:t>
            </a:r>
            <a:r>
              <a:rPr lang="ko-KR" altLang="en-US"/>
              <a:t>작성 </a:t>
            </a:r>
            <a:r>
              <a:rPr lang="en-US" altLang="ko-KR"/>
              <a:t>- Service</a:t>
            </a:r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AB26CDD-1A3B-EE97-CDAB-30389B1AEAE3}"/>
              </a:ext>
            </a:extLst>
          </p:cNvPr>
          <p:cNvGrpSpPr/>
          <p:nvPr/>
        </p:nvGrpSpPr>
        <p:grpSpPr>
          <a:xfrm>
            <a:off x="1097280" y="1802012"/>
            <a:ext cx="2334114" cy="5010563"/>
            <a:chOff x="1097280" y="1802012"/>
            <a:chExt cx="2334114" cy="501056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65AD7DC-EDED-6B25-857C-5988C39F8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02012"/>
              <a:ext cx="2334114" cy="501056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27ED28B-736D-A656-3E64-31AF39E14BBC}"/>
                </a:ext>
              </a:extLst>
            </p:cNvPr>
            <p:cNvSpPr/>
            <p:nvPr/>
          </p:nvSpPr>
          <p:spPr>
            <a:xfrm>
              <a:off x="1394691" y="3962400"/>
              <a:ext cx="1126836" cy="2309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C107D377-7734-0248-B732-572CDEAE4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023" y="1802012"/>
            <a:ext cx="7068536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2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A6868-EF4D-CEB1-925F-D8E995CA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애플리케이션 </a:t>
            </a:r>
            <a:r>
              <a:rPr lang="en-US" altLang="ko-KR" sz="4400"/>
              <a:t>API</a:t>
            </a:r>
            <a:r>
              <a:rPr lang="ko-KR" altLang="en-US" sz="4400"/>
              <a:t>작성</a:t>
            </a:r>
            <a:r>
              <a:rPr lang="en-US" altLang="ko-KR" sz="4400"/>
              <a:t>-BoardRepository</a:t>
            </a:r>
            <a:endParaRPr lang="ko-KR" altLang="en-US" sz="44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FFA3E62-5F5D-018D-95A7-6B3202C665E2}"/>
              </a:ext>
            </a:extLst>
          </p:cNvPr>
          <p:cNvGrpSpPr/>
          <p:nvPr/>
        </p:nvGrpSpPr>
        <p:grpSpPr>
          <a:xfrm>
            <a:off x="1097280" y="1802012"/>
            <a:ext cx="2334114" cy="5010563"/>
            <a:chOff x="1097280" y="1802012"/>
            <a:chExt cx="2334114" cy="501056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D28C4B4-21C2-394B-CA0D-BD1AFE1A7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02012"/>
              <a:ext cx="2334114" cy="501056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1DD062F-ED05-2C3C-C500-7EC58B545F8D}"/>
                </a:ext>
              </a:extLst>
            </p:cNvPr>
            <p:cNvSpPr/>
            <p:nvPr/>
          </p:nvSpPr>
          <p:spPr>
            <a:xfrm>
              <a:off x="1394691" y="3962400"/>
              <a:ext cx="1126836" cy="2309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ADA711A-07EF-F946-9352-C122A6C24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49" y="1802012"/>
            <a:ext cx="5591955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B7762-A97B-5B1F-F1D0-05A32FAB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데이터베이스 데이터 셋팅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46CFB-21BE-017F-BB38-3D9F9C1A541E}"/>
              </a:ext>
            </a:extLst>
          </p:cNvPr>
          <p:cNvSpPr txBox="1"/>
          <p:nvPr/>
        </p:nvSpPr>
        <p:spPr>
          <a:xfrm>
            <a:off x="1097280" y="1908382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>
                <a:latin typeface="anthropic-mono"/>
              </a:rPr>
              <a:t>create table boards (	</a:t>
            </a:r>
          </a:p>
          <a:p>
            <a:r>
              <a:rPr lang="en-US" altLang="ko-KR" sz="1000">
                <a:latin typeface="anthropic-mono"/>
              </a:rPr>
              <a:t>	id bigint primary key auto_increment,    </a:t>
            </a:r>
          </a:p>
          <a:p>
            <a:r>
              <a:rPr lang="en-US" altLang="ko-KR" sz="1000">
                <a:latin typeface="anthropic-mono"/>
              </a:rPr>
              <a:t>	title varchar(200),    </a:t>
            </a:r>
          </a:p>
          <a:p>
            <a:r>
              <a:rPr lang="en-US" altLang="ko-KR" sz="1000">
                <a:latin typeface="anthropic-mono"/>
              </a:rPr>
              <a:t>	content varchar(255),    </a:t>
            </a:r>
          </a:p>
          <a:p>
            <a:r>
              <a:rPr lang="en-US" altLang="ko-KR" sz="1000">
                <a:latin typeface="anthropic-mono"/>
              </a:rPr>
              <a:t>	created_at datetime default now()</a:t>
            </a:r>
          </a:p>
          <a:p>
            <a:r>
              <a:rPr lang="en-US" altLang="ko-KR" sz="1000">
                <a:latin typeface="anthropic-mono"/>
              </a:rPr>
              <a:t>);</a:t>
            </a:r>
          </a:p>
          <a:p>
            <a:pPr algn="l">
              <a:buNone/>
            </a:pPr>
            <a:endParaRPr lang="en-US" altLang="ko-KR" sz="1000" b="0" i="0">
              <a:solidFill>
                <a:srgbClr val="999999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-- 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높은 재귀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(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반복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) 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횟수를 허용하도록 설정</a:t>
            </a:r>
            <a:endParaRPr lang="ko-KR" altLang="en-US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-- (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아래에서 생성할 더미 데이터의 개수와 맞춰서 작성하면 된다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.)</a:t>
            </a:r>
            <a:endParaRPr lang="ko-KR" altLang="en-US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SET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SESSION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cte_max_recursion_depth 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=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1000000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;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-- boards 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테이블에 더미 데이터 삽입</a:t>
            </a:r>
            <a:endParaRPr lang="ko-KR" altLang="en-US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INSERT INTO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boards (title, content, created_at)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WITH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RECURSIVE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cte (n)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AS</a:t>
            </a:r>
            <a:endParaRPr lang="en-US" altLang="ko-KR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SELECT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1</a:t>
            </a:r>
            <a:endParaRPr lang="en-US" altLang="ko-KR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UNION ALL</a:t>
            </a:r>
            <a:endParaRPr lang="en-US" altLang="ko-KR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SELECT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n 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+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1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FROM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cte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WHERE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n 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&lt;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1000000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-- 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생성하고 싶은 더미 데이터의 개수</a:t>
            </a:r>
            <a:endParaRPr lang="ko-KR" altLang="en-US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SELECT</a:t>
            </a:r>
            <a:endParaRPr lang="en-US" altLang="ko-KR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0073E6"/>
                </a:solidFill>
                <a:effectLst/>
                <a:latin typeface="anthropic-mono"/>
              </a:rPr>
              <a:t>CONCAT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</a:t>
            </a:r>
            <a:r>
              <a:rPr lang="en-US" altLang="ko-KR" sz="1000" b="0" i="0">
                <a:solidFill>
                  <a:srgbClr val="1E9E3C"/>
                </a:solidFill>
                <a:effectLst/>
                <a:latin typeface="anthropic-mono"/>
              </a:rPr>
              <a:t>'Title'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, LPAD(n,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7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, </a:t>
            </a:r>
            <a:r>
              <a:rPr lang="en-US" altLang="ko-KR" sz="1000" b="0" i="0">
                <a:solidFill>
                  <a:srgbClr val="1E9E3C"/>
                </a:solidFill>
                <a:effectLst/>
                <a:latin typeface="anthropic-mono"/>
              </a:rPr>
              <a:t>'0'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))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AS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title, 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-- 'Title' 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다음에 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7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자리 숫자로 구성된 제목 생성</a:t>
            </a:r>
            <a:endParaRPr lang="ko-KR" altLang="en-US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0073E6"/>
                </a:solidFill>
                <a:effectLst/>
                <a:latin typeface="anthropic-mono"/>
              </a:rPr>
              <a:t>CONCAT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</a:t>
            </a:r>
            <a:r>
              <a:rPr lang="en-US" altLang="ko-KR" sz="1000" b="0" i="0">
                <a:solidFill>
                  <a:srgbClr val="1E9E3C"/>
                </a:solidFill>
                <a:effectLst/>
                <a:latin typeface="anthropic-mono"/>
              </a:rPr>
              <a:t>'Content'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, LPAD(n,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7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, </a:t>
            </a:r>
            <a:r>
              <a:rPr lang="en-US" altLang="ko-KR" sz="1000" b="0" i="0">
                <a:solidFill>
                  <a:srgbClr val="1E9E3C"/>
                </a:solidFill>
                <a:effectLst/>
                <a:latin typeface="anthropic-mono"/>
              </a:rPr>
              <a:t>'0'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))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AS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content, 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-- 'Content' 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다음에 </a:t>
            </a:r>
            <a:r>
              <a:rPr lang="en-US" altLang="ko-KR" sz="1000" b="0" i="0">
                <a:solidFill>
                  <a:srgbClr val="999999"/>
                </a:solidFill>
                <a:effectLst/>
                <a:latin typeface="anthropic-mono"/>
              </a:rPr>
              <a:t>7</a:t>
            </a:r>
            <a:r>
              <a:rPr lang="ko-KR" altLang="en-US" sz="1000" b="0" i="0">
                <a:solidFill>
                  <a:srgbClr val="999999"/>
                </a:solidFill>
                <a:effectLst/>
                <a:latin typeface="anthropic-mono"/>
              </a:rPr>
              <a:t>자리 숫자로 구성된 내용 생성</a:t>
            </a:r>
            <a:endParaRPr lang="ko-KR" altLang="en-US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TIMESTAMP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DATE_SUB(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NOW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()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, INTERVAL </a:t>
            </a:r>
            <a:r>
              <a:rPr lang="en-US" altLang="ko-KR" sz="1000" b="0" i="0">
                <a:solidFill>
                  <a:srgbClr val="0073E6"/>
                </a:solidFill>
                <a:effectLst/>
                <a:latin typeface="anthropic-mono"/>
              </a:rPr>
              <a:t>FLOOR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</a:t>
            </a:r>
            <a:r>
              <a:rPr lang="en-US" altLang="ko-KR" sz="1000" b="0" i="0">
                <a:solidFill>
                  <a:srgbClr val="0073E6"/>
                </a:solidFill>
                <a:effectLst/>
                <a:latin typeface="anthropic-mono"/>
              </a:rPr>
              <a:t>RAND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() 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*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3650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+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1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DAY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+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INTERVAL </a:t>
            </a:r>
            <a:r>
              <a:rPr lang="en-US" altLang="ko-KR" sz="1000" b="0" i="0">
                <a:solidFill>
                  <a:srgbClr val="0073E6"/>
                </a:solidFill>
                <a:effectLst/>
                <a:latin typeface="anthropic-mono"/>
              </a:rPr>
              <a:t>FLOOR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</a:t>
            </a:r>
            <a:r>
              <a:rPr lang="en-US" altLang="ko-KR" sz="1000" b="0" i="0">
                <a:solidFill>
                  <a:srgbClr val="0073E6"/>
                </a:solidFill>
                <a:effectLst/>
                <a:latin typeface="anthropic-mono"/>
              </a:rPr>
              <a:t>RAND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() </a:t>
            </a:r>
            <a:r>
              <a:rPr lang="en-US" altLang="ko-KR" sz="1000" b="0" i="0">
                <a:solidFill>
                  <a:srgbClr val="737373"/>
                </a:solidFill>
                <a:effectLst/>
                <a:latin typeface="anthropic-mono"/>
              </a:rPr>
              <a:t>*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</a:t>
            </a:r>
            <a:r>
              <a:rPr lang="en-US" altLang="ko-KR" sz="1000" b="0" i="0">
                <a:solidFill>
                  <a:srgbClr val="CD2054"/>
                </a:solidFill>
                <a:effectLst/>
                <a:latin typeface="anthropic-mono"/>
              </a:rPr>
              <a:t>86400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SECOND</a:t>
            </a:r>
            <a:endParaRPr lang="en-US" altLang="ko-KR" sz="1000" b="0" i="0">
              <a:solidFill>
                <a:srgbClr val="1A1A1A"/>
              </a:solidFill>
              <a:effectLst/>
              <a:latin typeface="anthropic-mono"/>
            </a:endParaRPr>
          </a:p>
          <a:p>
            <a:pPr algn="l">
              <a:buNone/>
            </a:pP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) </a:t>
            </a: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AS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created_at</a:t>
            </a:r>
          </a:p>
          <a:p>
            <a:pPr algn="l">
              <a:buNone/>
            </a:pPr>
            <a:r>
              <a:rPr lang="en-US" altLang="ko-KR" sz="1000" b="0" i="0">
                <a:solidFill>
                  <a:srgbClr val="C5621B"/>
                </a:solidFill>
                <a:effectLst/>
                <a:latin typeface="anthropic-mono"/>
              </a:rPr>
              <a:t>FROM</a:t>
            </a:r>
            <a:r>
              <a:rPr lang="en-US" altLang="ko-KR" sz="1000" b="0" i="0">
                <a:solidFill>
                  <a:srgbClr val="1A1A1A"/>
                </a:solidFill>
                <a:effectLst/>
                <a:latin typeface="anthropic-mono"/>
              </a:rPr>
              <a:t> cte;</a:t>
            </a:r>
          </a:p>
          <a:p>
            <a:pPr algn="l">
              <a:buNone/>
            </a:pPr>
            <a:endParaRPr lang="en-US" altLang="ko-KR" sz="1000">
              <a:solidFill>
                <a:srgbClr val="1A1A1A"/>
              </a:solidFill>
              <a:latin typeface="anthropic-mono"/>
            </a:endParaRPr>
          </a:p>
          <a:p>
            <a:r>
              <a:rPr lang="en-US" altLang="ko-KR" sz="1000">
                <a:solidFill>
                  <a:srgbClr val="1A1A1A"/>
                </a:solidFill>
                <a:latin typeface="anthropic-mono"/>
              </a:rPr>
              <a:t>select count(*) from boards;</a:t>
            </a:r>
            <a:endParaRPr lang="en-US" altLang="ko-KR" sz="1000" b="0" i="0">
              <a:solidFill>
                <a:srgbClr val="1A1A1A"/>
              </a:solidFill>
              <a:effectLst/>
              <a:latin typeface="anthropic-mono"/>
            </a:endParaRPr>
          </a:p>
        </p:txBody>
      </p:sp>
    </p:spTree>
    <p:extLst>
      <p:ext uri="{BB962C8B-B14F-4D97-AF65-F5344CB8AC3E}">
        <p14:creationId xmlns:p14="http://schemas.microsoft.com/office/powerpoint/2010/main" val="3533617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EFE84-041B-4B22-741E-622A667A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의존성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144ED-7177-4EBE-96E2-F1E9DA0D3ED6}"/>
              </a:ext>
            </a:extLst>
          </p:cNvPr>
          <p:cNvSpPr txBox="1"/>
          <p:nvPr/>
        </p:nvSpPr>
        <p:spPr>
          <a:xfrm>
            <a:off x="1097280" y="2119853"/>
            <a:ext cx="78509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/>
              <a:t>Redis </a:t>
            </a:r>
            <a:r>
              <a:rPr lang="ko-KR" altLang="en-US" sz="1400"/>
              <a:t>의존성</a:t>
            </a:r>
            <a:endParaRPr lang="en-US" altLang="ko-KR" sz="1400"/>
          </a:p>
          <a:p>
            <a:r>
              <a:rPr lang="en-US" altLang="ko-KR" sz="1400"/>
              <a:t>implementation 'org.springframework.boot:spring-boot-starter-data-redis'</a:t>
            </a:r>
            <a:endParaRPr lang="ko-KR" altLang="en-US" sz="14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B14EE97-961D-7A91-0711-1C41D8E43147}"/>
              </a:ext>
            </a:extLst>
          </p:cNvPr>
          <p:cNvGrpSpPr/>
          <p:nvPr/>
        </p:nvGrpSpPr>
        <p:grpSpPr>
          <a:xfrm>
            <a:off x="1097280" y="2643074"/>
            <a:ext cx="6273338" cy="1815494"/>
            <a:chOff x="1097280" y="2643074"/>
            <a:chExt cx="6273338" cy="181549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ED6FA9D-329D-86CB-7A14-AD799DE87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2643074"/>
              <a:ext cx="6273338" cy="181549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9B20FE9-BE96-3A70-EBEE-F6F0C050BFC3}"/>
                </a:ext>
              </a:extLst>
            </p:cNvPr>
            <p:cNvSpPr/>
            <p:nvPr/>
          </p:nvSpPr>
          <p:spPr>
            <a:xfrm>
              <a:off x="1856509" y="3177309"/>
              <a:ext cx="5070764" cy="2516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160D4CC7-69DE-D115-C485-240E640DE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611" y="1931324"/>
            <a:ext cx="2277548" cy="43685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65ABC2-9DB0-A70F-F55F-062762D41C63}"/>
              </a:ext>
            </a:extLst>
          </p:cNvPr>
          <p:cNvSpPr txBox="1"/>
          <p:nvPr/>
        </p:nvSpPr>
        <p:spPr>
          <a:xfrm>
            <a:off x="1097280" y="460402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anthropic-mono"/>
              </a:rPr>
              <a:t>bootRun</a:t>
            </a:r>
            <a:r>
              <a:rPr lang="ko-KR" altLang="en-US">
                <a:latin typeface="anthropic-mono"/>
              </a:rPr>
              <a:t>을 실행시키거나 </a:t>
            </a:r>
            <a:endParaRPr lang="en-US" altLang="ko-KR" b="0" i="0" u="none" strike="noStrike">
              <a:effectLst/>
              <a:latin typeface="anthropic-mono"/>
            </a:endParaRPr>
          </a:p>
          <a:p>
            <a:endParaRPr lang="en-US" altLang="ko-KR" b="0" i="0" u="none" strike="noStrike">
              <a:effectLst/>
              <a:latin typeface="anthropic-mono"/>
            </a:endParaRPr>
          </a:p>
          <a:p>
            <a:r>
              <a:rPr lang="en-US" altLang="ko-KR" b="0" i="0" u="none" strike="noStrike">
                <a:effectLst/>
                <a:latin typeface="anthropic-mono"/>
              </a:rPr>
              <a:t>gradlew compileJava </a:t>
            </a:r>
            <a:endParaRPr lang="en-US" altLang="ko-KR">
              <a:latin typeface="anthropic-mono"/>
            </a:endParaRPr>
          </a:p>
          <a:p>
            <a:r>
              <a:rPr lang="en-US" altLang="ko-KR" b="0" i="0" u="none" strike="noStrike">
                <a:effectLst/>
                <a:latin typeface="anthropic-mono"/>
              </a:rPr>
              <a:t>(</a:t>
            </a:r>
            <a:r>
              <a:rPr lang="ko-KR" altLang="en-US" b="0" i="0" u="none" strike="noStrike">
                <a:effectLst/>
                <a:latin typeface="anthropic-mono"/>
              </a:rPr>
              <a:t>터미널에서 이거 실행시켜도 됨</a:t>
            </a:r>
            <a:r>
              <a:rPr lang="en-US" altLang="ko-KR" b="0" i="0" u="none" strike="noStrike">
                <a:effectLst/>
                <a:latin typeface="anthropic-mono"/>
              </a:rPr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70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6CBFC-5BA8-89E7-48CF-09310B07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Redis </a:t>
            </a:r>
            <a:r>
              <a:rPr lang="ko-KR" altLang="en-US"/>
              <a:t>셋팅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B4C534D-2988-644F-B934-5A3EDADB43BC}"/>
              </a:ext>
            </a:extLst>
          </p:cNvPr>
          <p:cNvGrpSpPr/>
          <p:nvPr/>
        </p:nvGrpSpPr>
        <p:grpSpPr>
          <a:xfrm>
            <a:off x="1097280" y="1802012"/>
            <a:ext cx="2334114" cy="5010563"/>
            <a:chOff x="1097280" y="1802012"/>
            <a:chExt cx="2334114" cy="501056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6860102-EFD1-B3B6-56CD-AC09F017D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02012"/>
              <a:ext cx="2334114" cy="501056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DDC4BD3-569D-96B5-B3C9-51828FC695B2}"/>
                </a:ext>
              </a:extLst>
            </p:cNvPr>
            <p:cNvSpPr/>
            <p:nvPr/>
          </p:nvSpPr>
          <p:spPr>
            <a:xfrm>
              <a:off x="1394691" y="5172361"/>
              <a:ext cx="1126836" cy="2309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05952E4-ABA7-7A44-097D-7B2A8B0DD494}"/>
              </a:ext>
            </a:extLst>
          </p:cNvPr>
          <p:cNvGrpSpPr/>
          <p:nvPr/>
        </p:nvGrpSpPr>
        <p:grpSpPr>
          <a:xfrm>
            <a:off x="3681075" y="1802012"/>
            <a:ext cx="4829849" cy="4772691"/>
            <a:chOff x="3681075" y="1802012"/>
            <a:chExt cx="4829849" cy="477269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CB79468-4175-C873-9801-DC23C9357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1075" y="1802012"/>
              <a:ext cx="4829849" cy="4772691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7E69311-D508-D192-6079-ECEBCCBFFAA8}"/>
                </a:ext>
              </a:extLst>
            </p:cNvPr>
            <p:cNvSpPr/>
            <p:nvPr/>
          </p:nvSpPr>
          <p:spPr>
            <a:xfrm>
              <a:off x="4590473" y="5024582"/>
              <a:ext cx="1801091" cy="7850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D4798A8-5653-6FE5-AACA-0AFF700725BB}"/>
              </a:ext>
            </a:extLst>
          </p:cNvPr>
          <p:cNvSpPr txBox="1"/>
          <p:nvPr/>
        </p:nvSpPr>
        <p:spPr>
          <a:xfrm>
            <a:off x="8746836" y="1802012"/>
            <a:ext cx="32327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>
                <a:solidFill>
                  <a:srgbClr val="FF0000"/>
                </a:solidFill>
              </a:rPr>
              <a:t>구버전 </a:t>
            </a:r>
            <a:r>
              <a:rPr lang="en-US" altLang="ko-KR" sz="1400" b="1">
                <a:solidFill>
                  <a:srgbClr val="FF0000"/>
                </a:solidFill>
              </a:rPr>
              <a:t>Redis </a:t>
            </a:r>
            <a:r>
              <a:rPr lang="ko-KR" altLang="en-US" sz="1400" b="1">
                <a:solidFill>
                  <a:srgbClr val="FF0000"/>
                </a:solidFill>
              </a:rPr>
              <a:t>설정</a:t>
            </a:r>
            <a:endParaRPr lang="en-US" altLang="ko-KR" sz="1400" b="1">
              <a:solidFill>
                <a:srgbClr val="FF0000"/>
              </a:solidFill>
            </a:endParaRPr>
          </a:p>
          <a:p>
            <a:r>
              <a:rPr lang="en-US" altLang="ko-KR" sz="1400"/>
              <a:t>spring:</a:t>
            </a:r>
          </a:p>
          <a:p>
            <a:r>
              <a:rPr lang="en-US" altLang="ko-KR" sz="1400"/>
              <a:t>	redis:</a:t>
            </a:r>
          </a:p>
          <a:p>
            <a:r>
              <a:rPr lang="en-US" altLang="ko-KR" sz="1400"/>
              <a:t>		host: ~~</a:t>
            </a:r>
          </a:p>
          <a:p>
            <a:r>
              <a:rPr lang="en-US" altLang="ko-KR" sz="1400"/>
              <a:t>		port: ~~</a:t>
            </a:r>
          </a:p>
          <a:p>
            <a:endParaRPr lang="en-US" altLang="ko-KR" sz="1400"/>
          </a:p>
          <a:p>
            <a:r>
              <a:rPr lang="ko-KR" altLang="en-US" sz="1400" b="1">
                <a:solidFill>
                  <a:srgbClr val="FF0000"/>
                </a:solidFill>
              </a:rPr>
              <a:t>현재</a:t>
            </a:r>
            <a:r>
              <a:rPr lang="en-US" altLang="ko-KR" sz="1400" b="1">
                <a:solidFill>
                  <a:srgbClr val="FF0000"/>
                </a:solidFill>
              </a:rPr>
              <a:t>(2026/08/25 </a:t>
            </a:r>
            <a:r>
              <a:rPr lang="ko-KR" altLang="en-US" sz="1400" b="1">
                <a:solidFill>
                  <a:srgbClr val="FF0000"/>
                </a:solidFill>
              </a:rPr>
              <a:t>기준</a:t>
            </a:r>
            <a:r>
              <a:rPr lang="en-US" altLang="ko-KR" sz="1400" b="1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400"/>
              <a:t>spring:</a:t>
            </a:r>
          </a:p>
          <a:p>
            <a:r>
              <a:rPr lang="en-US" altLang="ko-KR" sz="1400"/>
              <a:t>	data:</a:t>
            </a:r>
          </a:p>
          <a:p>
            <a:r>
              <a:rPr lang="en-US" altLang="ko-KR" sz="1400"/>
              <a:t>		redis:</a:t>
            </a:r>
          </a:p>
          <a:p>
            <a:r>
              <a:rPr lang="en-US" altLang="ko-KR" sz="1400"/>
              <a:t>			host: ~~</a:t>
            </a:r>
          </a:p>
          <a:p>
            <a:r>
              <a:rPr lang="en-US" altLang="ko-KR" sz="1400"/>
              <a:t>			port: ~~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90961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14D27-439C-16ED-16C5-70B9CCDD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RedisConfig </a:t>
            </a:r>
            <a:r>
              <a:rPr lang="ko-KR" altLang="en-US"/>
              <a:t>파일 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85BF542-5BE7-73A1-FF18-EC4DBCA3F785}"/>
              </a:ext>
            </a:extLst>
          </p:cNvPr>
          <p:cNvGrpSpPr/>
          <p:nvPr/>
        </p:nvGrpSpPr>
        <p:grpSpPr>
          <a:xfrm>
            <a:off x="308494" y="1893454"/>
            <a:ext cx="2043084" cy="4849598"/>
            <a:chOff x="1097280" y="1893454"/>
            <a:chExt cx="2043084" cy="484959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BEAD03C-7DCF-0433-C73A-B3C1A6AE3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93454"/>
              <a:ext cx="2043084" cy="484959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8E2C042-0770-B4E0-BEAE-C1E99588F01C}"/>
                </a:ext>
              </a:extLst>
            </p:cNvPr>
            <p:cNvSpPr/>
            <p:nvPr/>
          </p:nvSpPr>
          <p:spPr>
            <a:xfrm>
              <a:off x="1293091" y="3546761"/>
              <a:ext cx="1089891" cy="341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F893FBDD-98C1-DDEC-CF53-48590577A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248" y="1893454"/>
            <a:ext cx="5964685" cy="35282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3509FF-0A11-C02B-C405-A89205ACB978}"/>
              </a:ext>
            </a:extLst>
          </p:cNvPr>
          <p:cNvSpPr txBox="1"/>
          <p:nvPr/>
        </p:nvSpPr>
        <p:spPr>
          <a:xfrm>
            <a:off x="2440248" y="5439339"/>
            <a:ext cx="75257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ym typeface="Wingdings" panose="05000000000000000000" pitchFamily="2" charset="2"/>
              </a:rPr>
              <a:t> Lettuce </a:t>
            </a:r>
            <a:r>
              <a:rPr lang="ko-KR" altLang="en-US" sz="1200">
                <a:sym typeface="Wingdings" panose="05000000000000000000" pitchFamily="2" charset="2"/>
              </a:rPr>
              <a:t>라는 라이브러리를 통해 </a:t>
            </a:r>
            <a:r>
              <a:rPr lang="en-US" altLang="ko-KR" sz="1200">
                <a:sym typeface="Wingdings" panose="05000000000000000000" pitchFamily="2" charset="2"/>
              </a:rPr>
              <a:t>Redis </a:t>
            </a:r>
            <a:r>
              <a:rPr lang="ko-KR" altLang="en-US" sz="1200">
                <a:sym typeface="Wingdings" panose="05000000000000000000" pitchFamily="2" charset="2"/>
              </a:rPr>
              <a:t>관리 객체를 생성 </a:t>
            </a:r>
            <a:r>
              <a:rPr lang="en-US" altLang="ko-KR" sz="1200">
                <a:sym typeface="Wingdings" panose="05000000000000000000" pitchFamily="2" charset="2"/>
              </a:rPr>
              <a:t>&gt; Redis </a:t>
            </a:r>
            <a:r>
              <a:rPr lang="ko-KR" altLang="en-US" sz="1200">
                <a:sym typeface="Wingdings" panose="05000000000000000000" pitchFamily="2" charset="2"/>
              </a:rPr>
              <a:t>서버에 대한 정보를 설정한다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9F9AD-AB45-EFF0-54C5-A8FC7D299EE3}"/>
              </a:ext>
            </a:extLst>
          </p:cNvPr>
          <p:cNvSpPr txBox="1"/>
          <p:nvPr/>
        </p:nvSpPr>
        <p:spPr>
          <a:xfrm>
            <a:off x="8562109" y="1893454"/>
            <a:ext cx="33897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FF0000"/>
                </a:solidFill>
              </a:rPr>
              <a:t>LettuceConnectionFactory</a:t>
            </a:r>
          </a:p>
          <a:p>
            <a:pPr marL="285750" indent="-285750">
              <a:buFontTx/>
              <a:buChar char="-"/>
            </a:pPr>
            <a:r>
              <a:rPr lang="en-US" altLang="ko-KR" sz="1400"/>
              <a:t>Redis</a:t>
            </a:r>
            <a:r>
              <a:rPr lang="ko-KR" altLang="en-US" sz="1400"/>
              <a:t>와 연결해주는 객체</a:t>
            </a:r>
            <a:endParaRPr lang="en-US" altLang="ko-KR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FF0000"/>
                </a:solidFill>
              </a:rPr>
              <a:t>RedisStandaloneConfiguration</a:t>
            </a:r>
          </a:p>
          <a:p>
            <a:pPr marL="285750" indent="-285750">
              <a:buFontTx/>
              <a:buChar char="-"/>
            </a:pPr>
            <a:r>
              <a:rPr lang="en-US" altLang="ko-KR" sz="1400"/>
              <a:t>Redis</a:t>
            </a:r>
            <a:r>
              <a:rPr lang="ko-KR" altLang="en-US" sz="1400"/>
              <a:t>를 관리하는 객체</a:t>
            </a:r>
            <a:endParaRPr lang="en-US" altLang="ko-KR" sz="1400"/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FF95E3-0C08-60C2-2921-D6A9908A7928}"/>
              </a:ext>
            </a:extLst>
          </p:cNvPr>
          <p:cNvSpPr txBox="1"/>
          <p:nvPr/>
        </p:nvSpPr>
        <p:spPr>
          <a:xfrm>
            <a:off x="8562109" y="3278449"/>
            <a:ext cx="2835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외우도록 노력하자</a:t>
            </a:r>
          </a:p>
        </p:txBody>
      </p:sp>
    </p:spTree>
    <p:extLst>
      <p:ext uri="{BB962C8B-B14F-4D97-AF65-F5344CB8AC3E}">
        <p14:creationId xmlns:p14="http://schemas.microsoft.com/office/powerpoint/2010/main" val="3105270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454B8-9B9D-258E-38F4-847E0B11A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RedisCacheManager </a:t>
            </a:r>
            <a:r>
              <a:rPr lang="ko-KR" altLang="en-US"/>
              <a:t>작성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3BC557-80C4-AA1E-7E89-F5810550F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517" y="1842519"/>
            <a:ext cx="4780377" cy="3486863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474B6746-61B8-8F58-5D52-EC237B0545F5}"/>
              </a:ext>
            </a:extLst>
          </p:cNvPr>
          <p:cNvGrpSpPr/>
          <p:nvPr/>
        </p:nvGrpSpPr>
        <p:grpSpPr>
          <a:xfrm>
            <a:off x="358018" y="1842519"/>
            <a:ext cx="2572109" cy="4229690"/>
            <a:chOff x="358018" y="1842519"/>
            <a:chExt cx="2572109" cy="422969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FC9FF0D-79CF-CBA4-121F-39EDCEFFA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018" y="1842519"/>
              <a:ext cx="2572109" cy="422969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FDFC81-8F6F-E1DF-A6A1-3419FF81AC77}"/>
                </a:ext>
              </a:extLst>
            </p:cNvPr>
            <p:cNvSpPr/>
            <p:nvPr/>
          </p:nvSpPr>
          <p:spPr>
            <a:xfrm>
              <a:off x="877453" y="4184073"/>
              <a:ext cx="1496293" cy="2678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302806-25E7-E3D3-F8E8-BEB88611D9A9}"/>
              </a:ext>
            </a:extLst>
          </p:cNvPr>
          <p:cNvSpPr txBox="1"/>
          <p:nvPr/>
        </p:nvSpPr>
        <p:spPr>
          <a:xfrm>
            <a:off x="7925284" y="1842519"/>
            <a:ext cx="4088989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>
                <a:solidFill>
                  <a:srgbClr val="FF0000"/>
                </a:solidFill>
              </a:rPr>
              <a:t>키</a:t>
            </a:r>
            <a:r>
              <a:rPr lang="en-US" altLang="ko-KR" sz="1050" b="1">
                <a:solidFill>
                  <a:srgbClr val="FF0000"/>
                </a:solidFill>
              </a:rPr>
              <a:t>-</a:t>
            </a:r>
            <a:r>
              <a:rPr lang="ko-KR" altLang="en-US" sz="1050" b="1">
                <a:solidFill>
                  <a:srgbClr val="FF0000"/>
                </a:solidFill>
              </a:rPr>
              <a:t>값 캐시저장 시  직렬화</a:t>
            </a:r>
            <a:r>
              <a:rPr lang="en-US" altLang="ko-KR" sz="1050" b="1">
                <a:solidFill>
                  <a:srgbClr val="FF0000"/>
                </a:solidFill>
              </a:rPr>
              <a:t>, </a:t>
            </a:r>
            <a:r>
              <a:rPr lang="ko-KR" altLang="en-US" sz="1050" b="1">
                <a:solidFill>
                  <a:srgbClr val="FF0000"/>
                </a:solidFill>
              </a:rPr>
              <a:t>역직렬화 설정 파일</a:t>
            </a:r>
            <a:br>
              <a:rPr lang="en-US" altLang="ko-KR" sz="1050" b="1">
                <a:solidFill>
                  <a:srgbClr val="FF0000"/>
                </a:solidFill>
              </a:rPr>
            </a:br>
            <a:endParaRPr lang="en-US" altLang="ko-KR" sz="1050" b="1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/>
              <a:t>외우는 법</a:t>
            </a:r>
            <a:endParaRPr lang="en-US" altLang="ko-KR" sz="1050"/>
          </a:p>
          <a:p>
            <a:r>
              <a:rPr lang="en-US" altLang="ko-KR" sz="1050"/>
              <a:t>LettuceConnectionFactory </a:t>
            </a:r>
            <a:r>
              <a:rPr lang="ko-KR" altLang="en-US" sz="1050"/>
              <a:t>빈을 등록할 때</a:t>
            </a:r>
            <a:r>
              <a:rPr lang="en-US" altLang="ko-KR" sz="1050"/>
              <a:t>, RedisStandaloneConfiguration</a:t>
            </a:r>
            <a:r>
              <a:rPr lang="ko-KR" altLang="en-US" sz="1050"/>
              <a:t>을 생성자로 하여 등록했다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r>
              <a:rPr lang="ko-KR" altLang="en-US" sz="1050"/>
              <a:t>동일하게</a:t>
            </a:r>
            <a:endParaRPr lang="en-US" altLang="ko-KR" sz="1050"/>
          </a:p>
          <a:p>
            <a:r>
              <a:rPr lang="en-US" altLang="ko-KR" sz="1050"/>
              <a:t>RedisConnectionFactory</a:t>
            </a:r>
            <a:r>
              <a:rPr lang="ko-KR" altLang="en-US" sz="1050"/>
              <a:t>에 </a:t>
            </a:r>
            <a:r>
              <a:rPr lang="en-US" altLang="ko-KR" sz="1050"/>
              <a:t>RedisCacheConfiguration</a:t>
            </a:r>
            <a:r>
              <a:rPr lang="ko-KR" altLang="en-US" sz="1050"/>
              <a:t>을 주입하여 </a:t>
            </a:r>
            <a:r>
              <a:rPr lang="en-US" altLang="ko-KR" sz="1050"/>
              <a:t>CacheManager</a:t>
            </a:r>
            <a:r>
              <a:rPr lang="ko-KR" altLang="en-US" sz="1050"/>
              <a:t>를 등록한다고 생각하자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pPr marL="228600" indent="-228600">
              <a:buAutoNum type="arabicPeriod"/>
            </a:pPr>
            <a:r>
              <a:rPr lang="en-US" altLang="ko-KR" sz="1050"/>
              <a:t>RedisCacheConfiguration </a:t>
            </a:r>
            <a:r>
              <a:rPr lang="ko-KR" altLang="en-US" sz="1050"/>
              <a:t>셋팅</a:t>
            </a:r>
            <a:endParaRPr lang="en-US" altLang="ko-KR" sz="1050"/>
          </a:p>
          <a:p>
            <a:pPr marL="171450" indent="-171450">
              <a:buFontTx/>
              <a:buChar char="-"/>
            </a:pPr>
            <a:r>
              <a:rPr lang="en-US" altLang="ko-KR" sz="1050"/>
              <a:t>.defaultCacheConfig()   </a:t>
            </a:r>
            <a:r>
              <a:rPr lang="en-US" altLang="ko-KR" sz="1050" b="1">
                <a:solidFill>
                  <a:srgbClr val="FF0000"/>
                </a:solidFill>
              </a:rPr>
              <a:t>// </a:t>
            </a:r>
            <a:r>
              <a:rPr lang="ko-KR" altLang="en-US" sz="1050" b="1">
                <a:solidFill>
                  <a:srgbClr val="FF0000"/>
                </a:solidFill>
              </a:rPr>
              <a:t>기본 캐시 설정을 진행하겠다</a:t>
            </a:r>
            <a:r>
              <a:rPr lang="en-US" altLang="ko-KR" sz="1050">
                <a:solidFill>
                  <a:srgbClr val="FF0000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050"/>
              <a:t>.serializeKeyWith(    </a:t>
            </a:r>
            <a:r>
              <a:rPr lang="en-US" altLang="ko-KR" sz="1050" b="1">
                <a:solidFill>
                  <a:srgbClr val="FF0000"/>
                </a:solidFill>
              </a:rPr>
              <a:t>// </a:t>
            </a:r>
            <a:r>
              <a:rPr lang="ko-KR" altLang="en-US" sz="1050" b="1">
                <a:solidFill>
                  <a:srgbClr val="FF0000"/>
                </a:solidFill>
              </a:rPr>
              <a:t>직렬화 </a:t>
            </a:r>
            <a:r>
              <a:rPr lang="en-US" altLang="ko-KR" sz="1050" b="1">
                <a:solidFill>
                  <a:srgbClr val="FF0000"/>
                </a:solidFill>
              </a:rPr>
              <a:t>Key </a:t>
            </a:r>
            <a:r>
              <a:rPr lang="ko-KR" altLang="en-US" sz="1050" b="1">
                <a:solidFill>
                  <a:srgbClr val="FF0000"/>
                </a:solidFill>
              </a:rPr>
              <a:t>는 다음 객체로 진행</a:t>
            </a:r>
            <a:br>
              <a:rPr lang="en-US" altLang="ko-KR" sz="1050"/>
            </a:br>
            <a:r>
              <a:rPr lang="en-US" altLang="ko-KR" sz="1050"/>
              <a:t>        RedisSerializationContext.SerializationPair.fromSerializer(</a:t>
            </a:r>
            <a:br>
              <a:rPr lang="en-US" altLang="ko-KR" sz="1050"/>
            </a:br>
            <a:r>
              <a:rPr lang="en-US" altLang="ko-KR" sz="1050"/>
              <a:t>                new StringRedisSerializer()</a:t>
            </a:r>
          </a:p>
          <a:p>
            <a:r>
              <a:rPr lang="en-US" altLang="ko-KR" sz="1050"/>
              <a:t>              )</a:t>
            </a:r>
          </a:p>
          <a:p>
            <a:r>
              <a:rPr lang="en-US" altLang="ko-KR" sz="1050"/>
              <a:t>      )</a:t>
            </a:r>
          </a:p>
          <a:p>
            <a:pPr marL="171450" indent="-171450">
              <a:buFontTx/>
              <a:buChar char="-"/>
            </a:pPr>
            <a:r>
              <a:rPr lang="en-US" altLang="ko-KR" sz="1050"/>
              <a:t>.serializeValueWith( </a:t>
            </a:r>
            <a:r>
              <a:rPr lang="en-US" altLang="ko-KR" sz="1050" b="1">
                <a:solidFill>
                  <a:srgbClr val="FF0000"/>
                </a:solidFill>
              </a:rPr>
              <a:t>// </a:t>
            </a:r>
            <a:r>
              <a:rPr lang="ko-KR" altLang="en-US" sz="1050" b="1">
                <a:solidFill>
                  <a:srgbClr val="FF0000"/>
                </a:solidFill>
              </a:rPr>
              <a:t>직렬화 </a:t>
            </a:r>
            <a:r>
              <a:rPr lang="en-US" altLang="ko-KR" sz="1050" b="1">
                <a:solidFill>
                  <a:srgbClr val="FF0000"/>
                </a:solidFill>
              </a:rPr>
              <a:t>Value </a:t>
            </a:r>
            <a:r>
              <a:rPr lang="ko-KR" altLang="en-US" sz="1050" b="1">
                <a:solidFill>
                  <a:srgbClr val="FF0000"/>
                </a:solidFill>
              </a:rPr>
              <a:t>는 다음 객체로 진행</a:t>
            </a:r>
            <a:br>
              <a:rPr lang="en-US" altLang="ko-KR" sz="1050" b="1">
                <a:solidFill>
                  <a:srgbClr val="FF0000"/>
                </a:solidFill>
              </a:rPr>
            </a:br>
            <a:r>
              <a:rPr lang="en-US" altLang="ko-KR" sz="1050"/>
              <a:t>	RedisSerializationConext.SerializationPair.fromSerializer(</a:t>
            </a:r>
            <a:br>
              <a:rPr lang="en-US" altLang="ko-KR" sz="1050"/>
            </a:br>
            <a:r>
              <a:rPr lang="en-US" altLang="ko-KR" sz="1050"/>
              <a:t>	       new JacksonJsonRedisSerializer&lt;Object&gt;(Object.class)</a:t>
            </a:r>
            <a:br>
              <a:rPr lang="en-US" altLang="ko-KR" sz="1050"/>
            </a:br>
            <a:r>
              <a:rPr lang="en-US" altLang="ko-KR" sz="1050"/>
              <a:t>	)</a:t>
            </a:r>
            <a:br>
              <a:rPr lang="en-US" altLang="ko-KR" sz="1050"/>
            </a:br>
            <a:r>
              <a:rPr lang="en-US" altLang="ko-KR" sz="1050"/>
              <a:t>)</a:t>
            </a:r>
            <a:br>
              <a:rPr lang="en-US" altLang="ko-KR" sz="1050"/>
            </a:br>
            <a:r>
              <a:rPr lang="en-US" altLang="ko-KR" sz="1050"/>
              <a:t>.entryTtl(Duration.ofMinutes(1L); </a:t>
            </a:r>
            <a:r>
              <a:rPr lang="en-US" altLang="ko-KR" sz="1050" b="1">
                <a:solidFill>
                  <a:srgbClr val="FF0000"/>
                </a:solidFill>
              </a:rPr>
              <a:t>// ttl</a:t>
            </a:r>
            <a:r>
              <a:rPr lang="ko-KR" altLang="en-US" sz="1050" b="1">
                <a:solidFill>
                  <a:srgbClr val="FF0000"/>
                </a:solidFill>
              </a:rPr>
              <a:t> </a:t>
            </a:r>
            <a:r>
              <a:rPr lang="en-US" altLang="ko-KR" sz="1050" b="1">
                <a:solidFill>
                  <a:srgbClr val="FF0000"/>
                </a:solidFill>
              </a:rPr>
              <a:t>1</a:t>
            </a:r>
            <a:r>
              <a:rPr lang="ko-KR" altLang="en-US" sz="1050" b="1">
                <a:solidFill>
                  <a:srgbClr val="FF0000"/>
                </a:solidFill>
              </a:rPr>
              <a:t>분 설정</a:t>
            </a:r>
            <a:endParaRPr lang="en-US" altLang="ko-KR" sz="1050" b="1">
              <a:solidFill>
                <a:srgbClr val="FF0000"/>
              </a:solidFill>
            </a:endParaRPr>
          </a:p>
          <a:p>
            <a:endParaRPr lang="en-US" altLang="ko-KR" sz="1050"/>
          </a:p>
          <a:p>
            <a:r>
              <a:rPr lang="en-US" altLang="ko-KR" sz="1050"/>
              <a:t>※ RedisSerializationContext.SerializationPair.fromSerializer </a:t>
            </a:r>
            <a:br>
              <a:rPr lang="en-US" altLang="ko-KR" sz="1050"/>
            </a:br>
            <a:r>
              <a:rPr lang="en-US" altLang="ko-KR" sz="1050" b="1">
                <a:solidFill>
                  <a:srgbClr val="FF0000"/>
                </a:solidFill>
              </a:rPr>
              <a:t>    </a:t>
            </a:r>
            <a:r>
              <a:rPr lang="ko-KR" altLang="en-US" sz="1050" b="1">
                <a:solidFill>
                  <a:srgbClr val="FF0000"/>
                </a:solidFill>
              </a:rPr>
              <a:t>외우자 방법이 없다</a:t>
            </a:r>
            <a:r>
              <a:rPr lang="en-US" altLang="ko-KR" sz="1050" b="1">
                <a:solidFill>
                  <a:srgbClr val="FF0000"/>
                </a:solidFill>
              </a:rPr>
              <a:t>. </a:t>
            </a:r>
            <a:br>
              <a:rPr lang="en-US" altLang="ko-KR" sz="1050"/>
            </a:br>
            <a:r>
              <a:rPr lang="en-US" altLang="ko-KR" sz="1050"/>
              <a:t>※ new StringRedisSerializer() - </a:t>
            </a:r>
            <a:r>
              <a:rPr lang="ko-KR" altLang="en-US" sz="1050" b="1">
                <a:solidFill>
                  <a:srgbClr val="FF0000"/>
                </a:solidFill>
              </a:rPr>
              <a:t>외운다 </a:t>
            </a:r>
            <a:r>
              <a:rPr lang="en-US" altLang="ko-KR" sz="1050" b="1">
                <a:solidFill>
                  <a:srgbClr val="FF0000"/>
                </a:solidFill>
              </a:rPr>
              <a:t>key </a:t>
            </a:r>
            <a:r>
              <a:rPr lang="ko-KR" altLang="en-US" sz="1050" b="1">
                <a:solidFill>
                  <a:srgbClr val="FF0000"/>
                </a:solidFill>
              </a:rPr>
              <a:t>직렬화</a:t>
            </a:r>
            <a:endParaRPr lang="en-US" altLang="ko-KR" sz="1050" b="1">
              <a:solidFill>
                <a:srgbClr val="FF0000"/>
              </a:solidFill>
            </a:endParaRPr>
          </a:p>
          <a:p>
            <a:r>
              <a:rPr lang="en-US" altLang="ko-KR" sz="1050"/>
              <a:t>※ JacksonJsonRedisSerializer&lt;Object&gt;(Object.class) - </a:t>
            </a:r>
            <a:r>
              <a:rPr lang="ko-KR" altLang="en-US" sz="1050" b="1">
                <a:solidFill>
                  <a:srgbClr val="FF0000"/>
                </a:solidFill>
              </a:rPr>
              <a:t>닥치고 외워라</a:t>
            </a:r>
            <a:endParaRPr lang="en-US" altLang="ko-KR" sz="105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188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A2F51-96FB-7EAC-0F72-527FAA0ED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조회 서비스 메소드에 </a:t>
            </a:r>
            <a:r>
              <a:rPr lang="en-US" altLang="ko-KR" sz="4000"/>
              <a:t>Redis</a:t>
            </a:r>
            <a:r>
              <a:rPr lang="ko-KR" altLang="en-US" sz="4000"/>
              <a:t>캐시 적용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AF885DD-EA27-1B79-572B-A7BE5398856A}"/>
              </a:ext>
            </a:extLst>
          </p:cNvPr>
          <p:cNvGrpSpPr/>
          <p:nvPr/>
        </p:nvGrpSpPr>
        <p:grpSpPr>
          <a:xfrm>
            <a:off x="903544" y="2358776"/>
            <a:ext cx="10808266" cy="3876547"/>
            <a:chOff x="903544" y="2358776"/>
            <a:chExt cx="10808266" cy="3876547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4024BBA-02F6-D0B1-0666-98757430DBAE}"/>
                </a:ext>
              </a:extLst>
            </p:cNvPr>
            <p:cNvGrpSpPr/>
            <p:nvPr/>
          </p:nvGrpSpPr>
          <p:grpSpPr>
            <a:xfrm>
              <a:off x="903544" y="2377058"/>
              <a:ext cx="2534004" cy="2743583"/>
              <a:chOff x="903544" y="2377058"/>
              <a:chExt cx="2534004" cy="2743583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31EE4594-266B-FCB9-FA49-764144B30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03544" y="2377058"/>
                <a:ext cx="2534004" cy="2743583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E0C08A9-DF5F-7358-8D06-229F8602E9E1}"/>
                  </a:ext>
                </a:extLst>
              </p:cNvPr>
              <p:cNvSpPr/>
              <p:nvPr/>
            </p:nvSpPr>
            <p:spPr>
              <a:xfrm>
                <a:off x="1256145" y="4248727"/>
                <a:ext cx="1320800" cy="26785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FC9B9D6-F958-919C-1B83-9583FDE0644E}"/>
                </a:ext>
              </a:extLst>
            </p:cNvPr>
            <p:cNvGrpSpPr/>
            <p:nvPr/>
          </p:nvGrpSpPr>
          <p:grpSpPr>
            <a:xfrm>
              <a:off x="3660538" y="2358776"/>
              <a:ext cx="8051272" cy="2952133"/>
              <a:chOff x="3660538" y="2358776"/>
              <a:chExt cx="8051272" cy="2952133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BF6E7A11-7793-3156-9B6B-C93C7537A4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60538" y="2358776"/>
                <a:ext cx="8051272" cy="2952133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261A6BA-5415-A583-8AF9-60DB7A6D0469}"/>
                  </a:ext>
                </a:extLst>
              </p:cNvPr>
              <p:cNvSpPr/>
              <p:nvPr/>
            </p:nvSpPr>
            <p:spPr>
              <a:xfrm>
                <a:off x="10495280" y="3700914"/>
                <a:ext cx="1216530" cy="26785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8FE63D0-AC32-997D-7BF8-39E66BA29468}"/>
                </a:ext>
              </a:extLst>
            </p:cNvPr>
            <p:cNvGrpSpPr/>
            <p:nvPr/>
          </p:nvGrpSpPr>
          <p:grpSpPr>
            <a:xfrm>
              <a:off x="3702029" y="5425585"/>
              <a:ext cx="4848902" cy="809738"/>
              <a:chOff x="3702029" y="5425585"/>
              <a:chExt cx="4848902" cy="809738"/>
            </a:xfrm>
          </p:grpSpPr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88BC0AAB-640C-6F8B-24CA-52C9EA5B3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2029" y="5425585"/>
                <a:ext cx="4848902" cy="809738"/>
              </a:xfrm>
              <a:prstGeom prst="rect">
                <a:avLst/>
              </a:prstGeom>
            </p:spPr>
          </p:pic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83A4BDC7-02E5-4643-BED8-908F3B467295}"/>
                  </a:ext>
                </a:extLst>
              </p:cNvPr>
              <p:cNvSpPr/>
              <p:nvPr/>
            </p:nvSpPr>
            <p:spPr>
              <a:xfrm>
                <a:off x="5144654" y="5932325"/>
                <a:ext cx="951345" cy="16598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01D7D86-7956-850B-B13D-9C647AB47084}"/>
                </a:ext>
              </a:extLst>
            </p:cNvPr>
            <p:cNvCxnSpPr>
              <a:stCxn id="9" idx="2"/>
              <a:endCxn id="13" idx="0"/>
            </p:cNvCxnSpPr>
            <p:nvPr/>
          </p:nvCxnSpPr>
          <p:spPr>
            <a:xfrm flipH="1">
              <a:off x="5620327" y="3968769"/>
              <a:ext cx="5483218" cy="19635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200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2347B-0E38-E7CA-DA06-6398BE8D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BoardService</a:t>
            </a:r>
            <a:r>
              <a:rPr lang="ko-KR" altLang="en-US" sz="2800"/>
              <a:t>에 </a:t>
            </a:r>
            <a:r>
              <a:rPr lang="en-US" altLang="ko-KR" sz="2800"/>
              <a:t>Cache</a:t>
            </a:r>
            <a:r>
              <a:rPr lang="ko-KR" altLang="en-US" sz="2800"/>
              <a:t>를 적용할 메소드에 </a:t>
            </a:r>
            <a:r>
              <a:rPr lang="en-US" altLang="ko-KR" sz="2800"/>
              <a:t>@Cacheable </a:t>
            </a:r>
            <a:r>
              <a:rPr lang="ko-KR" altLang="en-US" sz="2800"/>
              <a:t>적용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D30D94-8AAD-A25E-8D0C-A2100B096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7075"/>
            <a:ext cx="9164320" cy="324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24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76E27-E2EB-7E53-6942-A5D47F15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캐시미적용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73F804B-2F37-8812-199F-B43561C11B58}"/>
              </a:ext>
            </a:extLst>
          </p:cNvPr>
          <p:cNvGrpSpPr/>
          <p:nvPr/>
        </p:nvGrpSpPr>
        <p:grpSpPr>
          <a:xfrm>
            <a:off x="206826" y="1874592"/>
            <a:ext cx="6997538" cy="2440540"/>
            <a:chOff x="206826" y="1874592"/>
            <a:chExt cx="6997538" cy="24405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6D36584-3E95-AB6C-8E0E-9DAA2B5E5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826" y="1874592"/>
              <a:ext cx="6997538" cy="244054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1CAA412-9652-4A1E-4E05-9CD26C554788}"/>
                </a:ext>
              </a:extLst>
            </p:cNvPr>
            <p:cNvSpPr/>
            <p:nvPr/>
          </p:nvSpPr>
          <p:spPr>
            <a:xfrm>
              <a:off x="683491" y="3011055"/>
              <a:ext cx="6520873" cy="17549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C19F9BF-5839-6675-253A-33D62F01EAFF}"/>
              </a:ext>
            </a:extLst>
          </p:cNvPr>
          <p:cNvSpPr txBox="1"/>
          <p:nvPr/>
        </p:nvSpPr>
        <p:spPr>
          <a:xfrm>
            <a:off x="206826" y="4414982"/>
            <a:ext cx="6997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 </a:t>
            </a:r>
            <a:r>
              <a:rPr lang="ko-KR" altLang="en-US" sz="1200"/>
              <a:t>캐시를 적용하는 서비스 메소드에서 </a:t>
            </a:r>
            <a:r>
              <a:rPr lang="en-US" altLang="ko-KR" sz="1200"/>
              <a:t>@Cacheable </a:t>
            </a:r>
            <a:r>
              <a:rPr lang="ko-KR" altLang="en-US" sz="1200"/>
              <a:t>애노테이션을 주석처리</a:t>
            </a:r>
            <a:endParaRPr lang="en-US" altLang="ko-KR" sz="1200"/>
          </a:p>
          <a:p>
            <a:r>
              <a:rPr lang="en-US" altLang="ko-KR" sz="1200"/>
              <a:t>2. /boards</a:t>
            </a:r>
            <a:r>
              <a:rPr lang="ko-KR" altLang="en-US" sz="1200"/>
              <a:t> 로 </a:t>
            </a:r>
            <a:r>
              <a:rPr lang="en-US" altLang="ko-KR" sz="1200"/>
              <a:t>Get </a:t>
            </a:r>
            <a:r>
              <a:rPr lang="ko-KR" altLang="en-US" sz="1200"/>
              <a:t>요청 </a:t>
            </a:r>
            <a:endParaRPr lang="en-US" altLang="ko-KR" sz="1200"/>
          </a:p>
          <a:p>
            <a:r>
              <a:rPr lang="en-US" altLang="ko-KR" sz="1200"/>
              <a:t>3. </a:t>
            </a:r>
            <a:r>
              <a:rPr lang="ko-KR" altLang="en-US" sz="1200"/>
              <a:t>요청 시간 측정 </a:t>
            </a:r>
            <a:r>
              <a:rPr lang="en-US" altLang="ko-KR" sz="1200"/>
              <a:t>( 2~3</a:t>
            </a:r>
            <a:r>
              <a:rPr lang="ko-KR" altLang="en-US" sz="1200"/>
              <a:t>번 반복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r>
              <a:rPr lang="ko-KR" altLang="en-US" sz="1200"/>
              <a:t>첫 요청시 </a:t>
            </a:r>
            <a:r>
              <a:rPr lang="en-US" altLang="ko-KR" sz="1200"/>
              <a:t>JPA </a:t>
            </a:r>
            <a:r>
              <a:rPr lang="ko-KR" altLang="en-US" sz="1200"/>
              <a:t>또한 내부적으로 영속성 컨텍스트를 사용함으로써</a:t>
            </a:r>
            <a:r>
              <a:rPr lang="en-US" altLang="ko-KR" sz="1200"/>
              <a:t>, </a:t>
            </a:r>
            <a:r>
              <a:rPr lang="ko-KR" altLang="en-US" sz="1200"/>
              <a:t>데이터가 없을시</a:t>
            </a:r>
            <a:br>
              <a:rPr lang="en-US" altLang="ko-KR" sz="1200"/>
            </a:br>
            <a:r>
              <a:rPr lang="en-US" altLang="ko-KR" sz="1200"/>
              <a:t>DB</a:t>
            </a:r>
            <a:r>
              <a:rPr lang="ko-KR" altLang="en-US" sz="1200"/>
              <a:t>조회 후 영속성 컨텍스트에 엔티티 등록</a:t>
            </a:r>
            <a:r>
              <a:rPr lang="en-US" altLang="ko-KR" sz="1200"/>
              <a:t>. </a:t>
            </a:r>
            <a:r>
              <a:rPr lang="ko-KR" altLang="en-US" sz="1200"/>
              <a:t>이후 같은 쿼리는 영속성 컨텍스트 내 캐시를 반환함으로 속도가 빨라진다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그러나 응답시간이 </a:t>
            </a:r>
            <a:r>
              <a:rPr lang="en-US" altLang="ko-KR" sz="1200"/>
              <a:t>120ms </a:t>
            </a:r>
            <a:r>
              <a:rPr lang="ko-KR" altLang="en-US" sz="1200"/>
              <a:t>이하으로는 빨라지지 않는것을 확인할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126E190-9B7E-BCE1-C606-DD953BE87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153" y="1874592"/>
            <a:ext cx="2715004" cy="3429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E0C646-AD28-3EB0-3EC7-A384C4FB5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679" y="2354772"/>
            <a:ext cx="2327030" cy="3769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869335D-8445-4A88-E406-BF749A7A0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153" y="2909460"/>
            <a:ext cx="2724530" cy="3334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F7CCA1A-600D-49A9-7ECB-1E98287AF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679" y="3389640"/>
            <a:ext cx="2810267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02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D6949-EE0A-216D-B06D-BB4C526FE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캐시 적용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E8418A-9ABA-B677-D4DC-9F63D6DFB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307" y="2052906"/>
            <a:ext cx="2848373" cy="2953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FB1FA44-943F-ECF5-DA39-1F28335EA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12" y="2052906"/>
            <a:ext cx="7792816" cy="14234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1137F0-6C7F-D6E4-25EA-7B40B6810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307" y="2492294"/>
            <a:ext cx="2581635" cy="3429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58D8CBB-6B66-C8AA-7CE8-5632D9247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307" y="3000096"/>
            <a:ext cx="2629267" cy="3238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FF789B-AECD-B39C-9C21-1587771F9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307" y="3487116"/>
            <a:ext cx="2638793" cy="438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C67C93-78FB-0A5C-CD6D-0D5E9E06B36F}"/>
              </a:ext>
            </a:extLst>
          </p:cNvPr>
          <p:cNvSpPr txBox="1"/>
          <p:nvPr/>
        </p:nvSpPr>
        <p:spPr>
          <a:xfrm>
            <a:off x="418312" y="3706221"/>
            <a:ext cx="77928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캐시를 적용하게 되면</a:t>
            </a:r>
            <a:r>
              <a:rPr lang="en-US" altLang="ko-KR" sz="1400"/>
              <a:t>, </a:t>
            </a:r>
            <a:r>
              <a:rPr lang="ko-KR" altLang="en-US" sz="1400"/>
              <a:t>첫 요청 시 캐시에 데이터가 존재하지 않음으로</a:t>
            </a:r>
            <a:r>
              <a:rPr lang="en-US" altLang="ko-KR" sz="1400"/>
              <a:t>.</a:t>
            </a:r>
            <a:br>
              <a:rPr lang="en-US" altLang="ko-KR" sz="1400"/>
            </a:br>
            <a:r>
              <a:rPr lang="en-US" altLang="ko-KR" sz="1400"/>
              <a:t>Redis</a:t>
            </a:r>
            <a:r>
              <a:rPr lang="ko-KR" altLang="en-US" sz="1400"/>
              <a:t>에 조회 </a:t>
            </a:r>
            <a:r>
              <a:rPr lang="en-US" altLang="ko-KR" sz="1400"/>
              <a:t>Key</a:t>
            </a:r>
            <a:r>
              <a:rPr lang="ko-KR" altLang="en-US" sz="1400"/>
              <a:t> 확인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>
                <a:sym typeface="Wingdings" panose="05000000000000000000" pitchFamily="2" charset="2"/>
              </a:rPr>
              <a:t>없음 </a:t>
            </a:r>
            <a:r>
              <a:rPr lang="en-US" altLang="ko-KR" sz="1400">
                <a:sym typeface="Wingdings" panose="05000000000000000000" pitchFamily="2" charset="2"/>
              </a:rPr>
              <a:t> DB </a:t>
            </a:r>
            <a:r>
              <a:rPr lang="ko-KR" altLang="en-US" sz="1400">
                <a:sym typeface="Wingdings" panose="05000000000000000000" pitchFamily="2" charset="2"/>
              </a:rPr>
              <a:t>조회 진행이 됨으로 </a:t>
            </a:r>
            <a:r>
              <a:rPr lang="en-US" altLang="ko-KR" sz="1400">
                <a:sym typeface="Wingdings" panose="05000000000000000000" pitchFamily="2" charset="2"/>
              </a:rPr>
              <a:t>DB</a:t>
            </a:r>
            <a:r>
              <a:rPr lang="ko-KR" altLang="en-US" sz="1400">
                <a:sym typeface="Wingdings" panose="05000000000000000000" pitchFamily="2" charset="2"/>
              </a:rPr>
              <a:t>조회보다 긴 시간</a:t>
            </a:r>
            <a:r>
              <a:rPr lang="en-US" altLang="ko-KR" sz="1400">
                <a:sym typeface="Wingdings" panose="05000000000000000000" pitchFamily="2" charset="2"/>
              </a:rPr>
              <a:t>(953ms)</a:t>
            </a:r>
            <a:r>
              <a:rPr lang="ko-KR" altLang="en-US" sz="1400">
                <a:sym typeface="Wingdings" panose="05000000000000000000" pitchFamily="2" charset="2"/>
              </a:rPr>
              <a:t>이 걸렸다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r>
              <a:rPr lang="ko-KR" altLang="en-US" sz="1400">
                <a:sym typeface="Wingdings" panose="05000000000000000000" pitchFamily="2" charset="2"/>
              </a:rPr>
              <a:t>그러나 첫 조회 이후로는 </a:t>
            </a:r>
            <a:r>
              <a:rPr lang="en-US" altLang="ko-KR" sz="1400">
                <a:sym typeface="Wingdings" panose="05000000000000000000" pitchFamily="2" charset="2"/>
              </a:rPr>
              <a:t>Redis </a:t>
            </a:r>
            <a:r>
              <a:rPr lang="ko-KR" altLang="en-US" sz="1400">
                <a:sym typeface="Wingdings" panose="05000000000000000000" pitchFamily="2" charset="2"/>
              </a:rPr>
              <a:t>캐시에 저장됨으로 </a:t>
            </a:r>
            <a:r>
              <a:rPr lang="en-US" altLang="ko-KR" sz="1400">
                <a:sym typeface="Wingdings" panose="05000000000000000000" pitchFamily="2" charset="2"/>
              </a:rPr>
              <a:t>DB</a:t>
            </a:r>
            <a:r>
              <a:rPr lang="ko-KR" altLang="en-US" sz="1400">
                <a:sym typeface="Wingdings" panose="05000000000000000000" pitchFamily="2" charset="2"/>
              </a:rPr>
              <a:t>를 거치지 않고 </a:t>
            </a:r>
            <a:r>
              <a:rPr lang="en-US" altLang="ko-KR" sz="1400">
                <a:sym typeface="Wingdings" panose="05000000000000000000" pitchFamily="2" charset="2"/>
              </a:rPr>
              <a:t>Redis</a:t>
            </a:r>
            <a:r>
              <a:rPr lang="ko-KR" altLang="en-US" sz="1400">
                <a:sym typeface="Wingdings" panose="05000000000000000000" pitchFamily="2" charset="2"/>
              </a:rPr>
              <a:t>에 저장된 조회한 결과를 그대로 반환함으로 응답시간이 </a:t>
            </a:r>
            <a:r>
              <a:rPr lang="en-US" altLang="ko-KR" sz="1400">
                <a:sym typeface="Wingdings" panose="05000000000000000000" pitchFamily="2" charset="2"/>
              </a:rPr>
              <a:t>30ms </a:t>
            </a:r>
            <a:r>
              <a:rPr lang="ko-KR" altLang="en-US" sz="1400">
                <a:sym typeface="Wingdings" panose="05000000000000000000" pitchFamily="2" charset="2"/>
              </a:rPr>
              <a:t>이하가 나오는걸 볼 수 있다</a:t>
            </a:r>
            <a:r>
              <a:rPr lang="en-US" altLang="ko-KR" sz="1400">
                <a:sym typeface="Wingdings" panose="05000000000000000000" pitchFamily="2" charset="2"/>
              </a:rPr>
              <a:t>.</a:t>
            </a:r>
          </a:p>
          <a:p>
            <a:endParaRPr lang="en-US" altLang="ko-KR" sz="1400">
              <a:sym typeface="Wingdings" panose="05000000000000000000" pitchFamily="2" charset="2"/>
            </a:endParaRPr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84513591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295</TotalTime>
  <Words>799</Words>
  <Application>Microsoft Office PowerPoint</Application>
  <PresentationFormat>와이드스크린</PresentationFormat>
  <Paragraphs>111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anthropic-mono</vt:lpstr>
      <vt:lpstr>Arial</vt:lpstr>
      <vt:lpstr>Calibri</vt:lpstr>
      <vt:lpstr>Calibri Light</vt:lpstr>
      <vt:lpstr>Wingdings</vt:lpstr>
      <vt:lpstr>추억</vt:lpstr>
      <vt:lpstr>로컬 환경 SpringBoot+Redis</vt:lpstr>
      <vt:lpstr>Spring Boot Application 생성</vt:lpstr>
      <vt:lpstr>DB생성</vt:lpstr>
      <vt:lpstr>Application.yml 설정</vt:lpstr>
      <vt:lpstr>애플리케이션 API 작성 - Entity</vt:lpstr>
      <vt:lpstr>애플리케이션 API 작성 - Controller</vt:lpstr>
      <vt:lpstr>애플리케이션 API작성 - Service</vt:lpstr>
      <vt:lpstr>애플리케이션 API작성-BoardRepository</vt:lpstr>
      <vt:lpstr>데이터베이스 데이터 셋팅</vt:lpstr>
      <vt:lpstr>Redis 의존성 추가</vt:lpstr>
      <vt:lpstr>application.yml Redis 셋팅</vt:lpstr>
      <vt:lpstr>RedisConfig 파일 작성</vt:lpstr>
      <vt:lpstr>RedisCacheManager 작성</vt:lpstr>
      <vt:lpstr>조회 서비스 메소드에 Redis캐시 적용</vt:lpstr>
      <vt:lpstr>BoardService에 Cache를 적용할 메소드에 @Cacheable 적용</vt:lpstr>
      <vt:lpstr>캐시미적용</vt:lpstr>
      <vt:lpstr>캐시 적용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38</cp:revision>
  <dcterms:created xsi:type="dcterms:W3CDTF">2026-08-24T11:31:44Z</dcterms:created>
  <dcterms:modified xsi:type="dcterms:W3CDTF">2026-08-24T16:44:04Z</dcterms:modified>
</cp:coreProperties>
</file>