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5" r:id="rId1"/>
  </p:sldMasterIdLst>
  <p:sldIdLst>
    <p:sldId id="256" r:id="rId2"/>
    <p:sldId id="258" r:id="rId3"/>
    <p:sldId id="259" r:id="rId4"/>
    <p:sldId id="260" r:id="rId5"/>
    <p:sldId id="257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807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417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998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862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903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496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050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994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097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470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6904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561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3499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07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7385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708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290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mtClean="0"/>
              <a:t>pub/sub </a:t>
            </a:r>
            <a:r>
              <a:rPr lang="ko-KR" altLang="en-US" smtClean="0"/>
              <a:t>기능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smtClean="0"/>
              <a:t>채팅</a:t>
            </a:r>
            <a:r>
              <a:rPr lang="en-US" altLang="ko-KR" smtClean="0"/>
              <a:t>, </a:t>
            </a:r>
            <a:r>
              <a:rPr lang="ko-KR" altLang="en-US" smtClean="0"/>
              <a:t>메세지 발행 및 구독 기능 개발에 특화된 </a:t>
            </a:r>
            <a:r>
              <a:rPr lang="en-US" altLang="ko-KR" smtClean="0"/>
              <a:t>Redis </a:t>
            </a:r>
            <a:r>
              <a:rPr lang="ko-KR" altLang="en-US" smtClean="0"/>
              <a:t>지원 기능</a:t>
            </a:r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376839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Redis</a:t>
            </a:r>
            <a:r>
              <a:rPr lang="ko-KR" altLang="en-US" smtClean="0"/>
              <a:t>의 </a:t>
            </a:r>
            <a:r>
              <a:rPr lang="en-US" altLang="ko-KR" smtClean="0"/>
              <a:t>Pub/Sub</a:t>
            </a:r>
            <a:r>
              <a:rPr lang="ko-KR" altLang="en-US" smtClean="0"/>
              <a:t>이 필요한 이유</a:t>
            </a:r>
            <a:r>
              <a:rPr lang="en-US" altLang="ko-KR" smtClean="0"/>
              <a:t>-1</a:t>
            </a:r>
            <a:br>
              <a:rPr lang="en-US" altLang="ko-KR" smtClean="0"/>
            </a:b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2861733" y="1524000"/>
            <a:ext cx="1524000" cy="812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웹 서버</a:t>
            </a:r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677333" y="2396067"/>
            <a:ext cx="567267" cy="931333"/>
            <a:chOff x="677333" y="2396067"/>
            <a:chExt cx="567267" cy="931333"/>
          </a:xfrm>
        </p:grpSpPr>
        <p:sp>
          <p:nvSpPr>
            <p:cNvPr id="5" name="타원 4"/>
            <p:cNvSpPr/>
            <p:nvPr/>
          </p:nvSpPr>
          <p:spPr>
            <a:xfrm>
              <a:off x="804333" y="2396067"/>
              <a:ext cx="321734" cy="3132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677333" y="2709333"/>
              <a:ext cx="567267" cy="61806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mtClean="0"/>
                <a:t>1</a:t>
              </a:r>
              <a:endParaRPr lang="ko-KR" altLang="en-US"/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1540933" y="3327400"/>
            <a:ext cx="567267" cy="931333"/>
            <a:chOff x="677333" y="2396067"/>
            <a:chExt cx="567267" cy="931333"/>
          </a:xfrm>
        </p:grpSpPr>
        <p:sp>
          <p:nvSpPr>
            <p:cNvPr id="9" name="타원 8"/>
            <p:cNvSpPr/>
            <p:nvPr/>
          </p:nvSpPr>
          <p:spPr>
            <a:xfrm>
              <a:off x="804333" y="2396067"/>
              <a:ext cx="321734" cy="3132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677333" y="2709333"/>
              <a:ext cx="567267" cy="61806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mtClean="0"/>
                <a:t>2</a:t>
              </a:r>
              <a:endParaRPr lang="ko-KR" altLang="en-US"/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2641599" y="3793066"/>
            <a:ext cx="567267" cy="931333"/>
            <a:chOff x="677333" y="2396067"/>
            <a:chExt cx="567267" cy="931333"/>
          </a:xfrm>
        </p:grpSpPr>
        <p:sp>
          <p:nvSpPr>
            <p:cNvPr id="12" name="타원 11"/>
            <p:cNvSpPr/>
            <p:nvPr/>
          </p:nvSpPr>
          <p:spPr>
            <a:xfrm>
              <a:off x="804333" y="2396067"/>
              <a:ext cx="321734" cy="3132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677333" y="2709333"/>
              <a:ext cx="567267" cy="61806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mtClean="0"/>
                <a:t>3</a:t>
              </a:r>
              <a:endParaRPr lang="ko-KR" altLang="en-US"/>
            </a:p>
          </p:txBody>
        </p:sp>
      </p:grpSp>
      <p:cxnSp>
        <p:nvCxnSpPr>
          <p:cNvPr id="15" name="직선 화살표 연결선 14"/>
          <p:cNvCxnSpPr/>
          <p:nvPr/>
        </p:nvCxnSpPr>
        <p:spPr>
          <a:xfrm flipV="1">
            <a:off x="1354667" y="2032000"/>
            <a:ext cx="1413932" cy="584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540933" y="2027766"/>
            <a:ext cx="6688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smtClean="0"/>
              <a:t>Hello</a:t>
            </a:r>
            <a:endParaRPr lang="ko-KR" altLang="en-US" sz="1050"/>
          </a:p>
        </p:txBody>
      </p:sp>
      <p:cxnSp>
        <p:nvCxnSpPr>
          <p:cNvPr id="18" name="직선 화살표 연결선 17"/>
          <p:cNvCxnSpPr/>
          <p:nvPr/>
        </p:nvCxnSpPr>
        <p:spPr>
          <a:xfrm flipH="1">
            <a:off x="2061633" y="2396067"/>
            <a:ext cx="863599" cy="834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flipH="1">
            <a:off x="2925232" y="2397969"/>
            <a:ext cx="283634" cy="1242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061633" y="2709333"/>
            <a:ext cx="7069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smtClean="0"/>
              <a:t>Hello</a:t>
            </a:r>
            <a:endParaRPr lang="ko-KR" altLang="en-US" sz="1050"/>
          </a:p>
        </p:txBody>
      </p:sp>
      <p:sp>
        <p:nvSpPr>
          <p:cNvPr id="22" name="TextBox 21"/>
          <p:cNvSpPr txBox="1"/>
          <p:nvPr/>
        </p:nvSpPr>
        <p:spPr>
          <a:xfrm>
            <a:off x="3107266" y="2887561"/>
            <a:ext cx="1075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smtClean="0"/>
              <a:t>Hello</a:t>
            </a:r>
            <a:endParaRPr lang="ko-KR" altLang="en-US" sz="1100"/>
          </a:p>
        </p:txBody>
      </p:sp>
      <p:sp>
        <p:nvSpPr>
          <p:cNvPr id="23" name="TextBox 22"/>
          <p:cNvSpPr txBox="1"/>
          <p:nvPr/>
        </p:nvSpPr>
        <p:spPr>
          <a:xfrm>
            <a:off x="3742264" y="2419992"/>
            <a:ext cx="239606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smtClean="0"/>
              <a:t>※ </a:t>
            </a:r>
            <a:r>
              <a:rPr lang="ko-KR" altLang="en-US" sz="1100" smtClean="0"/>
              <a:t>가정</a:t>
            </a:r>
            <a:r>
              <a:rPr lang="en-US" altLang="ko-KR" sz="1100" smtClean="0"/>
              <a:t>1: </a:t>
            </a:r>
            <a:r>
              <a:rPr lang="ko-KR" altLang="en-US" sz="1100" smtClean="0"/>
              <a:t>웹 서버는 사용자들의 </a:t>
            </a:r>
            <a:r>
              <a:rPr lang="en-US" altLang="ko-KR" sz="1100" smtClean="0"/>
              <a:t>IP,Max</a:t>
            </a:r>
            <a:r>
              <a:rPr lang="ko-KR" altLang="en-US" sz="1100" smtClean="0"/>
              <a:t>주소를 가지고 있다</a:t>
            </a:r>
            <a:r>
              <a:rPr lang="en-US" altLang="ko-KR" sz="1100" smtClean="0"/>
              <a:t>.</a:t>
            </a:r>
            <a:br>
              <a:rPr lang="en-US" altLang="ko-KR" sz="1100" smtClean="0"/>
            </a:br>
            <a:r>
              <a:rPr lang="en-US" altLang="ko-KR" sz="1100" smtClean="0"/>
              <a:t>※ </a:t>
            </a:r>
            <a:r>
              <a:rPr lang="ko-KR" altLang="en-US" sz="1100" smtClean="0"/>
              <a:t>가정</a:t>
            </a:r>
            <a:r>
              <a:rPr lang="en-US" altLang="ko-KR" sz="1100" smtClean="0"/>
              <a:t>2: </a:t>
            </a:r>
            <a:r>
              <a:rPr lang="ko-KR" altLang="en-US" sz="1100" smtClean="0"/>
              <a:t>웹 서버는 단 한대이다</a:t>
            </a:r>
            <a:r>
              <a:rPr lang="en-US" altLang="ko-KR" sz="1100" smtClean="0"/>
              <a:t>.</a:t>
            </a:r>
            <a:br>
              <a:rPr lang="en-US" altLang="ko-KR" sz="1100" smtClean="0"/>
            </a:br>
            <a:r>
              <a:rPr lang="en-US" altLang="ko-KR" sz="1100" smtClean="0"/>
              <a:t/>
            </a:r>
            <a:br>
              <a:rPr lang="en-US" altLang="ko-KR" sz="1100" smtClean="0"/>
            </a:br>
            <a:r>
              <a:rPr lang="en-US" altLang="ko-KR" sz="1100" smtClean="0"/>
              <a:t/>
            </a:r>
            <a:br>
              <a:rPr lang="en-US" altLang="ko-KR" sz="1100" smtClean="0"/>
            </a:br>
            <a:r>
              <a:rPr lang="en-US" altLang="ko-KR" sz="1100" smtClean="0">
                <a:sym typeface="Wingdings" panose="05000000000000000000" pitchFamily="2" charset="2"/>
              </a:rPr>
              <a:t> </a:t>
            </a:r>
            <a:r>
              <a:rPr lang="ko-KR" altLang="en-US" sz="1100" smtClean="0">
                <a:sym typeface="Wingdings" panose="05000000000000000000" pitchFamily="2" charset="2"/>
              </a:rPr>
              <a:t>가정</a:t>
            </a:r>
            <a:r>
              <a:rPr lang="en-US" altLang="ko-KR" sz="1100" smtClean="0">
                <a:sym typeface="Wingdings" panose="05000000000000000000" pitchFamily="2" charset="2"/>
              </a:rPr>
              <a:t>1,</a:t>
            </a:r>
            <a:r>
              <a:rPr lang="ko-KR" altLang="en-US" sz="1100" smtClean="0">
                <a:sym typeface="Wingdings" panose="05000000000000000000" pitchFamily="2" charset="2"/>
              </a:rPr>
              <a:t>가정</a:t>
            </a:r>
            <a:r>
              <a:rPr lang="en-US" altLang="ko-KR" sz="1100" smtClean="0">
                <a:sym typeface="Wingdings" panose="05000000000000000000" pitchFamily="2" charset="2"/>
              </a:rPr>
              <a:t>2</a:t>
            </a:r>
            <a:r>
              <a:rPr lang="ko-KR" altLang="en-US" sz="1100" smtClean="0">
                <a:sym typeface="Wingdings" panose="05000000000000000000" pitchFamily="2" charset="2"/>
              </a:rPr>
              <a:t>의 경우 채팅서비스에서의 문제가 없다</a:t>
            </a:r>
            <a:r>
              <a:rPr lang="en-US" altLang="ko-KR" sz="1100" smtClean="0">
                <a:sym typeface="Wingdings" panose="05000000000000000000" pitchFamily="2" charset="2"/>
              </a:rPr>
              <a:t>.</a:t>
            </a:r>
            <a:endParaRPr lang="ko-KR" altLang="en-US" sz="1100"/>
          </a:p>
        </p:txBody>
      </p:sp>
      <p:sp>
        <p:nvSpPr>
          <p:cNvPr id="24" name="직사각형 23"/>
          <p:cNvSpPr/>
          <p:nvPr/>
        </p:nvSpPr>
        <p:spPr>
          <a:xfrm>
            <a:off x="7171266" y="2396067"/>
            <a:ext cx="1524000" cy="812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웹 서버</a:t>
            </a:r>
            <a:r>
              <a:rPr lang="en-US" altLang="ko-KR" smtClean="0"/>
              <a:t>1</a:t>
            </a:r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9728202" y="2387601"/>
            <a:ext cx="1524000" cy="812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웹 서버</a:t>
            </a:r>
            <a:r>
              <a:rPr lang="en-US" altLang="ko-KR"/>
              <a:t>2</a:t>
            </a:r>
            <a:endParaRPr lang="ko-KR" altLang="en-US"/>
          </a:p>
        </p:txBody>
      </p:sp>
      <p:grpSp>
        <p:nvGrpSpPr>
          <p:cNvPr id="26" name="그룹 25"/>
          <p:cNvGrpSpPr/>
          <p:nvPr/>
        </p:nvGrpSpPr>
        <p:grpSpPr>
          <a:xfrm>
            <a:off x="6887632" y="4389964"/>
            <a:ext cx="567267" cy="931333"/>
            <a:chOff x="677333" y="2396067"/>
            <a:chExt cx="567267" cy="931333"/>
          </a:xfrm>
        </p:grpSpPr>
        <p:sp>
          <p:nvSpPr>
            <p:cNvPr id="27" name="타원 26"/>
            <p:cNvSpPr/>
            <p:nvPr/>
          </p:nvSpPr>
          <p:spPr>
            <a:xfrm>
              <a:off x="804333" y="2396067"/>
              <a:ext cx="321734" cy="313266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677333" y="2709333"/>
              <a:ext cx="567267" cy="618067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mtClean="0"/>
                <a:t>1</a:t>
              </a:r>
              <a:endParaRPr lang="ko-KR" altLang="en-US"/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11260665" y="4389964"/>
            <a:ext cx="567267" cy="931333"/>
            <a:chOff x="677333" y="2396067"/>
            <a:chExt cx="567267" cy="931333"/>
          </a:xfrm>
          <a:solidFill>
            <a:srgbClr val="0070C0"/>
          </a:solidFill>
        </p:grpSpPr>
        <p:sp>
          <p:nvSpPr>
            <p:cNvPr id="30" name="타원 29"/>
            <p:cNvSpPr/>
            <p:nvPr/>
          </p:nvSpPr>
          <p:spPr>
            <a:xfrm>
              <a:off x="804333" y="2396067"/>
              <a:ext cx="321734" cy="31326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677333" y="2709333"/>
              <a:ext cx="567267" cy="61806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2</a:t>
              </a:r>
              <a:endParaRPr lang="ko-KR" altLang="en-US"/>
            </a:p>
          </p:txBody>
        </p:sp>
      </p:grpSp>
      <p:sp>
        <p:nvSpPr>
          <p:cNvPr id="32" name="직사각형 31"/>
          <p:cNvSpPr/>
          <p:nvPr/>
        </p:nvSpPr>
        <p:spPr>
          <a:xfrm>
            <a:off x="8227484" y="3594882"/>
            <a:ext cx="2133600" cy="409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LB</a:t>
            </a:r>
            <a:endParaRPr lang="ko-KR" altLang="en-US"/>
          </a:p>
        </p:txBody>
      </p:sp>
      <p:cxnSp>
        <p:nvCxnSpPr>
          <p:cNvPr id="36" name="직선 화살표 연결선 35"/>
          <p:cNvCxnSpPr>
            <a:stCxn id="28" idx="3"/>
            <a:endCxn id="32" idx="1"/>
          </p:cNvCxnSpPr>
          <p:nvPr/>
        </p:nvCxnSpPr>
        <p:spPr>
          <a:xfrm flipV="1">
            <a:off x="7454899" y="3799416"/>
            <a:ext cx="772585" cy="121284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stCxn id="32" idx="1"/>
            <a:endCxn id="24" idx="2"/>
          </p:cNvCxnSpPr>
          <p:nvPr/>
        </p:nvCxnSpPr>
        <p:spPr>
          <a:xfrm flipH="1" flipV="1">
            <a:off x="7933266" y="3208867"/>
            <a:ext cx="294218" cy="59054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/>
          <p:nvPr/>
        </p:nvCxnSpPr>
        <p:spPr>
          <a:xfrm>
            <a:off x="8695266" y="2722033"/>
            <a:ext cx="245534" cy="336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/>
          <p:cNvSpPr/>
          <p:nvPr/>
        </p:nvSpPr>
        <p:spPr>
          <a:xfrm>
            <a:off x="8818033" y="3058628"/>
            <a:ext cx="351367" cy="2687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</a:rPr>
              <a:t>?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149040" y="2048075"/>
            <a:ext cx="1384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mtClean="0"/>
              <a:t>사용자</a:t>
            </a:r>
            <a:r>
              <a:rPr lang="en-US" altLang="ko-KR" sz="1100" smtClean="0"/>
              <a:t>1</a:t>
            </a:r>
            <a:r>
              <a:rPr lang="ko-KR" altLang="en-US" sz="1100" smtClean="0"/>
              <a:t> 주소 저장</a:t>
            </a:r>
            <a:endParaRPr lang="ko-KR" altLang="en-US" sz="1100"/>
          </a:p>
        </p:txBody>
      </p:sp>
      <p:sp>
        <p:nvSpPr>
          <p:cNvPr id="51" name="TextBox 50"/>
          <p:cNvSpPr txBox="1"/>
          <p:nvPr/>
        </p:nvSpPr>
        <p:spPr>
          <a:xfrm>
            <a:off x="9668933" y="2048075"/>
            <a:ext cx="1384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mtClean="0"/>
              <a:t>사용자</a:t>
            </a:r>
            <a:r>
              <a:rPr lang="en-US" altLang="ko-KR" sz="1100"/>
              <a:t>2</a:t>
            </a:r>
            <a:r>
              <a:rPr lang="ko-KR" altLang="en-US" sz="1100" smtClean="0"/>
              <a:t> 주소 저장</a:t>
            </a:r>
            <a:endParaRPr lang="ko-KR" altLang="en-US" sz="1100"/>
          </a:p>
        </p:txBody>
      </p:sp>
      <p:sp>
        <p:nvSpPr>
          <p:cNvPr id="52" name="TextBox 51"/>
          <p:cNvSpPr txBox="1"/>
          <p:nvPr/>
        </p:nvSpPr>
        <p:spPr>
          <a:xfrm>
            <a:off x="7933266" y="4193897"/>
            <a:ext cx="311996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mtClean="0">
                <a:solidFill>
                  <a:srgbClr val="0070C0"/>
                </a:solidFill>
              </a:rPr>
              <a:t>실제 운용서비스는 장애 상황에 대비해 </a:t>
            </a:r>
            <a:r>
              <a:rPr lang="en-US" altLang="ko-KR" sz="1100" smtClean="0">
                <a:solidFill>
                  <a:srgbClr val="0070C0"/>
                </a:solidFill>
              </a:rPr>
              <a:t>LB</a:t>
            </a:r>
            <a:r>
              <a:rPr lang="ko-KR" altLang="en-US" sz="1100" smtClean="0">
                <a:solidFill>
                  <a:srgbClr val="0070C0"/>
                </a:solidFill>
              </a:rPr>
              <a:t>를 통해 요청을 분산시킨다</a:t>
            </a:r>
            <a:r>
              <a:rPr lang="en-US" altLang="ko-KR" sz="1100" smtClean="0">
                <a:solidFill>
                  <a:srgbClr val="0070C0"/>
                </a:solidFill>
              </a:rPr>
              <a:t>.</a:t>
            </a:r>
            <a:br>
              <a:rPr lang="en-US" altLang="ko-KR" sz="1100" smtClean="0">
                <a:solidFill>
                  <a:srgbClr val="0070C0"/>
                </a:solidFill>
              </a:rPr>
            </a:br>
            <a:r>
              <a:rPr lang="en-US" altLang="ko-KR" sz="1100" smtClean="0">
                <a:solidFill>
                  <a:srgbClr val="0070C0"/>
                </a:solidFill>
              </a:rPr>
              <a:t/>
            </a:r>
            <a:br>
              <a:rPr lang="en-US" altLang="ko-KR" sz="1100" smtClean="0">
                <a:solidFill>
                  <a:srgbClr val="0070C0"/>
                </a:solidFill>
              </a:rPr>
            </a:br>
            <a:r>
              <a:rPr lang="en-US" altLang="ko-KR" sz="1100" smtClean="0">
                <a:solidFill>
                  <a:srgbClr val="0070C0"/>
                </a:solidFill>
              </a:rPr>
              <a:t>※ </a:t>
            </a:r>
            <a:r>
              <a:rPr lang="ko-KR" altLang="en-US" sz="1100" smtClean="0">
                <a:solidFill>
                  <a:srgbClr val="0070C0"/>
                </a:solidFill>
              </a:rPr>
              <a:t>가정</a:t>
            </a:r>
            <a:r>
              <a:rPr lang="en-US" altLang="ko-KR" sz="1100" smtClean="0">
                <a:solidFill>
                  <a:srgbClr val="0070C0"/>
                </a:solidFill>
              </a:rPr>
              <a:t>3: </a:t>
            </a:r>
            <a:r>
              <a:rPr lang="ko-KR" altLang="en-US" sz="1100" smtClean="0">
                <a:solidFill>
                  <a:srgbClr val="0070C0"/>
                </a:solidFill>
              </a:rPr>
              <a:t>웹서버 </a:t>
            </a:r>
            <a:r>
              <a:rPr lang="en-US" altLang="ko-KR" sz="1100" smtClean="0">
                <a:solidFill>
                  <a:srgbClr val="0070C0"/>
                </a:solidFill>
              </a:rPr>
              <a:t>1</a:t>
            </a:r>
            <a:r>
              <a:rPr lang="ko-KR" altLang="en-US" sz="1100" smtClean="0">
                <a:solidFill>
                  <a:srgbClr val="0070C0"/>
                </a:solidFill>
              </a:rPr>
              <a:t>은 사용자</a:t>
            </a:r>
            <a:r>
              <a:rPr lang="en-US" altLang="ko-KR" sz="1100" smtClean="0">
                <a:solidFill>
                  <a:srgbClr val="0070C0"/>
                </a:solidFill>
              </a:rPr>
              <a:t>1</a:t>
            </a:r>
            <a:r>
              <a:rPr lang="ko-KR" altLang="en-US" sz="1100" smtClean="0">
                <a:solidFill>
                  <a:srgbClr val="0070C0"/>
                </a:solidFill>
              </a:rPr>
              <a:t>의 맥 또는 </a:t>
            </a:r>
            <a:r>
              <a:rPr lang="en-US" altLang="ko-KR" sz="1100" smtClean="0">
                <a:solidFill>
                  <a:srgbClr val="0070C0"/>
                </a:solidFill>
              </a:rPr>
              <a:t>IP</a:t>
            </a:r>
            <a:r>
              <a:rPr lang="ko-KR" altLang="en-US" sz="1100" smtClean="0">
                <a:solidFill>
                  <a:srgbClr val="0070C0"/>
                </a:solidFill>
              </a:rPr>
              <a:t>주소를 알지만 사용자</a:t>
            </a:r>
            <a:r>
              <a:rPr lang="en-US" altLang="ko-KR" sz="1100" smtClean="0">
                <a:solidFill>
                  <a:srgbClr val="0070C0"/>
                </a:solidFill>
              </a:rPr>
              <a:t>2</a:t>
            </a:r>
            <a:r>
              <a:rPr lang="ko-KR" altLang="en-US" sz="1100" smtClean="0">
                <a:solidFill>
                  <a:srgbClr val="0070C0"/>
                </a:solidFill>
              </a:rPr>
              <a:t>의 맥 또는 </a:t>
            </a:r>
            <a:r>
              <a:rPr lang="en-US" altLang="ko-KR" sz="1100" smtClean="0">
                <a:solidFill>
                  <a:srgbClr val="0070C0"/>
                </a:solidFill>
              </a:rPr>
              <a:t>IP</a:t>
            </a:r>
            <a:r>
              <a:rPr lang="ko-KR" altLang="en-US" sz="1100" smtClean="0">
                <a:solidFill>
                  <a:srgbClr val="0070C0"/>
                </a:solidFill>
              </a:rPr>
              <a:t>주소를 모른다</a:t>
            </a:r>
            <a:r>
              <a:rPr lang="en-US" altLang="ko-KR" sz="1100" smtClean="0">
                <a:solidFill>
                  <a:srgbClr val="0070C0"/>
                </a:solidFill>
              </a:rPr>
              <a:t>.</a:t>
            </a:r>
            <a:br>
              <a:rPr lang="en-US" altLang="ko-KR" sz="1100" smtClean="0">
                <a:solidFill>
                  <a:srgbClr val="0070C0"/>
                </a:solidFill>
              </a:rPr>
            </a:br>
            <a:r>
              <a:rPr lang="en-US" altLang="ko-KR" sz="1100" smtClean="0">
                <a:solidFill>
                  <a:srgbClr val="0070C0"/>
                </a:solidFill>
              </a:rPr>
              <a:t>※ </a:t>
            </a:r>
            <a:r>
              <a:rPr lang="ko-KR" altLang="en-US" sz="1100" smtClean="0">
                <a:solidFill>
                  <a:srgbClr val="0070C0"/>
                </a:solidFill>
              </a:rPr>
              <a:t>가정</a:t>
            </a:r>
            <a:r>
              <a:rPr lang="en-US" altLang="ko-KR" sz="1100" smtClean="0">
                <a:solidFill>
                  <a:srgbClr val="0070C0"/>
                </a:solidFill>
              </a:rPr>
              <a:t>4: </a:t>
            </a:r>
            <a:r>
              <a:rPr lang="ko-KR" altLang="en-US" sz="1100" smtClean="0">
                <a:solidFill>
                  <a:srgbClr val="0070C0"/>
                </a:solidFill>
              </a:rPr>
              <a:t>웹서버 </a:t>
            </a:r>
            <a:r>
              <a:rPr lang="en-US" altLang="ko-KR" sz="1100" smtClean="0">
                <a:solidFill>
                  <a:srgbClr val="0070C0"/>
                </a:solidFill>
              </a:rPr>
              <a:t>2</a:t>
            </a:r>
            <a:r>
              <a:rPr lang="ko-KR" altLang="en-US" sz="1100" smtClean="0">
                <a:solidFill>
                  <a:srgbClr val="0070C0"/>
                </a:solidFill>
              </a:rPr>
              <a:t>또한 사용자</a:t>
            </a:r>
            <a:r>
              <a:rPr lang="en-US" altLang="ko-KR" sz="1100" smtClean="0">
                <a:solidFill>
                  <a:srgbClr val="0070C0"/>
                </a:solidFill>
              </a:rPr>
              <a:t>2</a:t>
            </a:r>
            <a:r>
              <a:rPr lang="ko-KR" altLang="en-US" sz="1100" smtClean="0">
                <a:solidFill>
                  <a:srgbClr val="0070C0"/>
                </a:solidFill>
              </a:rPr>
              <a:t>의 맥 또는 </a:t>
            </a:r>
            <a:r>
              <a:rPr lang="en-US" altLang="ko-KR" sz="1100" smtClean="0">
                <a:solidFill>
                  <a:srgbClr val="0070C0"/>
                </a:solidFill>
              </a:rPr>
              <a:t>IP</a:t>
            </a:r>
            <a:r>
              <a:rPr lang="ko-KR" altLang="en-US" sz="1100" smtClean="0">
                <a:solidFill>
                  <a:srgbClr val="0070C0"/>
                </a:solidFill>
              </a:rPr>
              <a:t>주소를 알지만 사용자</a:t>
            </a:r>
            <a:r>
              <a:rPr lang="en-US" altLang="ko-KR" sz="1100" smtClean="0">
                <a:solidFill>
                  <a:srgbClr val="0070C0"/>
                </a:solidFill>
              </a:rPr>
              <a:t>1</a:t>
            </a:r>
            <a:r>
              <a:rPr lang="ko-KR" altLang="en-US" sz="1100" smtClean="0">
                <a:solidFill>
                  <a:srgbClr val="0070C0"/>
                </a:solidFill>
              </a:rPr>
              <a:t>의 맥 또는 </a:t>
            </a:r>
            <a:r>
              <a:rPr lang="en-US" altLang="ko-KR" sz="1100" smtClean="0">
                <a:solidFill>
                  <a:srgbClr val="0070C0"/>
                </a:solidFill>
              </a:rPr>
              <a:t>IP</a:t>
            </a:r>
            <a:r>
              <a:rPr lang="ko-KR" altLang="en-US" sz="1100" smtClean="0">
                <a:solidFill>
                  <a:srgbClr val="0070C0"/>
                </a:solidFill>
              </a:rPr>
              <a:t>주소를 모른다</a:t>
            </a:r>
            <a:r>
              <a:rPr lang="en-US" altLang="ko-KR" sz="1100" smtClean="0">
                <a:solidFill>
                  <a:srgbClr val="0070C0"/>
                </a:solidFill>
              </a:rPr>
              <a:t>.</a:t>
            </a:r>
            <a:br>
              <a:rPr lang="en-US" altLang="ko-KR" sz="1100" smtClean="0">
                <a:solidFill>
                  <a:srgbClr val="0070C0"/>
                </a:solidFill>
              </a:rPr>
            </a:br>
            <a:r>
              <a:rPr lang="en-US" altLang="ko-KR" sz="1100" smtClean="0">
                <a:solidFill>
                  <a:srgbClr val="0070C0"/>
                </a:solidFill>
              </a:rPr>
              <a:t/>
            </a:r>
            <a:br>
              <a:rPr lang="en-US" altLang="ko-KR" sz="1100" smtClean="0">
                <a:solidFill>
                  <a:srgbClr val="0070C0"/>
                </a:solidFill>
              </a:rPr>
            </a:br>
            <a:r>
              <a:rPr lang="en-US" altLang="ko-KR" sz="1100" smtClean="0">
                <a:solidFill>
                  <a:srgbClr val="0070C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100" smtClean="0">
                <a:solidFill>
                  <a:srgbClr val="0070C0"/>
                </a:solidFill>
                <a:sym typeface="Wingdings" panose="05000000000000000000" pitchFamily="2" charset="2"/>
              </a:rPr>
              <a:t>사용자 </a:t>
            </a:r>
            <a:r>
              <a:rPr lang="en-US" altLang="ko-KR" sz="1100" smtClean="0">
                <a:solidFill>
                  <a:srgbClr val="0070C0"/>
                </a:solidFill>
                <a:sym typeface="Wingdings" panose="05000000000000000000" pitchFamily="2" charset="2"/>
              </a:rPr>
              <a:t>1</a:t>
            </a:r>
            <a:r>
              <a:rPr lang="ko-KR" altLang="en-US" sz="1100" smtClean="0">
                <a:solidFill>
                  <a:srgbClr val="0070C0"/>
                </a:solidFill>
                <a:sym typeface="Wingdings" panose="05000000000000000000" pitchFamily="2" charset="2"/>
              </a:rPr>
              <a:t>이 </a:t>
            </a:r>
            <a:r>
              <a:rPr lang="en-US" altLang="ko-KR" sz="1100" smtClean="0">
                <a:solidFill>
                  <a:srgbClr val="0070C0"/>
                </a:solidFill>
                <a:sym typeface="Wingdings" panose="05000000000000000000" pitchFamily="2" charset="2"/>
              </a:rPr>
              <a:t>LB</a:t>
            </a:r>
            <a:r>
              <a:rPr lang="ko-KR" altLang="en-US" sz="1100" smtClean="0">
                <a:solidFill>
                  <a:srgbClr val="0070C0"/>
                </a:solidFill>
                <a:sym typeface="Wingdings" panose="05000000000000000000" pitchFamily="2" charset="2"/>
              </a:rPr>
              <a:t>를 통해 웹서버</a:t>
            </a:r>
            <a:r>
              <a:rPr lang="en-US" altLang="ko-KR" sz="1100" smtClean="0">
                <a:solidFill>
                  <a:srgbClr val="0070C0"/>
                </a:solidFill>
                <a:sym typeface="Wingdings" panose="05000000000000000000" pitchFamily="2" charset="2"/>
              </a:rPr>
              <a:t>1</a:t>
            </a:r>
            <a:r>
              <a:rPr lang="ko-KR" altLang="en-US" sz="1100" smtClean="0">
                <a:solidFill>
                  <a:srgbClr val="0070C0"/>
                </a:solidFill>
                <a:sym typeface="Wingdings" panose="05000000000000000000" pitchFamily="2" charset="2"/>
              </a:rPr>
              <a:t>로 메세지를 보냈다</a:t>
            </a:r>
            <a:r>
              <a:rPr lang="en-US" altLang="ko-KR" sz="1100" smtClean="0">
                <a:solidFill>
                  <a:srgbClr val="0070C0"/>
                </a:solidFill>
                <a:sym typeface="Wingdings" panose="05000000000000000000" pitchFamily="2" charset="2"/>
              </a:rPr>
              <a:t>. </a:t>
            </a:r>
            <a:r>
              <a:rPr lang="ko-KR" altLang="en-US" sz="1100" smtClean="0">
                <a:solidFill>
                  <a:srgbClr val="0070C0"/>
                </a:solidFill>
                <a:sym typeface="Wingdings" panose="05000000000000000000" pitchFamily="2" charset="2"/>
              </a:rPr>
              <a:t>웹 서버</a:t>
            </a:r>
            <a:r>
              <a:rPr lang="en-US" altLang="ko-KR" sz="1100" smtClean="0">
                <a:solidFill>
                  <a:srgbClr val="0070C0"/>
                </a:solidFill>
                <a:sym typeface="Wingdings" panose="05000000000000000000" pitchFamily="2" charset="2"/>
              </a:rPr>
              <a:t>1</a:t>
            </a:r>
            <a:r>
              <a:rPr lang="ko-KR" altLang="en-US" sz="1100" smtClean="0">
                <a:solidFill>
                  <a:srgbClr val="0070C0"/>
                </a:solidFill>
                <a:sym typeface="Wingdings" panose="05000000000000000000" pitchFamily="2" charset="2"/>
              </a:rPr>
              <a:t>은 사용자</a:t>
            </a:r>
            <a:r>
              <a:rPr lang="en-US" altLang="ko-KR" sz="1100" smtClean="0">
                <a:solidFill>
                  <a:srgbClr val="0070C0"/>
                </a:solidFill>
                <a:sym typeface="Wingdings" panose="05000000000000000000" pitchFamily="2" charset="2"/>
              </a:rPr>
              <a:t>2</a:t>
            </a:r>
            <a:r>
              <a:rPr lang="ko-KR" altLang="en-US" sz="1100" smtClean="0">
                <a:solidFill>
                  <a:srgbClr val="0070C0"/>
                </a:solidFill>
                <a:sym typeface="Wingdings" panose="05000000000000000000" pitchFamily="2" charset="2"/>
              </a:rPr>
              <a:t>에게 메세지를 보내야하나 사용자</a:t>
            </a:r>
            <a:r>
              <a:rPr lang="en-US" altLang="ko-KR" sz="1100" smtClean="0">
                <a:solidFill>
                  <a:srgbClr val="0070C0"/>
                </a:solidFill>
                <a:sym typeface="Wingdings" panose="05000000000000000000" pitchFamily="2" charset="2"/>
              </a:rPr>
              <a:t>2</a:t>
            </a:r>
            <a:r>
              <a:rPr lang="ko-KR" altLang="en-US" sz="1100" smtClean="0">
                <a:solidFill>
                  <a:srgbClr val="0070C0"/>
                </a:solidFill>
                <a:sym typeface="Wingdings" panose="05000000000000000000" pitchFamily="2" charset="2"/>
              </a:rPr>
              <a:t>의 주소 정보를 모르기때문에 </a:t>
            </a:r>
            <a:r>
              <a:rPr lang="en-US" altLang="ko-KR" sz="1100" smtClean="0">
                <a:solidFill>
                  <a:srgbClr val="0070C0"/>
                </a:solidFill>
                <a:sym typeface="Wingdings" panose="05000000000000000000" pitchFamily="2" charset="2"/>
              </a:rPr>
              <a:t>LB</a:t>
            </a:r>
            <a:r>
              <a:rPr lang="ko-KR" altLang="en-US" sz="1100" smtClean="0">
                <a:solidFill>
                  <a:srgbClr val="0070C0"/>
                </a:solidFill>
                <a:sym typeface="Wingdings" panose="05000000000000000000" pitchFamily="2" charset="2"/>
              </a:rPr>
              <a:t>에 최종 메세지 수신자 정보를 전달할 수 가 없다</a:t>
            </a:r>
            <a:r>
              <a:rPr lang="en-US" altLang="ko-KR" sz="1100" smtClean="0">
                <a:solidFill>
                  <a:srgbClr val="0070C0"/>
                </a:solidFill>
                <a:sym typeface="Wingdings" panose="05000000000000000000" pitchFamily="2" charset="2"/>
              </a:rPr>
              <a:t>.</a:t>
            </a:r>
            <a:endParaRPr lang="en-US" altLang="ko-KR" sz="1100" smtClean="0">
              <a:solidFill>
                <a:srgbClr val="0070C0"/>
              </a:solidFill>
            </a:endParaRPr>
          </a:p>
          <a:p>
            <a:endParaRPr lang="ko-KR" altLang="en-US" sz="1100">
              <a:solidFill>
                <a:srgbClr val="0070C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521200" y="1346200"/>
            <a:ext cx="3031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/>
              <a:t>※ </a:t>
            </a:r>
            <a:r>
              <a:rPr lang="ko-KR" altLang="en-US" smtClean="0"/>
              <a:t>실시간 채팅방 서비스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731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Redis</a:t>
            </a:r>
            <a:r>
              <a:rPr lang="ko-KR" altLang="en-US" smtClean="0"/>
              <a:t>의 </a:t>
            </a:r>
            <a:r>
              <a:rPr lang="en-US" altLang="ko-KR" smtClean="0"/>
              <a:t>Pub/Sub</a:t>
            </a:r>
            <a:r>
              <a:rPr lang="ko-KR" altLang="en-US" smtClean="0"/>
              <a:t>이 필요한 이유</a:t>
            </a:r>
            <a:r>
              <a:rPr lang="en-US" altLang="ko-KR" smtClean="0"/>
              <a:t>-2</a:t>
            </a:r>
            <a:br>
              <a:rPr lang="en-US" altLang="ko-KR" smtClean="0"/>
            </a:b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1532466" y="3141133"/>
            <a:ext cx="1524000" cy="812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웹 서버</a:t>
            </a:r>
            <a:r>
              <a:rPr lang="en-US" altLang="ko-KR" smtClean="0"/>
              <a:t>1</a:t>
            </a:r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4089402" y="3132667"/>
            <a:ext cx="1524000" cy="812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웹 서버</a:t>
            </a:r>
            <a:r>
              <a:rPr lang="en-US" altLang="ko-KR"/>
              <a:t>2</a:t>
            </a:r>
            <a:endParaRPr lang="ko-KR" altLang="en-US"/>
          </a:p>
        </p:txBody>
      </p:sp>
      <p:grpSp>
        <p:nvGrpSpPr>
          <p:cNvPr id="26" name="그룹 25"/>
          <p:cNvGrpSpPr/>
          <p:nvPr/>
        </p:nvGrpSpPr>
        <p:grpSpPr>
          <a:xfrm>
            <a:off x="1248832" y="5135030"/>
            <a:ext cx="567267" cy="931333"/>
            <a:chOff x="677333" y="2396067"/>
            <a:chExt cx="567267" cy="931333"/>
          </a:xfrm>
        </p:grpSpPr>
        <p:sp>
          <p:nvSpPr>
            <p:cNvPr id="27" name="타원 26"/>
            <p:cNvSpPr/>
            <p:nvPr/>
          </p:nvSpPr>
          <p:spPr>
            <a:xfrm>
              <a:off x="804333" y="2396067"/>
              <a:ext cx="321734" cy="313266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677333" y="2709333"/>
              <a:ext cx="567267" cy="618067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mtClean="0"/>
                <a:t>1</a:t>
              </a:r>
              <a:endParaRPr lang="ko-KR" altLang="en-US"/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5621865" y="5135030"/>
            <a:ext cx="567267" cy="931333"/>
            <a:chOff x="677333" y="2396067"/>
            <a:chExt cx="567267" cy="931333"/>
          </a:xfrm>
          <a:solidFill>
            <a:srgbClr val="0070C0"/>
          </a:solidFill>
        </p:grpSpPr>
        <p:sp>
          <p:nvSpPr>
            <p:cNvPr id="30" name="타원 29"/>
            <p:cNvSpPr/>
            <p:nvPr/>
          </p:nvSpPr>
          <p:spPr>
            <a:xfrm>
              <a:off x="804333" y="2396067"/>
              <a:ext cx="321734" cy="31326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677333" y="2709333"/>
              <a:ext cx="567267" cy="61806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mtClean="0"/>
                <a:t>3</a:t>
              </a:r>
              <a:endParaRPr lang="ko-KR" altLang="en-US"/>
            </a:p>
          </p:txBody>
        </p:sp>
      </p:grpSp>
      <p:sp>
        <p:nvSpPr>
          <p:cNvPr id="32" name="직사각형 31"/>
          <p:cNvSpPr/>
          <p:nvPr/>
        </p:nvSpPr>
        <p:spPr>
          <a:xfrm>
            <a:off x="2588684" y="4339948"/>
            <a:ext cx="2133600" cy="409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LB</a:t>
            </a:r>
            <a:endParaRPr lang="ko-KR" altLang="en-US"/>
          </a:p>
        </p:txBody>
      </p:sp>
      <p:cxnSp>
        <p:nvCxnSpPr>
          <p:cNvPr id="36" name="직선 화살표 연결선 35"/>
          <p:cNvCxnSpPr>
            <a:stCxn id="27" idx="0"/>
            <a:endCxn id="24" idx="2"/>
          </p:cNvCxnSpPr>
          <p:nvPr/>
        </p:nvCxnSpPr>
        <p:spPr>
          <a:xfrm flipV="1">
            <a:off x="1536699" y="3953933"/>
            <a:ext cx="757767" cy="118109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2845859" y="1421111"/>
            <a:ext cx="1619249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Redis</a:t>
            </a:r>
            <a:endParaRPr lang="ko-KR" altLang="en-US"/>
          </a:p>
        </p:txBody>
      </p:sp>
      <p:cxnSp>
        <p:nvCxnSpPr>
          <p:cNvPr id="17" name="직선 화살표 연결선 16"/>
          <p:cNvCxnSpPr>
            <a:stCxn id="24" idx="0"/>
          </p:cNvCxnSpPr>
          <p:nvPr/>
        </p:nvCxnSpPr>
        <p:spPr>
          <a:xfrm flipV="1">
            <a:off x="2294466" y="2056111"/>
            <a:ext cx="922867" cy="1085022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그룹 39"/>
          <p:cNvGrpSpPr/>
          <p:nvPr/>
        </p:nvGrpSpPr>
        <p:grpSpPr>
          <a:xfrm>
            <a:off x="524931" y="4360330"/>
            <a:ext cx="567267" cy="931333"/>
            <a:chOff x="677333" y="2396067"/>
            <a:chExt cx="567267" cy="931333"/>
          </a:xfrm>
          <a:solidFill>
            <a:srgbClr val="0070C0"/>
          </a:solidFill>
        </p:grpSpPr>
        <p:sp>
          <p:nvSpPr>
            <p:cNvPr id="41" name="타원 40"/>
            <p:cNvSpPr/>
            <p:nvPr/>
          </p:nvSpPr>
          <p:spPr>
            <a:xfrm>
              <a:off x="804333" y="2396067"/>
              <a:ext cx="321734" cy="31326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677333" y="2709333"/>
              <a:ext cx="567267" cy="61806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2</a:t>
              </a:r>
              <a:endParaRPr lang="ko-KR" altLang="en-US"/>
            </a:p>
          </p:txBody>
        </p:sp>
      </p:grpSp>
      <p:cxnSp>
        <p:nvCxnSpPr>
          <p:cNvPr id="33" name="직선 화살표 연결선 32"/>
          <p:cNvCxnSpPr>
            <a:stCxn id="24" idx="2"/>
            <a:endCxn id="42" idx="3"/>
          </p:cNvCxnSpPr>
          <p:nvPr/>
        </p:nvCxnSpPr>
        <p:spPr>
          <a:xfrm flipH="1">
            <a:off x="1092198" y="3953933"/>
            <a:ext cx="1202268" cy="102869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>
            <a:stCxn id="4" idx="2"/>
            <a:endCxn id="25" idx="0"/>
          </p:cNvCxnSpPr>
          <p:nvPr/>
        </p:nvCxnSpPr>
        <p:spPr>
          <a:xfrm>
            <a:off x="3655484" y="2056111"/>
            <a:ext cx="1195918" cy="1076556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6070599" y="3126315"/>
            <a:ext cx="1524000" cy="812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웹 서버</a:t>
            </a:r>
            <a:r>
              <a:rPr lang="en-US" altLang="ko-KR" smtClean="0"/>
              <a:t>3</a:t>
            </a:r>
            <a:endParaRPr lang="ko-KR" altLang="en-US"/>
          </a:p>
        </p:txBody>
      </p:sp>
      <p:grpSp>
        <p:nvGrpSpPr>
          <p:cNvPr id="53" name="그룹 52"/>
          <p:cNvGrpSpPr/>
          <p:nvPr/>
        </p:nvGrpSpPr>
        <p:grpSpPr>
          <a:xfrm>
            <a:off x="7467598" y="5150906"/>
            <a:ext cx="567267" cy="931333"/>
            <a:chOff x="677333" y="2396067"/>
            <a:chExt cx="567267" cy="931333"/>
          </a:xfrm>
          <a:solidFill>
            <a:srgbClr val="0070C0"/>
          </a:solidFill>
        </p:grpSpPr>
        <p:sp>
          <p:nvSpPr>
            <p:cNvPr id="54" name="타원 53"/>
            <p:cNvSpPr/>
            <p:nvPr/>
          </p:nvSpPr>
          <p:spPr>
            <a:xfrm>
              <a:off x="804333" y="2396067"/>
              <a:ext cx="321734" cy="31326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677333" y="2709333"/>
              <a:ext cx="567267" cy="61806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4</a:t>
              </a:r>
              <a:endParaRPr lang="ko-KR" altLang="en-US"/>
            </a:p>
          </p:txBody>
        </p:sp>
      </p:grpSp>
      <p:cxnSp>
        <p:nvCxnSpPr>
          <p:cNvPr id="59" name="직선 화살표 연결선 58"/>
          <p:cNvCxnSpPr>
            <a:stCxn id="25" idx="2"/>
            <a:endCxn id="30" idx="0"/>
          </p:cNvCxnSpPr>
          <p:nvPr/>
        </p:nvCxnSpPr>
        <p:spPr>
          <a:xfrm>
            <a:off x="4851402" y="3945467"/>
            <a:ext cx="1058330" cy="118956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>
            <a:stCxn id="28" idx="3"/>
            <a:endCxn id="24" idx="2"/>
          </p:cNvCxnSpPr>
          <p:nvPr/>
        </p:nvCxnSpPr>
        <p:spPr>
          <a:xfrm flipV="1">
            <a:off x="1816099" y="3953933"/>
            <a:ext cx="478367" cy="1803397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>
            <a:stCxn id="4" idx="2"/>
            <a:endCxn id="48" idx="0"/>
          </p:cNvCxnSpPr>
          <p:nvPr/>
        </p:nvCxnSpPr>
        <p:spPr>
          <a:xfrm>
            <a:off x="3655484" y="2056111"/>
            <a:ext cx="3177115" cy="107020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/>
          <p:nvPr/>
        </p:nvCxnSpPr>
        <p:spPr>
          <a:xfrm flipV="1">
            <a:off x="2032000" y="2056111"/>
            <a:ext cx="931334" cy="107020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/>
        </p:nvCxnSpPr>
        <p:spPr>
          <a:xfrm flipH="1" flipV="1">
            <a:off x="3420531" y="2056111"/>
            <a:ext cx="1015999" cy="107655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 flipH="1" flipV="1">
            <a:off x="4465108" y="2056111"/>
            <a:ext cx="2706159" cy="10850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070599" y="2811361"/>
            <a:ext cx="1384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mtClean="0"/>
              <a:t>사용자</a:t>
            </a:r>
            <a:r>
              <a:rPr lang="en-US" altLang="ko-KR" sz="1100"/>
              <a:t>4</a:t>
            </a:r>
            <a:r>
              <a:rPr lang="ko-KR" altLang="en-US" sz="1100" smtClean="0"/>
              <a:t> 주소 저장</a:t>
            </a:r>
            <a:endParaRPr lang="ko-KR" altLang="en-US" sz="1100"/>
          </a:p>
        </p:txBody>
      </p:sp>
      <p:sp>
        <p:nvSpPr>
          <p:cNvPr id="51" name="TextBox 50"/>
          <p:cNvSpPr txBox="1"/>
          <p:nvPr/>
        </p:nvSpPr>
        <p:spPr>
          <a:xfrm>
            <a:off x="4030133" y="2793141"/>
            <a:ext cx="1384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mtClean="0"/>
              <a:t>사용자</a:t>
            </a:r>
            <a:r>
              <a:rPr lang="en-US" altLang="ko-KR" sz="1100" smtClean="0"/>
              <a:t>3</a:t>
            </a:r>
            <a:r>
              <a:rPr lang="ko-KR" altLang="en-US" sz="1100" smtClean="0"/>
              <a:t> 주소 저장</a:t>
            </a:r>
            <a:endParaRPr lang="ko-KR" altLang="en-US" sz="1100"/>
          </a:p>
        </p:txBody>
      </p:sp>
      <p:sp>
        <p:nvSpPr>
          <p:cNvPr id="50" name="TextBox 49"/>
          <p:cNvSpPr txBox="1"/>
          <p:nvPr/>
        </p:nvSpPr>
        <p:spPr>
          <a:xfrm>
            <a:off x="1510240" y="2829120"/>
            <a:ext cx="14530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mtClean="0"/>
              <a:t>사용자</a:t>
            </a:r>
            <a:r>
              <a:rPr lang="en-US" altLang="ko-KR" sz="1100" smtClean="0"/>
              <a:t>1,2</a:t>
            </a:r>
            <a:r>
              <a:rPr lang="ko-KR" altLang="en-US" sz="1100" smtClean="0"/>
              <a:t> 주소 저장</a:t>
            </a:r>
            <a:endParaRPr lang="ko-KR" altLang="en-US" sz="1100"/>
          </a:p>
        </p:txBody>
      </p:sp>
      <p:sp>
        <p:nvSpPr>
          <p:cNvPr id="79" name="TextBox 78"/>
          <p:cNvSpPr txBox="1"/>
          <p:nvPr/>
        </p:nvSpPr>
        <p:spPr>
          <a:xfrm>
            <a:off x="8034865" y="2218267"/>
            <a:ext cx="3937002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smtClean="0">
                <a:solidFill>
                  <a:srgbClr val="FF0000"/>
                </a:solidFill>
              </a:rPr>
              <a:t>빨간선</a:t>
            </a:r>
            <a:r>
              <a:rPr lang="ko-KR" altLang="en-US" sz="1100" smtClean="0"/>
              <a:t> </a:t>
            </a:r>
            <a:r>
              <a:rPr lang="en-US" altLang="ko-KR" sz="1100" smtClean="0"/>
              <a:t>: </a:t>
            </a:r>
            <a:r>
              <a:rPr lang="ko-KR" altLang="en-US" sz="1100" smtClean="0"/>
              <a:t>각 웹서버는 </a:t>
            </a:r>
            <a:r>
              <a:rPr lang="en-US" altLang="ko-KR" sz="1100" smtClean="0"/>
              <a:t>Redis</a:t>
            </a:r>
            <a:r>
              <a:rPr lang="ko-KR" altLang="en-US" sz="1100" smtClean="0"/>
              <a:t>를 </a:t>
            </a:r>
            <a:r>
              <a:rPr lang="ko-KR" altLang="en-US" sz="1100" b="1" smtClean="0"/>
              <a:t>구독</a:t>
            </a:r>
            <a:r>
              <a:rPr lang="ko-KR" altLang="en-US" sz="1100" smtClean="0"/>
              <a:t>중이다</a:t>
            </a:r>
            <a:r>
              <a:rPr lang="en-US" altLang="ko-KR" sz="1100" smtClean="0"/>
              <a:t>.</a:t>
            </a:r>
          </a:p>
          <a:p>
            <a:r>
              <a:rPr lang="ko-KR" altLang="en-US" sz="1100" b="1" smtClean="0">
                <a:solidFill>
                  <a:srgbClr val="0070C0"/>
                </a:solidFill>
              </a:rPr>
              <a:t>파란선</a:t>
            </a:r>
            <a:r>
              <a:rPr lang="ko-KR" altLang="en-US" sz="1100" smtClean="0"/>
              <a:t> </a:t>
            </a:r>
            <a:r>
              <a:rPr lang="en-US" altLang="ko-KR" sz="1100" smtClean="0"/>
              <a:t>: </a:t>
            </a:r>
            <a:r>
              <a:rPr lang="ko-KR" altLang="en-US" sz="1100" smtClean="0"/>
              <a:t>사용자</a:t>
            </a:r>
            <a:r>
              <a:rPr lang="en-US" altLang="ko-KR" sz="1100" smtClean="0"/>
              <a:t>1</a:t>
            </a:r>
            <a:r>
              <a:rPr lang="ko-KR" altLang="en-US" sz="1100" smtClean="0"/>
              <a:t>이 사용자</a:t>
            </a:r>
            <a:r>
              <a:rPr lang="en-US" altLang="ko-KR" sz="1100" smtClean="0"/>
              <a:t>2</a:t>
            </a:r>
            <a:r>
              <a:rPr lang="ko-KR" altLang="en-US" sz="1100" smtClean="0"/>
              <a:t>로 메세지를 전달하는데</a:t>
            </a:r>
            <a:r>
              <a:rPr lang="en-US" altLang="ko-KR" sz="1100" smtClean="0"/>
              <a:t>,</a:t>
            </a:r>
            <a:r>
              <a:rPr lang="ko-KR" altLang="en-US" sz="1100" smtClean="0"/>
              <a:t> </a:t>
            </a:r>
            <a:r>
              <a:rPr lang="en-US" altLang="ko-KR" sz="1100" smtClean="0"/>
              <a:t/>
            </a:r>
            <a:br>
              <a:rPr lang="en-US" altLang="ko-KR" sz="1100" smtClean="0"/>
            </a:br>
            <a:r>
              <a:rPr lang="en-US" altLang="ko-KR" sz="1100" smtClean="0"/>
              <a:t>             </a:t>
            </a:r>
            <a:r>
              <a:rPr lang="ko-KR" altLang="en-US" sz="1100" smtClean="0"/>
              <a:t>웹서버</a:t>
            </a:r>
            <a:r>
              <a:rPr lang="en-US" altLang="ko-KR" sz="1100" smtClean="0"/>
              <a:t>1</a:t>
            </a:r>
            <a:r>
              <a:rPr lang="ko-KR" altLang="en-US" sz="1100"/>
              <a:t> </a:t>
            </a:r>
            <a:r>
              <a:rPr lang="ko-KR" altLang="en-US" sz="1100" smtClean="0"/>
              <a:t>에 사용자</a:t>
            </a:r>
            <a:r>
              <a:rPr lang="en-US" altLang="ko-KR" sz="1100" smtClean="0"/>
              <a:t>2</a:t>
            </a:r>
            <a:r>
              <a:rPr lang="ko-KR" altLang="en-US" sz="1100" smtClean="0"/>
              <a:t>가 존재할 경우</a:t>
            </a:r>
            <a:r>
              <a:rPr lang="en-US" altLang="ko-KR" sz="1100" smtClean="0"/>
              <a:t>.( </a:t>
            </a:r>
            <a:r>
              <a:rPr lang="ko-KR" altLang="en-US" sz="1100" smtClean="0"/>
              <a:t>요청 </a:t>
            </a:r>
            <a:r>
              <a:rPr lang="en-US" altLang="ko-KR" sz="1100" smtClean="0"/>
              <a:t>– </a:t>
            </a:r>
            <a:r>
              <a:rPr lang="ko-KR" altLang="en-US" sz="1100" smtClean="0"/>
              <a:t>응답</a:t>
            </a:r>
            <a:r>
              <a:rPr lang="en-US" altLang="ko-KR" sz="1100" smtClean="0"/>
              <a:t>)</a:t>
            </a:r>
          </a:p>
          <a:p>
            <a:r>
              <a:rPr lang="ko-KR" altLang="en-US" sz="1100" b="1" smtClean="0">
                <a:solidFill>
                  <a:srgbClr val="FFC000"/>
                </a:solidFill>
              </a:rPr>
              <a:t>주황선 </a:t>
            </a:r>
            <a:r>
              <a:rPr lang="en-US" altLang="ko-KR" sz="1100" b="1" smtClean="0">
                <a:solidFill>
                  <a:srgbClr val="FFC000"/>
                </a:solidFill>
              </a:rPr>
              <a:t>: </a:t>
            </a:r>
            <a:r>
              <a:rPr lang="ko-KR" altLang="en-US" sz="1100" smtClean="0"/>
              <a:t>사용자</a:t>
            </a:r>
            <a:r>
              <a:rPr lang="en-US" altLang="ko-KR" sz="1100" smtClean="0"/>
              <a:t>1</a:t>
            </a:r>
            <a:r>
              <a:rPr lang="ko-KR" altLang="en-US" sz="1100" smtClean="0"/>
              <a:t>이 사용자</a:t>
            </a:r>
            <a:r>
              <a:rPr lang="en-US" altLang="ko-KR" sz="1100" smtClean="0"/>
              <a:t>3</a:t>
            </a:r>
            <a:r>
              <a:rPr lang="ko-KR" altLang="en-US" sz="1100" smtClean="0"/>
              <a:t>에게 메세지를 전달할 때</a:t>
            </a:r>
            <a:r>
              <a:rPr lang="en-US" altLang="ko-KR" sz="1100" smtClean="0"/>
              <a:t>,</a:t>
            </a:r>
            <a:br>
              <a:rPr lang="en-US" altLang="ko-KR" sz="1100" smtClean="0"/>
            </a:br>
            <a:r>
              <a:rPr lang="en-US" altLang="ko-KR" sz="1100" smtClean="0"/>
              <a:t>             </a:t>
            </a:r>
            <a:r>
              <a:rPr lang="ko-KR" altLang="en-US" sz="1100" smtClean="0"/>
              <a:t>웹서버</a:t>
            </a:r>
            <a:r>
              <a:rPr lang="en-US" altLang="ko-KR" sz="1100" smtClean="0"/>
              <a:t>1</a:t>
            </a:r>
            <a:r>
              <a:rPr lang="ko-KR" altLang="en-US" sz="1100" smtClean="0"/>
              <a:t>에 사용자</a:t>
            </a:r>
            <a:r>
              <a:rPr lang="en-US" altLang="ko-KR" sz="1100" smtClean="0"/>
              <a:t>3</a:t>
            </a:r>
            <a:r>
              <a:rPr lang="ko-KR" altLang="en-US" sz="1100" smtClean="0"/>
              <a:t>가 없다</a:t>
            </a:r>
            <a:r>
              <a:rPr lang="en-US" altLang="ko-KR" sz="1100" smtClean="0"/>
              <a:t>. </a:t>
            </a:r>
            <a:br>
              <a:rPr lang="en-US" altLang="ko-KR" sz="1100" smtClean="0"/>
            </a:br>
            <a:r>
              <a:rPr lang="en-US" altLang="ko-KR" sz="1100" smtClean="0"/>
              <a:t>             </a:t>
            </a:r>
            <a:r>
              <a:rPr lang="en-US" altLang="ko-KR" sz="1100" smtClean="0">
                <a:sym typeface="Wingdings" panose="05000000000000000000" pitchFamily="2" charset="2"/>
              </a:rPr>
              <a:t> Redis</a:t>
            </a:r>
            <a:r>
              <a:rPr lang="ko-KR" altLang="en-US" sz="1100" smtClean="0">
                <a:sym typeface="Wingdings" panose="05000000000000000000" pitchFamily="2" charset="2"/>
              </a:rPr>
              <a:t>로 메세지 발행</a:t>
            </a:r>
            <a:endParaRPr lang="en-US" altLang="ko-KR" sz="1100">
              <a:sym typeface="Wingdings" panose="05000000000000000000" pitchFamily="2" charset="2"/>
            </a:endParaRPr>
          </a:p>
          <a:p>
            <a:r>
              <a:rPr lang="en-US" altLang="ko-KR" sz="1100">
                <a:solidFill>
                  <a:srgbClr val="FFC000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100" smtClean="0">
                <a:solidFill>
                  <a:srgbClr val="FFC000"/>
                </a:solidFill>
                <a:sym typeface="Wingdings" panose="05000000000000000000" pitchFamily="2" charset="2"/>
              </a:rPr>
              <a:t>            </a:t>
            </a:r>
            <a:r>
              <a:rPr lang="en-US" altLang="ko-KR" sz="1100" smtClean="0">
                <a:sym typeface="Wingdings" panose="05000000000000000000" pitchFamily="2" charset="2"/>
              </a:rPr>
              <a:t>Redis</a:t>
            </a:r>
            <a:r>
              <a:rPr lang="ko-KR" altLang="en-US" sz="1100" smtClean="0">
                <a:sym typeface="Wingdings" panose="05000000000000000000" pitchFamily="2" charset="2"/>
              </a:rPr>
              <a:t>는 웹 서버들에게 사용자</a:t>
            </a:r>
            <a:r>
              <a:rPr lang="en-US" altLang="ko-KR" sz="1100" smtClean="0">
                <a:sym typeface="Wingdings" panose="05000000000000000000" pitchFamily="2" charset="2"/>
              </a:rPr>
              <a:t>3</a:t>
            </a:r>
            <a:r>
              <a:rPr lang="ko-KR" altLang="en-US" sz="1100" smtClean="0">
                <a:sym typeface="Wingdings" panose="05000000000000000000" pitchFamily="2" charset="2"/>
              </a:rPr>
              <a:t>의 </a:t>
            </a:r>
            <a:r>
              <a:rPr lang="en-US" altLang="ko-KR" sz="1100" smtClean="0">
                <a:sym typeface="Wingdings" panose="05000000000000000000" pitchFamily="2" charset="2"/>
              </a:rPr>
              <a:t>mac </a:t>
            </a:r>
            <a:r>
              <a:rPr lang="ko-KR" altLang="en-US" sz="1100" smtClean="0">
                <a:sym typeface="Wingdings" panose="05000000000000000000" pitchFamily="2" charset="2"/>
              </a:rPr>
              <a:t>또는 </a:t>
            </a:r>
            <a:r>
              <a:rPr lang="en-US" altLang="ko-KR" sz="1100" smtClean="0">
                <a:sym typeface="Wingdings" panose="05000000000000000000" pitchFamily="2" charset="2"/>
              </a:rPr>
              <a:t>ip </a:t>
            </a:r>
            <a:br>
              <a:rPr lang="en-US" altLang="ko-KR" sz="1100" smtClean="0">
                <a:sym typeface="Wingdings" panose="05000000000000000000" pitchFamily="2" charset="2"/>
              </a:rPr>
            </a:br>
            <a:r>
              <a:rPr lang="en-US" altLang="ko-KR" sz="1100" smtClean="0">
                <a:sym typeface="Wingdings" panose="05000000000000000000" pitchFamily="2" charset="2"/>
              </a:rPr>
              <a:t>             </a:t>
            </a:r>
            <a:r>
              <a:rPr lang="ko-KR" altLang="en-US" sz="1100" smtClean="0">
                <a:sym typeface="Wingdings" panose="05000000000000000000" pitchFamily="2" charset="2"/>
              </a:rPr>
              <a:t>주소가 존재하는지 확인한다</a:t>
            </a:r>
            <a:r>
              <a:rPr lang="en-US" altLang="ko-KR" sz="1100" smtClean="0">
                <a:sym typeface="Wingdings" panose="05000000000000000000" pitchFamily="2" charset="2"/>
              </a:rPr>
              <a:t>.</a:t>
            </a:r>
            <a:br>
              <a:rPr lang="en-US" altLang="ko-KR" sz="1100" smtClean="0">
                <a:sym typeface="Wingdings" panose="05000000000000000000" pitchFamily="2" charset="2"/>
              </a:rPr>
            </a:br>
            <a:r>
              <a:rPr lang="en-US" altLang="ko-KR" sz="1100" smtClean="0">
                <a:sym typeface="Wingdings" panose="05000000000000000000" pitchFamily="2" charset="2"/>
              </a:rPr>
              <a:t>             </a:t>
            </a:r>
            <a:r>
              <a:rPr lang="ko-KR" altLang="en-US" sz="1100" smtClean="0">
                <a:sym typeface="Wingdings" panose="05000000000000000000" pitchFamily="2" charset="2"/>
              </a:rPr>
              <a:t>주소가 존재하는 웹서버에서 메세지를 대상자에게 </a:t>
            </a:r>
            <a:r>
              <a:rPr lang="en-US" altLang="ko-KR" sz="1100" smtClean="0">
                <a:sym typeface="Wingdings" panose="05000000000000000000" pitchFamily="2" charset="2"/>
              </a:rPr>
              <a:t/>
            </a:r>
            <a:br>
              <a:rPr lang="en-US" altLang="ko-KR" sz="1100" smtClean="0">
                <a:sym typeface="Wingdings" panose="05000000000000000000" pitchFamily="2" charset="2"/>
              </a:rPr>
            </a:br>
            <a:r>
              <a:rPr lang="en-US" altLang="ko-KR" sz="1100" smtClean="0">
                <a:sym typeface="Wingdings" panose="05000000000000000000" pitchFamily="2" charset="2"/>
              </a:rPr>
              <a:t>             </a:t>
            </a:r>
            <a:r>
              <a:rPr lang="ko-KR" altLang="en-US" sz="1100" smtClean="0">
                <a:sym typeface="Wingdings" panose="05000000000000000000" pitchFamily="2" charset="2"/>
              </a:rPr>
              <a:t>전달한다</a:t>
            </a:r>
            <a:r>
              <a:rPr lang="en-US" altLang="ko-KR" sz="1100" smtClean="0">
                <a:sym typeface="Wingdings" panose="05000000000000000000" pitchFamily="2" charset="2"/>
              </a:rPr>
              <a:t>.</a:t>
            </a:r>
            <a:endParaRPr lang="en-US" altLang="ko-KR" sz="1100" smtClean="0"/>
          </a:p>
          <a:p>
            <a:endParaRPr lang="ko-KR" altLang="en-US" sz="1100"/>
          </a:p>
        </p:txBody>
      </p:sp>
      <p:sp>
        <p:nvSpPr>
          <p:cNvPr id="80" name="TextBox 79"/>
          <p:cNvSpPr txBox="1"/>
          <p:nvPr/>
        </p:nvSpPr>
        <p:spPr>
          <a:xfrm>
            <a:off x="2802995" y="2395863"/>
            <a:ext cx="72707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smtClean="0"/>
              <a:t>메세지 발행</a:t>
            </a:r>
            <a:endParaRPr lang="ko-KR" altLang="en-US" sz="1050"/>
          </a:p>
        </p:txBody>
      </p:sp>
    </p:spTree>
    <p:extLst>
      <p:ext uri="{BB962C8B-B14F-4D97-AF65-F5344CB8AC3E}">
        <p14:creationId xmlns:p14="http://schemas.microsoft.com/office/powerpoint/2010/main" val="1750368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Redis</a:t>
            </a:r>
            <a:r>
              <a:rPr lang="ko-KR" altLang="en-US" smtClean="0"/>
              <a:t>의 </a:t>
            </a:r>
            <a:r>
              <a:rPr lang="en-US" altLang="ko-KR" smtClean="0"/>
              <a:t>Pub/Sub</a:t>
            </a:r>
            <a:r>
              <a:rPr lang="ko-KR" altLang="en-US" smtClean="0"/>
              <a:t>이 필요한 이유</a:t>
            </a:r>
            <a:r>
              <a:rPr lang="en-US" altLang="ko-KR" smtClean="0"/>
              <a:t>-3</a:t>
            </a:r>
            <a:br>
              <a:rPr lang="en-US" altLang="ko-KR" smtClean="0"/>
            </a:b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1532466" y="3141133"/>
            <a:ext cx="1524000" cy="812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웹 서버</a:t>
            </a:r>
            <a:r>
              <a:rPr lang="en-US" altLang="ko-KR" smtClean="0"/>
              <a:t>1</a:t>
            </a:r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4089402" y="3132667"/>
            <a:ext cx="1524000" cy="812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웹 서버</a:t>
            </a:r>
            <a:r>
              <a:rPr lang="en-US" altLang="ko-KR"/>
              <a:t>2</a:t>
            </a:r>
            <a:endParaRPr lang="ko-KR" altLang="en-US"/>
          </a:p>
        </p:txBody>
      </p:sp>
      <p:grpSp>
        <p:nvGrpSpPr>
          <p:cNvPr id="26" name="그룹 25"/>
          <p:cNvGrpSpPr/>
          <p:nvPr/>
        </p:nvGrpSpPr>
        <p:grpSpPr>
          <a:xfrm>
            <a:off x="1248832" y="5135030"/>
            <a:ext cx="567267" cy="931333"/>
            <a:chOff x="677333" y="2396067"/>
            <a:chExt cx="567267" cy="931333"/>
          </a:xfrm>
        </p:grpSpPr>
        <p:sp>
          <p:nvSpPr>
            <p:cNvPr id="27" name="타원 26"/>
            <p:cNvSpPr/>
            <p:nvPr/>
          </p:nvSpPr>
          <p:spPr>
            <a:xfrm>
              <a:off x="804333" y="2396067"/>
              <a:ext cx="321734" cy="313266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677333" y="2709333"/>
              <a:ext cx="567267" cy="618067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mtClean="0"/>
                <a:t>1</a:t>
              </a:r>
              <a:endParaRPr lang="ko-KR" altLang="en-US"/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5621865" y="5135030"/>
            <a:ext cx="567267" cy="931333"/>
            <a:chOff x="677333" y="2396067"/>
            <a:chExt cx="567267" cy="931333"/>
          </a:xfrm>
          <a:solidFill>
            <a:srgbClr val="0070C0"/>
          </a:solidFill>
        </p:grpSpPr>
        <p:sp>
          <p:nvSpPr>
            <p:cNvPr id="30" name="타원 29"/>
            <p:cNvSpPr/>
            <p:nvPr/>
          </p:nvSpPr>
          <p:spPr>
            <a:xfrm>
              <a:off x="804333" y="2396067"/>
              <a:ext cx="321734" cy="31326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677333" y="2709333"/>
              <a:ext cx="567267" cy="61806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mtClean="0"/>
                <a:t>3</a:t>
              </a:r>
              <a:endParaRPr lang="ko-KR" altLang="en-US"/>
            </a:p>
          </p:txBody>
        </p:sp>
      </p:grpSp>
      <p:sp>
        <p:nvSpPr>
          <p:cNvPr id="32" name="직사각형 31"/>
          <p:cNvSpPr/>
          <p:nvPr/>
        </p:nvSpPr>
        <p:spPr>
          <a:xfrm>
            <a:off x="2588684" y="4339948"/>
            <a:ext cx="2133600" cy="4090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LB</a:t>
            </a:r>
            <a:endParaRPr lang="ko-KR" altLang="en-US"/>
          </a:p>
        </p:txBody>
      </p:sp>
      <p:cxnSp>
        <p:nvCxnSpPr>
          <p:cNvPr id="36" name="직선 화살표 연결선 35"/>
          <p:cNvCxnSpPr>
            <a:stCxn id="32" idx="1"/>
          </p:cNvCxnSpPr>
          <p:nvPr/>
        </p:nvCxnSpPr>
        <p:spPr>
          <a:xfrm flipH="1">
            <a:off x="1092198" y="4544482"/>
            <a:ext cx="1496486" cy="36618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2845859" y="1421111"/>
            <a:ext cx="1619249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DB</a:t>
            </a:r>
            <a:endParaRPr lang="ko-KR" altLang="en-US"/>
          </a:p>
        </p:txBody>
      </p:sp>
      <p:cxnSp>
        <p:nvCxnSpPr>
          <p:cNvPr id="17" name="직선 화살표 연결선 16"/>
          <p:cNvCxnSpPr>
            <a:stCxn id="4" idx="2"/>
            <a:endCxn id="24" idx="0"/>
          </p:cNvCxnSpPr>
          <p:nvPr/>
        </p:nvCxnSpPr>
        <p:spPr>
          <a:xfrm flipH="1">
            <a:off x="2294466" y="2056111"/>
            <a:ext cx="1361018" cy="1085022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그룹 39"/>
          <p:cNvGrpSpPr/>
          <p:nvPr/>
        </p:nvGrpSpPr>
        <p:grpSpPr>
          <a:xfrm>
            <a:off x="524931" y="4360330"/>
            <a:ext cx="567267" cy="931333"/>
            <a:chOff x="677333" y="2396067"/>
            <a:chExt cx="567267" cy="931333"/>
          </a:xfrm>
          <a:solidFill>
            <a:srgbClr val="0070C0"/>
          </a:solidFill>
        </p:grpSpPr>
        <p:sp>
          <p:nvSpPr>
            <p:cNvPr id="41" name="타원 40"/>
            <p:cNvSpPr/>
            <p:nvPr/>
          </p:nvSpPr>
          <p:spPr>
            <a:xfrm>
              <a:off x="804333" y="2396067"/>
              <a:ext cx="321734" cy="31326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677333" y="2709333"/>
              <a:ext cx="567267" cy="61806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2</a:t>
              </a:r>
              <a:endParaRPr lang="ko-KR" altLang="en-US"/>
            </a:p>
          </p:txBody>
        </p:sp>
      </p:grpSp>
      <p:cxnSp>
        <p:nvCxnSpPr>
          <p:cNvPr id="38" name="직선 화살표 연결선 37"/>
          <p:cNvCxnSpPr>
            <a:stCxn id="4" idx="2"/>
            <a:endCxn id="25" idx="0"/>
          </p:cNvCxnSpPr>
          <p:nvPr/>
        </p:nvCxnSpPr>
        <p:spPr>
          <a:xfrm>
            <a:off x="3655484" y="2056111"/>
            <a:ext cx="1195918" cy="1076556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6070599" y="3126315"/>
            <a:ext cx="1524000" cy="812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웹 서버</a:t>
            </a:r>
            <a:r>
              <a:rPr lang="en-US" altLang="ko-KR" smtClean="0"/>
              <a:t>3</a:t>
            </a:r>
            <a:endParaRPr lang="ko-KR" altLang="en-US"/>
          </a:p>
        </p:txBody>
      </p:sp>
      <p:grpSp>
        <p:nvGrpSpPr>
          <p:cNvPr id="53" name="그룹 52"/>
          <p:cNvGrpSpPr/>
          <p:nvPr/>
        </p:nvGrpSpPr>
        <p:grpSpPr>
          <a:xfrm>
            <a:off x="7467598" y="5150906"/>
            <a:ext cx="567267" cy="931333"/>
            <a:chOff x="677333" y="2396067"/>
            <a:chExt cx="567267" cy="931333"/>
          </a:xfrm>
          <a:solidFill>
            <a:srgbClr val="0070C0"/>
          </a:solidFill>
        </p:grpSpPr>
        <p:sp>
          <p:nvSpPr>
            <p:cNvPr id="54" name="타원 53"/>
            <p:cNvSpPr/>
            <p:nvPr/>
          </p:nvSpPr>
          <p:spPr>
            <a:xfrm>
              <a:off x="804333" y="2396067"/>
              <a:ext cx="321734" cy="31326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677333" y="2709333"/>
              <a:ext cx="567267" cy="61806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4</a:t>
              </a:r>
              <a:endParaRPr lang="ko-KR" altLang="en-US"/>
            </a:p>
          </p:txBody>
        </p:sp>
      </p:grpSp>
      <p:cxnSp>
        <p:nvCxnSpPr>
          <p:cNvPr id="59" name="직선 화살표 연결선 58"/>
          <p:cNvCxnSpPr/>
          <p:nvPr/>
        </p:nvCxnSpPr>
        <p:spPr>
          <a:xfrm>
            <a:off x="4393142" y="4792637"/>
            <a:ext cx="1143000" cy="77843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>
            <a:stCxn id="28" idx="3"/>
          </p:cNvCxnSpPr>
          <p:nvPr/>
        </p:nvCxnSpPr>
        <p:spPr>
          <a:xfrm flipV="1">
            <a:off x="1816099" y="4784955"/>
            <a:ext cx="778930" cy="972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>
            <a:stCxn id="4" idx="2"/>
            <a:endCxn id="48" idx="0"/>
          </p:cNvCxnSpPr>
          <p:nvPr/>
        </p:nvCxnSpPr>
        <p:spPr>
          <a:xfrm>
            <a:off x="3655484" y="2056111"/>
            <a:ext cx="3177115" cy="107020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070599" y="2811361"/>
            <a:ext cx="1384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mtClean="0"/>
              <a:t>사용자</a:t>
            </a:r>
            <a:r>
              <a:rPr lang="en-US" altLang="ko-KR" sz="1100"/>
              <a:t>4</a:t>
            </a:r>
            <a:r>
              <a:rPr lang="ko-KR" altLang="en-US" sz="1100" smtClean="0"/>
              <a:t> 주소 저장</a:t>
            </a:r>
            <a:endParaRPr lang="ko-KR" altLang="en-US" sz="1100"/>
          </a:p>
        </p:txBody>
      </p:sp>
      <p:sp>
        <p:nvSpPr>
          <p:cNvPr id="51" name="TextBox 50"/>
          <p:cNvSpPr txBox="1"/>
          <p:nvPr/>
        </p:nvSpPr>
        <p:spPr>
          <a:xfrm>
            <a:off x="4030133" y="2793141"/>
            <a:ext cx="1384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mtClean="0"/>
              <a:t>사용자</a:t>
            </a:r>
            <a:r>
              <a:rPr lang="en-US" altLang="ko-KR" sz="1100" smtClean="0"/>
              <a:t>3</a:t>
            </a:r>
            <a:r>
              <a:rPr lang="ko-KR" altLang="en-US" sz="1100" smtClean="0"/>
              <a:t> 주소 저장</a:t>
            </a:r>
            <a:endParaRPr lang="ko-KR" altLang="en-US" sz="1100"/>
          </a:p>
        </p:txBody>
      </p:sp>
      <p:sp>
        <p:nvSpPr>
          <p:cNvPr id="50" name="TextBox 49"/>
          <p:cNvSpPr txBox="1"/>
          <p:nvPr/>
        </p:nvSpPr>
        <p:spPr>
          <a:xfrm>
            <a:off x="1405464" y="1416130"/>
            <a:ext cx="14530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smtClean="0"/>
              <a:t>사용자</a:t>
            </a:r>
            <a:r>
              <a:rPr lang="en-US" altLang="ko-KR" sz="1100" smtClean="0"/>
              <a:t>1,2,3,4</a:t>
            </a:r>
            <a:r>
              <a:rPr lang="ko-KR" altLang="en-US" sz="1100" smtClean="0"/>
              <a:t> 주소 저장</a:t>
            </a:r>
            <a:endParaRPr lang="ko-KR" altLang="en-US" sz="1100"/>
          </a:p>
        </p:txBody>
      </p:sp>
      <p:sp>
        <p:nvSpPr>
          <p:cNvPr id="79" name="TextBox 78"/>
          <p:cNvSpPr txBox="1"/>
          <p:nvPr/>
        </p:nvSpPr>
        <p:spPr>
          <a:xfrm>
            <a:off x="8114063" y="1262902"/>
            <a:ext cx="393700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smtClean="0"/>
              <a:t>※ </a:t>
            </a:r>
            <a:r>
              <a:rPr lang="ko-KR" altLang="en-US" sz="1100" smtClean="0"/>
              <a:t>채팅 프로그램 구현시 해당 시나리오가 불가능한 이유</a:t>
            </a:r>
            <a:r>
              <a:rPr lang="en-US" altLang="ko-KR" sz="1100" smtClean="0"/>
              <a:t>.</a:t>
            </a:r>
            <a:br>
              <a:rPr lang="en-US" altLang="ko-KR" sz="1100" smtClean="0"/>
            </a:br>
            <a:r>
              <a:rPr lang="en-US" altLang="ko-KR" sz="1100" smtClean="0">
                <a:sym typeface="Wingdings" panose="05000000000000000000" pitchFamily="2" charset="2"/>
              </a:rPr>
              <a:t> DB</a:t>
            </a:r>
            <a:r>
              <a:rPr lang="ko-KR" altLang="en-US" sz="1100" smtClean="0">
                <a:sym typeface="Wingdings" panose="05000000000000000000" pitchFamily="2" charset="2"/>
              </a:rPr>
              <a:t>에서 사용자 주소를 가지고있으면 모든 웹서버가 사용자한테 메세지를 날리는게 가능하지않아</a:t>
            </a:r>
            <a:r>
              <a:rPr lang="en-US" altLang="ko-KR" sz="1100" smtClean="0">
                <a:sym typeface="Wingdings" panose="05000000000000000000" pitchFamily="2" charset="2"/>
              </a:rPr>
              <a:t>? </a:t>
            </a:r>
            <a:r>
              <a:rPr lang="ko-KR" altLang="en-US" sz="1100" smtClean="0">
                <a:sym typeface="Wingdings" panose="05000000000000000000" pitchFamily="2" charset="2"/>
              </a:rPr>
              <a:t>라고 생각할 수있다</a:t>
            </a:r>
            <a:r>
              <a:rPr lang="en-US" altLang="ko-KR" sz="1100" smtClean="0">
                <a:sym typeface="Wingdings" panose="05000000000000000000" pitchFamily="2" charset="2"/>
              </a:rPr>
              <a:t>. </a:t>
            </a:r>
            <a:r>
              <a:rPr lang="ko-KR" altLang="en-US" sz="1100" smtClean="0">
                <a:sym typeface="Wingdings" panose="05000000000000000000" pitchFamily="2" charset="2"/>
              </a:rPr>
              <a:t>하지만 채팅 프로그램은 실시간이라는것을 기억해야한다</a:t>
            </a:r>
            <a:r>
              <a:rPr lang="en-US" altLang="ko-KR" sz="1100" smtClean="0">
                <a:sym typeface="Wingdings" panose="05000000000000000000" pitchFamily="2" charset="2"/>
              </a:rPr>
              <a:t>.</a:t>
            </a:r>
            <a:br>
              <a:rPr lang="en-US" altLang="ko-KR" sz="1100" smtClean="0">
                <a:sym typeface="Wingdings" panose="05000000000000000000" pitchFamily="2" charset="2"/>
              </a:rPr>
            </a:br>
            <a:r>
              <a:rPr lang="en-US" altLang="ko-KR" sz="1100" smtClean="0">
                <a:sym typeface="Wingdings" panose="05000000000000000000" pitchFamily="2" charset="2"/>
              </a:rPr>
              <a:t/>
            </a:r>
            <a:br>
              <a:rPr lang="en-US" altLang="ko-KR" sz="1100" smtClean="0">
                <a:sym typeface="Wingdings" panose="05000000000000000000" pitchFamily="2" charset="2"/>
              </a:rPr>
            </a:br>
            <a:r>
              <a:rPr lang="ko-KR" altLang="en-US" sz="1100" smtClean="0">
                <a:sym typeface="Wingdings" panose="05000000000000000000" pitchFamily="2" charset="2"/>
              </a:rPr>
              <a:t>메세지 저장 및 전달할 상대의 정보를 </a:t>
            </a:r>
            <a:r>
              <a:rPr lang="en-US" altLang="ko-KR" sz="1100" smtClean="0">
                <a:sym typeface="Wingdings" panose="05000000000000000000" pitchFamily="2" charset="2"/>
              </a:rPr>
              <a:t>DB</a:t>
            </a:r>
            <a:r>
              <a:rPr lang="ko-KR" altLang="en-US" sz="1100" smtClean="0">
                <a:sym typeface="Wingdings" panose="05000000000000000000" pitchFamily="2" charset="2"/>
              </a:rPr>
              <a:t>에서 조회하고 </a:t>
            </a:r>
            <a:r>
              <a:rPr lang="en-US" altLang="ko-KR" sz="1100" smtClean="0">
                <a:sym typeface="Wingdings" panose="05000000000000000000" pitchFamily="2" charset="2"/>
              </a:rPr>
              <a:t/>
            </a:r>
            <a:br>
              <a:rPr lang="en-US" altLang="ko-KR" sz="1100" smtClean="0">
                <a:sym typeface="Wingdings" panose="05000000000000000000" pitchFamily="2" charset="2"/>
              </a:rPr>
            </a:br>
            <a:r>
              <a:rPr lang="ko-KR" altLang="en-US" sz="1100" smtClean="0">
                <a:sym typeface="Wingdings" panose="05000000000000000000" pitchFamily="2" charset="2"/>
              </a:rPr>
              <a:t>메세지를 보내고</a:t>
            </a:r>
            <a:r>
              <a:rPr lang="en-US" altLang="ko-KR" sz="1100" smtClean="0">
                <a:sym typeface="Wingdings" panose="05000000000000000000" pitchFamily="2" charset="2"/>
              </a:rPr>
              <a:t>, </a:t>
            </a:r>
            <a:r>
              <a:rPr lang="ko-KR" altLang="en-US" sz="1100" smtClean="0">
                <a:sym typeface="Wingdings" panose="05000000000000000000" pitchFamily="2" charset="2"/>
              </a:rPr>
              <a:t>수 많은 사람들이 실시간으로 </a:t>
            </a:r>
            <a:r>
              <a:rPr lang="en-US" altLang="ko-KR" sz="1100" smtClean="0">
                <a:sym typeface="Wingdings" panose="05000000000000000000" pitchFamily="2" charset="2"/>
              </a:rPr>
              <a:t>DB</a:t>
            </a:r>
            <a:r>
              <a:rPr lang="ko-KR" altLang="en-US" sz="1100" smtClean="0">
                <a:sym typeface="Wingdings" panose="05000000000000000000" pitchFamily="2" charset="2"/>
              </a:rPr>
              <a:t>에 요청을 보낸다 가정하자</a:t>
            </a:r>
            <a:r>
              <a:rPr lang="en-US" altLang="ko-KR" sz="1100" smtClean="0">
                <a:sym typeface="Wingdings" panose="05000000000000000000" pitchFamily="2" charset="2"/>
              </a:rPr>
              <a:t>. </a:t>
            </a:r>
            <a:r>
              <a:rPr lang="ko-KR" altLang="en-US" sz="1100" smtClean="0">
                <a:sym typeface="Wingdings" panose="05000000000000000000" pitchFamily="2" charset="2"/>
              </a:rPr>
              <a:t>성능이 나올수 있을까</a:t>
            </a:r>
            <a:r>
              <a:rPr lang="en-US" altLang="ko-KR" sz="1100" smtClean="0">
                <a:sym typeface="Wingdings" panose="05000000000000000000" pitchFamily="2" charset="2"/>
              </a:rPr>
              <a:t>?</a:t>
            </a:r>
          </a:p>
          <a:p>
            <a:endParaRPr lang="en-US" altLang="ko-KR" sz="1100">
              <a:sym typeface="Wingdings" panose="05000000000000000000" pitchFamily="2" charset="2"/>
            </a:endParaRPr>
          </a:p>
          <a:p>
            <a:r>
              <a:rPr lang="ko-KR" altLang="en-US" sz="1100" smtClean="0">
                <a:sym typeface="Wingdings" panose="05000000000000000000" pitchFamily="2" charset="2"/>
              </a:rPr>
              <a:t>바로 불가능하다는 결론이 떠오를것이다</a:t>
            </a:r>
            <a:r>
              <a:rPr lang="en-US" altLang="ko-KR" sz="1100" smtClean="0">
                <a:sym typeface="Wingdings" panose="05000000000000000000" pitchFamily="2" charset="2"/>
              </a:rPr>
              <a:t>.</a:t>
            </a:r>
          </a:p>
          <a:p>
            <a:endParaRPr lang="en-US" altLang="ko-KR" sz="1100">
              <a:sym typeface="Wingdings" panose="05000000000000000000" pitchFamily="2" charset="2"/>
            </a:endParaRPr>
          </a:p>
          <a:p>
            <a:r>
              <a:rPr lang="ko-KR" altLang="en-US" sz="1100" smtClean="0">
                <a:sym typeface="Wingdings" panose="05000000000000000000" pitchFamily="2" charset="2"/>
              </a:rPr>
              <a:t>그런이유에서 </a:t>
            </a:r>
            <a:r>
              <a:rPr lang="en-US" altLang="ko-KR" sz="1100">
                <a:sym typeface="Wingdings" panose="05000000000000000000" pitchFamily="2" charset="2"/>
              </a:rPr>
              <a:t>3</a:t>
            </a:r>
            <a:r>
              <a:rPr lang="en-US" altLang="ko-KR" sz="1100" smtClean="0">
                <a:sym typeface="Wingdings" panose="05000000000000000000" pitchFamily="2" charset="2"/>
              </a:rPr>
              <a:t>Page</a:t>
            </a:r>
            <a:r>
              <a:rPr lang="ko-KR" altLang="en-US" sz="1100" smtClean="0">
                <a:sym typeface="Wingdings" panose="05000000000000000000" pitchFamily="2" charset="2"/>
              </a:rPr>
              <a:t>의 구조로 </a:t>
            </a:r>
            <a:r>
              <a:rPr lang="en-US" altLang="ko-KR" sz="1100" smtClean="0">
                <a:sym typeface="Wingdings" panose="05000000000000000000" pitchFamily="2" charset="2"/>
              </a:rPr>
              <a:t>Redis</a:t>
            </a:r>
            <a:r>
              <a:rPr lang="ko-KR" altLang="en-US" sz="1100" smtClean="0">
                <a:sym typeface="Wingdings" panose="05000000000000000000" pitchFamily="2" charset="2"/>
              </a:rPr>
              <a:t>를 활용한 채팅 및 구독 서비스를 구현해야한다</a:t>
            </a:r>
            <a:r>
              <a:rPr lang="en-US" altLang="ko-KR" sz="1100" smtClean="0"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02994" y="2395863"/>
            <a:ext cx="15086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smtClean="0"/>
              <a:t>DB</a:t>
            </a:r>
            <a:r>
              <a:rPr lang="ko-KR" altLang="en-US" sz="1050" smtClean="0"/>
              <a:t>에서 사용자 정보</a:t>
            </a:r>
            <a:endParaRPr lang="ko-KR" altLang="en-US" sz="1050"/>
          </a:p>
        </p:txBody>
      </p:sp>
      <p:cxnSp>
        <p:nvCxnSpPr>
          <p:cNvPr id="43" name="직선 화살표 연결선 42"/>
          <p:cNvCxnSpPr/>
          <p:nvPr/>
        </p:nvCxnSpPr>
        <p:spPr>
          <a:xfrm flipV="1">
            <a:off x="1100665" y="4445287"/>
            <a:ext cx="1494364" cy="39185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/>
          <p:nvPr/>
        </p:nvCxnSpPr>
        <p:spPr>
          <a:xfrm flipH="1">
            <a:off x="1807632" y="4784955"/>
            <a:ext cx="899586" cy="11628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/>
          <p:cNvCxnSpPr/>
          <p:nvPr/>
        </p:nvCxnSpPr>
        <p:spPr>
          <a:xfrm flipH="1" flipV="1">
            <a:off x="4316938" y="4826558"/>
            <a:ext cx="1186393" cy="78813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/>
          <p:nvPr/>
        </p:nvCxnSpPr>
        <p:spPr>
          <a:xfrm>
            <a:off x="4798488" y="4620252"/>
            <a:ext cx="2583388" cy="821461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/>
          <p:nvPr/>
        </p:nvCxnSpPr>
        <p:spPr>
          <a:xfrm flipH="1" flipV="1">
            <a:off x="4751915" y="4673596"/>
            <a:ext cx="2597151" cy="81174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/>
          <p:cNvCxnSpPr/>
          <p:nvPr/>
        </p:nvCxnSpPr>
        <p:spPr>
          <a:xfrm flipV="1">
            <a:off x="2037297" y="2056111"/>
            <a:ext cx="1407849" cy="108502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/>
          <p:cNvCxnSpPr>
            <a:stCxn id="32" idx="0"/>
            <a:endCxn id="24" idx="2"/>
          </p:cNvCxnSpPr>
          <p:nvPr/>
        </p:nvCxnSpPr>
        <p:spPr>
          <a:xfrm flipH="1" flipV="1">
            <a:off x="2294466" y="3953933"/>
            <a:ext cx="1361018" cy="38601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>
            <a:stCxn id="32" idx="0"/>
            <a:endCxn id="25" idx="2"/>
          </p:cNvCxnSpPr>
          <p:nvPr/>
        </p:nvCxnSpPr>
        <p:spPr>
          <a:xfrm flipV="1">
            <a:off x="3655484" y="3945467"/>
            <a:ext cx="1195918" cy="39448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>
            <a:stCxn id="32" idx="0"/>
            <a:endCxn id="48" idx="2"/>
          </p:cNvCxnSpPr>
          <p:nvPr/>
        </p:nvCxnSpPr>
        <p:spPr>
          <a:xfrm flipV="1">
            <a:off x="3655484" y="3939115"/>
            <a:ext cx="3177115" cy="400833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/>
          <p:cNvCxnSpPr>
            <a:stCxn id="32" idx="0"/>
            <a:endCxn id="24" idx="3"/>
          </p:cNvCxnSpPr>
          <p:nvPr/>
        </p:nvCxnSpPr>
        <p:spPr>
          <a:xfrm flipH="1" flipV="1">
            <a:off x="3056466" y="3547533"/>
            <a:ext cx="599018" cy="7924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/>
          <p:cNvCxnSpPr/>
          <p:nvPr/>
        </p:nvCxnSpPr>
        <p:spPr>
          <a:xfrm>
            <a:off x="2065868" y="3952874"/>
            <a:ext cx="1284816" cy="38417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/>
          <p:cNvCxnSpPr/>
          <p:nvPr/>
        </p:nvCxnSpPr>
        <p:spPr>
          <a:xfrm flipH="1">
            <a:off x="3980391" y="3962399"/>
            <a:ext cx="1036111" cy="392367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/>
          <p:cNvCxnSpPr/>
          <p:nvPr/>
        </p:nvCxnSpPr>
        <p:spPr>
          <a:xfrm flipH="1">
            <a:off x="4723341" y="3935712"/>
            <a:ext cx="2414058" cy="56337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/>
          <p:cNvCxnSpPr>
            <a:endCxn id="4" idx="2"/>
          </p:cNvCxnSpPr>
          <p:nvPr/>
        </p:nvCxnSpPr>
        <p:spPr>
          <a:xfrm flipV="1">
            <a:off x="2645836" y="2056111"/>
            <a:ext cx="1009648" cy="10850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/>
          <p:cNvCxnSpPr>
            <a:endCxn id="4" idx="2"/>
          </p:cNvCxnSpPr>
          <p:nvPr/>
        </p:nvCxnSpPr>
        <p:spPr>
          <a:xfrm flipH="1" flipV="1">
            <a:off x="3655484" y="2056111"/>
            <a:ext cx="1588557" cy="105962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/>
          <p:cNvCxnSpPr>
            <a:stCxn id="48" idx="0"/>
            <a:endCxn id="4" idx="3"/>
          </p:cNvCxnSpPr>
          <p:nvPr/>
        </p:nvCxnSpPr>
        <p:spPr>
          <a:xfrm flipH="1" flipV="1">
            <a:off x="4465108" y="1738611"/>
            <a:ext cx="2367491" cy="138770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661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pub/sub </a:t>
            </a:r>
            <a:r>
              <a:rPr lang="ko-KR" altLang="en-US" smtClean="0"/>
              <a:t>정리 </a:t>
            </a:r>
            <a:endParaRPr lang="ko-KR" altLang="en-US"/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32" y="1431093"/>
            <a:ext cx="5961024" cy="306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044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pub/sub </a:t>
            </a:r>
            <a:r>
              <a:rPr lang="ko-KR" altLang="en-US" smtClean="0"/>
              <a:t>실습</a:t>
            </a: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636000" y="1350270"/>
            <a:ext cx="3318933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smtClean="0"/>
              <a:t>cmd </a:t>
            </a:r>
            <a:r>
              <a:rPr lang="ko-KR" altLang="en-US" sz="1100" smtClean="0"/>
              <a:t>창이 발행 서버</a:t>
            </a:r>
            <a:endParaRPr lang="en-US" altLang="ko-KR" sz="1100"/>
          </a:p>
          <a:p>
            <a:r>
              <a:rPr lang="en-US" altLang="ko-KR" sz="1100" smtClean="0"/>
              <a:t>power shell</a:t>
            </a:r>
            <a:r>
              <a:rPr lang="ko-KR" altLang="en-US" sz="1100" smtClean="0"/>
              <a:t>창이 구독 서버라고 가정하여 실습</a:t>
            </a:r>
            <a:endParaRPr lang="en-US" altLang="ko-KR" sz="1100" smtClean="0"/>
          </a:p>
          <a:p>
            <a:endParaRPr lang="en-US" altLang="ko-KR" sz="1100"/>
          </a:p>
          <a:p>
            <a:pPr marL="228600" indent="-228600">
              <a:buAutoNum type="arabicPeriod"/>
            </a:pPr>
            <a:r>
              <a:rPr lang="ko-KR" altLang="en-US" sz="1100" smtClean="0"/>
              <a:t>구독</a:t>
            </a:r>
            <a:r>
              <a:rPr lang="en-US" altLang="ko-KR" sz="1100" smtClean="0"/>
              <a:t>(subscribe)</a:t>
            </a:r>
            <a:r>
              <a:rPr lang="ko-KR" altLang="en-US" sz="1100" smtClean="0"/>
              <a:t> 서버는 발행서버의 </a:t>
            </a:r>
            <a:r>
              <a:rPr lang="en-US" altLang="ko-KR" sz="1100" smtClean="0"/>
              <a:t>Key</a:t>
            </a:r>
            <a:r>
              <a:rPr lang="ko-KR" altLang="en-US" sz="1100" smtClean="0"/>
              <a:t>를 미리 등록해놓는다</a:t>
            </a:r>
            <a:r>
              <a:rPr lang="en-US" altLang="ko-KR" sz="1100" smtClean="0"/>
              <a:t>.</a:t>
            </a:r>
          </a:p>
          <a:p>
            <a:pPr marL="228600" indent="-228600">
              <a:buAutoNum type="arabicPeriod"/>
            </a:pPr>
            <a:r>
              <a:rPr lang="ko-KR" altLang="en-US" sz="1100" smtClean="0"/>
              <a:t>발행 서버는 </a:t>
            </a:r>
            <a:r>
              <a:rPr lang="en-US" altLang="ko-KR" sz="1100" smtClean="0"/>
              <a:t>Key</a:t>
            </a:r>
            <a:r>
              <a:rPr lang="ko-KR" altLang="en-US" sz="1100" smtClean="0"/>
              <a:t>에 전달할 메세지를 발행</a:t>
            </a:r>
            <a:r>
              <a:rPr lang="en-US" altLang="ko-KR" sz="1100" smtClean="0"/>
              <a:t>(publish)</a:t>
            </a:r>
            <a:r>
              <a:rPr lang="ko-KR" altLang="en-US" sz="1100" smtClean="0"/>
              <a:t>한다</a:t>
            </a:r>
            <a:r>
              <a:rPr lang="en-US" altLang="ko-KR" sz="1100" smtClean="0"/>
              <a:t>.</a:t>
            </a:r>
          </a:p>
          <a:p>
            <a:endParaRPr lang="en-US" altLang="ko-KR" sz="1100"/>
          </a:p>
          <a:p>
            <a:r>
              <a:rPr lang="en-US" altLang="ko-KR" sz="1100" smtClean="0"/>
              <a:t>※ subscribe</a:t>
            </a:r>
            <a:r>
              <a:rPr lang="ko-KR" altLang="en-US" sz="1100" smtClean="0"/>
              <a:t>서버</a:t>
            </a:r>
            <a:r>
              <a:rPr lang="en-US" altLang="ko-KR" sz="1100" smtClean="0"/>
              <a:t>1</a:t>
            </a:r>
            <a:r>
              <a:rPr lang="ko-KR" altLang="en-US" sz="1100" smtClean="0"/>
              <a:t>이 꺼져있는데</a:t>
            </a:r>
            <a:r>
              <a:rPr lang="en-US" altLang="ko-KR" sz="1100" smtClean="0"/>
              <a:t>, </a:t>
            </a:r>
            <a:r>
              <a:rPr lang="ko-KR" altLang="en-US" sz="1100" smtClean="0"/>
              <a:t>발행 서버에서 메세지를 전달했다 </a:t>
            </a:r>
            <a:r>
              <a:rPr lang="en-US" altLang="ko-KR" sz="1100" smtClean="0">
                <a:sym typeface="Wingdings" panose="05000000000000000000" pitchFamily="2" charset="2"/>
              </a:rPr>
              <a:t> </a:t>
            </a:r>
            <a:r>
              <a:rPr lang="ko-KR" altLang="en-US" sz="1100" smtClean="0">
                <a:sym typeface="Wingdings" panose="05000000000000000000" pitchFamily="2" charset="2"/>
              </a:rPr>
              <a:t>메세지는 저장되지 않음으로 </a:t>
            </a:r>
            <a:r>
              <a:rPr lang="en-US" altLang="ko-KR" sz="1100" smtClean="0">
                <a:sym typeface="Wingdings" panose="05000000000000000000" pitchFamily="2" charset="2"/>
              </a:rPr>
              <a:t>subscrib</a:t>
            </a:r>
            <a:r>
              <a:rPr lang="ko-KR" altLang="en-US" sz="1100" smtClean="0">
                <a:sym typeface="Wingdings" panose="05000000000000000000" pitchFamily="2" charset="2"/>
              </a:rPr>
              <a:t>서버</a:t>
            </a:r>
            <a:r>
              <a:rPr lang="en-US" altLang="ko-KR" sz="1100" smtClean="0">
                <a:sym typeface="Wingdings" panose="05000000000000000000" pitchFamily="2" charset="2"/>
              </a:rPr>
              <a:t>1</a:t>
            </a:r>
            <a:r>
              <a:rPr lang="ko-KR" altLang="en-US" sz="1100" smtClean="0">
                <a:sym typeface="Wingdings" panose="05000000000000000000" pitchFamily="2" charset="2"/>
              </a:rPr>
              <a:t>은 해당 메세지를 알 수 없다</a:t>
            </a:r>
            <a:r>
              <a:rPr lang="en-US" altLang="ko-KR" sz="1100" smtClean="0">
                <a:sym typeface="Wingdings" panose="05000000000000000000" pitchFamily="2" charset="2"/>
              </a:rPr>
              <a:t>.</a:t>
            </a:r>
            <a:r>
              <a:rPr lang="en-US" altLang="ko-KR" sz="1100" smtClean="0"/>
              <a:t/>
            </a:r>
            <a:br>
              <a:rPr lang="en-US" altLang="ko-KR" sz="1100" smtClean="0"/>
            </a:br>
            <a:endParaRPr lang="ko-KR" altLang="en-US" sz="1100"/>
          </a:p>
        </p:txBody>
      </p:sp>
      <p:grpSp>
        <p:nvGrpSpPr>
          <p:cNvPr id="11" name="그룹 10"/>
          <p:cNvGrpSpPr/>
          <p:nvPr/>
        </p:nvGrpSpPr>
        <p:grpSpPr>
          <a:xfrm>
            <a:off x="677334" y="1350270"/>
            <a:ext cx="8043332" cy="4340018"/>
            <a:chOff x="677334" y="1350270"/>
            <a:chExt cx="8043332" cy="4340018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 rotWithShape="1">
            <a:blip r:embed="rId2"/>
            <a:srcRect l="590"/>
            <a:stretch/>
          </p:blipFill>
          <p:spPr>
            <a:xfrm>
              <a:off x="677334" y="1350270"/>
              <a:ext cx="7826336" cy="4340018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1515533" y="2446867"/>
              <a:ext cx="25654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smtClean="0">
                  <a:solidFill>
                    <a:srgbClr val="FF0000"/>
                  </a:solidFill>
                </a:rPr>
                <a:t>publish </a:t>
              </a:r>
              <a:r>
                <a:rPr lang="ko-KR" altLang="en-US" sz="1100" smtClean="0">
                  <a:solidFill>
                    <a:srgbClr val="FF0000"/>
                  </a:solidFill>
                </a:rPr>
                <a:t>서버 </a:t>
              </a:r>
              <a:r>
                <a:rPr lang="en-US" altLang="ko-KR" sz="1100" smtClean="0">
                  <a:solidFill>
                    <a:srgbClr val="FF0000"/>
                  </a:solidFill>
                </a:rPr>
                <a:t>(</a:t>
              </a:r>
              <a:r>
                <a:rPr lang="ko-KR" altLang="en-US" sz="1100" smtClean="0">
                  <a:solidFill>
                    <a:srgbClr val="FF0000"/>
                  </a:solidFill>
                </a:rPr>
                <a:t>메세지 발행</a:t>
              </a:r>
              <a:r>
                <a:rPr lang="en-US" altLang="ko-KR" sz="1100" smtClean="0">
                  <a:solidFill>
                    <a:srgbClr val="FF0000"/>
                  </a:solidFill>
                </a:rPr>
                <a:t>)</a:t>
              </a:r>
              <a:endParaRPr lang="ko-KR" altLang="en-US" sz="110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155266" y="2810934"/>
              <a:ext cx="25654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smtClean="0">
                  <a:solidFill>
                    <a:srgbClr val="FF0000"/>
                  </a:solidFill>
                </a:rPr>
                <a:t>subscribe1 </a:t>
              </a:r>
              <a:r>
                <a:rPr lang="ko-KR" altLang="en-US" sz="1100" smtClean="0">
                  <a:solidFill>
                    <a:srgbClr val="FF0000"/>
                  </a:solidFill>
                </a:rPr>
                <a:t>서</a:t>
              </a:r>
              <a:r>
                <a:rPr lang="ko-KR" altLang="en-US" sz="1100">
                  <a:solidFill>
                    <a:srgbClr val="FF0000"/>
                  </a:solidFill>
                </a:rPr>
                <a:t>버</a:t>
              </a:r>
              <a:endParaRPr lang="ko-KR" altLang="en-US" sz="110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155266" y="4419601"/>
              <a:ext cx="25654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smtClean="0">
                  <a:solidFill>
                    <a:srgbClr val="FF0000"/>
                  </a:solidFill>
                </a:rPr>
                <a:t>subscribe2 </a:t>
              </a:r>
              <a:r>
                <a:rPr lang="ko-KR" altLang="en-US" sz="1100" smtClean="0">
                  <a:solidFill>
                    <a:srgbClr val="FF0000"/>
                  </a:solidFill>
                </a:rPr>
                <a:t>서버</a:t>
              </a:r>
              <a:endParaRPr lang="ko-KR" altLang="en-US" sz="1100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396067" y="1988906"/>
              <a:ext cx="1447800" cy="16162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4590502" y="3072545"/>
              <a:ext cx="1432434" cy="18327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3874285" y="5155345"/>
              <a:ext cx="1432434" cy="18327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5519412"/>
            <a:ext cx="5739362" cy="128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8048"/>
      </p:ext>
    </p:extLst>
  </p:cSld>
  <p:clrMapOvr>
    <a:masterClrMapping/>
  </p:clrMapOvr>
</p:sld>
</file>

<file path=ppt/theme/theme1.xml><?xml version="1.0" encoding="utf-8"?>
<a:theme xmlns:a="http://schemas.openxmlformats.org/drawingml/2006/main" name="패싯">
  <a:themeElements>
    <a:clrScheme name="패싯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패싯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패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210</TotalTime>
  <Words>252</Words>
  <Application>Microsoft Office PowerPoint</Application>
  <PresentationFormat>와이드스크린</PresentationFormat>
  <Paragraphs>70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HY그래픽M</vt:lpstr>
      <vt:lpstr>맑은 고딕</vt:lpstr>
      <vt:lpstr>Arial</vt:lpstr>
      <vt:lpstr>Trebuchet MS</vt:lpstr>
      <vt:lpstr>Wingdings</vt:lpstr>
      <vt:lpstr>Wingdings 3</vt:lpstr>
      <vt:lpstr>패싯</vt:lpstr>
      <vt:lpstr>pub/sub 기능</vt:lpstr>
      <vt:lpstr>Redis의 Pub/Sub이 필요한 이유-1 </vt:lpstr>
      <vt:lpstr>Redis의 Pub/Sub이 필요한 이유-2 </vt:lpstr>
      <vt:lpstr>Redis의 Pub/Sub이 필요한 이유-3 </vt:lpstr>
      <vt:lpstr>pub/sub 정리 </vt:lpstr>
      <vt:lpstr>pub/sub 실습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pub/sub 기능</dc:title>
  <dc:creator>Microsoft 계정</dc:creator>
  <cp:lastModifiedBy>Microsoft 계정</cp:lastModifiedBy>
  <cp:revision>17</cp:revision>
  <dcterms:created xsi:type="dcterms:W3CDTF">2026-01-30T02:00:02Z</dcterms:created>
  <dcterms:modified xsi:type="dcterms:W3CDTF">2026-01-30T05:30:27Z</dcterms:modified>
</cp:coreProperties>
</file>